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73497" autoAdjust="0"/>
  </p:normalViewPr>
  <p:slideViewPr>
    <p:cSldViewPr snapToGrid="0" snapToObjects="1">
      <p:cViewPr>
        <p:scale>
          <a:sx n="69" d="100"/>
          <a:sy n="69" d="100"/>
        </p:scale>
        <p:origin x="543" y="-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431319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30 </a:t>
            </a:r>
            <a:r>
              <a:rPr lang="en-US" dirty="0" err="1"/>
              <a:t>sek</a:t>
            </a:r>
            <a:r>
              <a:rPr lang="en-US" dirty="0"/>
              <a:t>. </a:t>
            </a:r>
            <a:r>
              <a:rPr lang="en-US" dirty="0" err="1"/>
              <a:t>Begrüssung</a:t>
            </a:r>
            <a:r>
              <a:rPr lang="en-US" dirty="0"/>
              <a:t>, </a:t>
            </a:r>
            <a:r>
              <a:rPr lang="en-US" dirty="0" err="1"/>
              <a:t>Einstieg</a:t>
            </a:r>
            <a:r>
              <a:rPr lang="en-US" dirty="0"/>
              <a:t> </a:t>
            </a:r>
            <a:r>
              <a:rPr lang="en-US" dirty="0" err="1"/>
              <a:t>mit</a:t>
            </a:r>
            <a:r>
              <a:rPr lang="en-US" dirty="0"/>
              <a:t> Frage ans Publikum: "Wer achtet beim Einkaufen auf den Nutri-Score?" Dann: Unser Projekt prüft, ob ein gutes Nutri-Score-Label auch wirklich ein gesundes Produkt bedeutet, und baut dafür eine Datenpipeline auf Basis von Open Food Facts.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20 </a:t>
            </a:r>
            <a:r>
              <a:rPr lang="en-US" dirty="0" err="1"/>
              <a:t>sek</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1 min. Der Nutri-Score wurde in Frankreich entwickelt und wird heute in sieben Ländern eingesetzt, auch in der Schweiz. Laut BLV (</a:t>
            </a:r>
            <a:r>
              <a:rPr lang="en-US" dirty="0" err="1"/>
              <a:t>Bundesamt</a:t>
            </a:r>
            <a:r>
              <a:rPr lang="en-US" dirty="0"/>
              <a:t> für </a:t>
            </a:r>
            <a:r>
              <a:rPr lang="en-US" dirty="0" err="1"/>
              <a:t>Lebensmittelsicherheit</a:t>
            </a:r>
            <a:r>
              <a:rPr lang="en-US" dirty="0"/>
              <a:t> und </a:t>
            </a:r>
            <a:r>
              <a:rPr lang="en-US" dirty="0" err="1"/>
              <a:t>Veterinärwesen</a:t>
            </a:r>
            <a:r>
              <a:rPr lang="en-US" dirty="0"/>
              <a:t>) hatten sich bis Ende September 2025, 102 Produzenten und Händler mit über 10'000 Produkten verpflichtet. Die Kennzeichnung ist freiwillig. 2024 wurde der Algorithmus überarbeitet: strengere Punkte für Zucker und Salz. Überleitung: Trotzdem bleibt die Frage, ob ein gutes Label wirklich ein gesundes Produkt bedeutet.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1min: Hier liegt unser Kernproblem. Der Score </a:t>
            </a:r>
            <a:r>
              <a:rPr lang="en-US" dirty="0" err="1"/>
              <a:t>verrechnet</a:t>
            </a:r>
            <a:r>
              <a:rPr lang="en-US" dirty="0"/>
              <a:t> </a:t>
            </a:r>
            <a:r>
              <a:rPr lang="en-US" dirty="0" err="1"/>
              <a:t>Negativ</a:t>
            </a:r>
            <a:r>
              <a:rPr lang="en-US" dirty="0"/>
              <a:t> minus Positivpunkte. Dadurch kann ein </a:t>
            </a:r>
            <a:r>
              <a:rPr lang="en-US" dirty="0" err="1"/>
              <a:t>zuckerreiches</a:t>
            </a:r>
            <a:r>
              <a:rPr lang="en-US" dirty="0"/>
              <a:t> </a:t>
            </a:r>
            <a:r>
              <a:rPr lang="en-US" dirty="0" err="1"/>
              <a:t>Müsil</a:t>
            </a:r>
            <a:r>
              <a:rPr lang="en-US" dirty="0"/>
              <a:t>, Cornflakes, </a:t>
            </a:r>
            <a:r>
              <a:rPr lang="en-US" dirty="0" err="1"/>
              <a:t>Cerealien</a:t>
            </a:r>
            <a:r>
              <a:rPr lang="en-US" dirty="0"/>
              <a:t> mit vielen Ballaststoffen trotzdem gut abschneiden. Zudem fliessen Verarbeitungsgrad und die meisten Zusatzstoffe gar nicht ein, und der Bezug ist immer 100 g statt der üblichen Portion. Vorsicht: Mit dem Update 2024 werden Zucker und bei Getränken Süssstoffe strenger bewertet. Genau deshalb wollen wir mit Daten prüfen, wie gross das Problem heute noch ist.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1 Min: Drei Forschungsfragen. </a:t>
            </a:r>
          </a:p>
          <a:p>
            <a:r>
              <a:rPr lang="en-US" dirty="0"/>
              <a:t>- FF1 vergleicht zwei Bewertungssysteme: Nährwerte (Nutri-Score) gegen Verarbeitungsgrad (NOVA). </a:t>
            </a:r>
          </a:p>
          <a:p>
            <a:pPr marL="171450" indent="-171450">
              <a:buFontTx/>
              <a:buChar char="-"/>
            </a:pPr>
            <a:r>
              <a:rPr lang="en-US" dirty="0"/>
              <a:t>FF2 sucht die Kategorien, in denen das Label am stärksten in die Irre führt, zum Beispiel Frühstückscerealien. </a:t>
            </a:r>
          </a:p>
          <a:p>
            <a:pPr marL="171450" indent="-171450">
              <a:buFontTx/>
              <a:buChar char="-"/>
            </a:pPr>
            <a:r>
              <a:rPr lang="en-US" dirty="0"/>
              <a:t>FF3 prüft, ob das Update von 2024 die Schwächen behoben hat. FF3 bearbeiten wir hauptsächlich in Teil 2, weil wir dafür zuerst klären müssen, nach welcher Version die Scores in den Daten berechnet sind.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1,5 Min: Jede Hypothese ist einer Forschungsfrage zugeordnet und hat ein festgelegtes Testverfahren. </a:t>
            </a:r>
          </a:p>
          <a:p>
            <a:pPr marL="171450" indent="-171450">
              <a:buFontTx/>
              <a:buChar char="-"/>
            </a:pPr>
            <a:r>
              <a:rPr lang="en-US" b="1" dirty="0"/>
              <a:t>H1</a:t>
            </a:r>
            <a:r>
              <a:rPr lang="en-US" dirty="0"/>
              <a:t>: Wir erwarten, dass ein relevanter Teil der gut bewerteten Produkte hochverarbeitet ist. </a:t>
            </a:r>
          </a:p>
          <a:p>
            <a:pPr marL="171450" indent="-171450">
              <a:buFontTx/>
              <a:buChar char="-"/>
            </a:pPr>
            <a:r>
              <a:rPr lang="de-DE" b="1" dirty="0"/>
              <a:t>H2</a:t>
            </a:r>
            <a:r>
              <a:rPr lang="de-DE" dirty="0"/>
              <a:t>: Wir erwarten, dass Nutri-Score und Verarbeitungsgrad nur schwach zusammenhängen, weil der Score die Verarbeitung gar nicht berücksichtigt. Dafür nutzen wir einen Chi-Quadrat-Test, und die Stärke messen wir mit </a:t>
            </a:r>
            <a:r>
              <a:rPr lang="de-DE" dirty="0" err="1"/>
              <a:t>Cramér’s</a:t>
            </a:r>
            <a:r>
              <a:rPr lang="de-DE" dirty="0"/>
              <a:t> V.</a:t>
            </a:r>
            <a:r>
              <a:rPr lang="en-US" dirty="0"/>
              <a:t> Wenn </a:t>
            </a:r>
            <a:r>
              <a:rPr lang="en-US" dirty="0" err="1"/>
              <a:t>beide</a:t>
            </a:r>
            <a:r>
              <a:rPr lang="en-US" dirty="0"/>
              <a:t> Systeme </a:t>
            </a:r>
            <a:r>
              <a:rPr lang="en-US" dirty="0" err="1"/>
              <a:t>dasselbe</a:t>
            </a:r>
            <a:r>
              <a:rPr lang="en-US" dirty="0"/>
              <a:t> </a:t>
            </a:r>
            <a:r>
              <a:rPr lang="en-US" dirty="0" err="1"/>
              <a:t>messen</a:t>
            </a:r>
            <a:r>
              <a:rPr lang="en-US" dirty="0"/>
              <a:t> </a:t>
            </a:r>
            <a:r>
              <a:rPr lang="en-US" dirty="0" err="1"/>
              <a:t>würden</a:t>
            </a:r>
            <a:r>
              <a:rPr lang="en-US" dirty="0"/>
              <a:t>, </a:t>
            </a:r>
            <a:r>
              <a:rPr lang="en-US" dirty="0" err="1"/>
              <a:t>wäre</a:t>
            </a:r>
            <a:r>
              <a:rPr lang="en-US" dirty="0"/>
              <a:t> der </a:t>
            </a:r>
            <a:r>
              <a:rPr lang="en-US" dirty="0" err="1"/>
              <a:t>Zusammenhang</a:t>
            </a:r>
            <a:r>
              <a:rPr lang="en-US" dirty="0"/>
              <a:t> stark. Wir </a:t>
            </a:r>
            <a:r>
              <a:rPr lang="en-US" dirty="0" err="1"/>
              <a:t>erwarten</a:t>
            </a:r>
            <a:r>
              <a:rPr lang="en-US" dirty="0"/>
              <a:t> </a:t>
            </a:r>
            <a:r>
              <a:rPr lang="en-US" dirty="0" err="1"/>
              <a:t>einen</a:t>
            </a:r>
            <a:r>
              <a:rPr lang="en-US" dirty="0"/>
              <a:t> </a:t>
            </a:r>
            <a:r>
              <a:rPr lang="en-US" dirty="0" err="1"/>
              <a:t>schwachen</a:t>
            </a:r>
            <a:r>
              <a:rPr lang="en-US" dirty="0"/>
              <a:t>. </a:t>
            </a:r>
          </a:p>
          <a:p>
            <a:pPr marL="171450" indent="-171450">
              <a:buFontTx/>
              <a:buChar char="-"/>
            </a:pPr>
            <a:r>
              <a:rPr lang="en-US" b="1" dirty="0"/>
              <a:t>H3</a:t>
            </a:r>
            <a:r>
              <a:rPr lang="en-US" dirty="0"/>
              <a:t>: </a:t>
            </a:r>
            <a:r>
              <a:rPr lang="de-DE" dirty="0"/>
              <a:t>greift unser Müesli-Beispiel auf: Wir erwarten, dass mindestens 10 Prozent der gut bewerteten Frühstückscerealien viel Zucker enthalten. Als Grenze nehmen wir 22,5 Gramm pro 100 Gramm, den Wert der britischen Lebensmittelbehörde.</a:t>
            </a:r>
          </a:p>
          <a:p>
            <a:pPr marL="171450" indent="-171450">
              <a:buFontTx/>
              <a:buChar char="-"/>
            </a:pPr>
            <a:r>
              <a:rPr lang="en-US" b="1" dirty="0"/>
              <a:t>H4</a:t>
            </a:r>
            <a:r>
              <a:rPr lang="en-US" dirty="0"/>
              <a:t>: Zusatzstoffe fliessen nicht in den Score ein, deshalb erwarten wir kaum Korrelation. Die Schwellenwerte 20 % und 10 % sind vorläufig und werden mit Literatur begründet. Wichtig für die Objektivität: Wir haben die Hypothesen vor der Analyse festgelegt.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Unser Vorgehen in fünf Schritten. Schritte 1 bis 4 gehören zu Teil 1, Schritt 5 (Serving) zu Teil 2. Die Werkzeuge sind bewusst schlank gewählt: </a:t>
            </a:r>
          </a:p>
          <a:p>
            <a:pPr marL="171450" indent="-171450">
              <a:buFontTx/>
              <a:buChar char="-"/>
            </a:pPr>
            <a:r>
              <a:rPr lang="en-US" dirty="0"/>
              <a:t>Python mit pandas und DuckDB für die Verarbeitung, </a:t>
            </a:r>
          </a:p>
          <a:p>
            <a:pPr marL="171450" indent="-171450">
              <a:buFontTx/>
              <a:buChar char="-"/>
            </a:pPr>
            <a:r>
              <a:rPr lang="en-US" dirty="0"/>
              <a:t>SciPy für die Tests, </a:t>
            </a:r>
          </a:p>
          <a:p>
            <a:pPr marL="171450" indent="-171450">
              <a:buFontTx/>
              <a:buChar char="-"/>
            </a:pPr>
            <a:r>
              <a:rPr lang="en-US" dirty="0"/>
              <a:t>Jupyter für die Dokumentation, </a:t>
            </a:r>
          </a:p>
          <a:p>
            <a:pPr marL="171450" indent="-171450">
              <a:buFontTx/>
              <a:buChar char="-"/>
            </a:pPr>
            <a:r>
              <a:rPr lang="en-US" dirty="0"/>
              <a:t>GitHub für Versionierung und </a:t>
            </a:r>
            <a:r>
              <a:rPr lang="en-US" dirty="0" err="1"/>
              <a:t>Abgabe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Unser Entwurf folgt dem Lebenszyklus nach Reis und Housley.</a:t>
            </a:r>
          </a:p>
          <a:p>
            <a:pPr marL="171450" indent="-171450">
              <a:buFontTx/>
              <a:buChar char="-"/>
            </a:pPr>
            <a:r>
              <a:rPr lang="en-US" dirty="0"/>
              <a:t>Generation: Die Daten entstehen bei Open Food Facts, erfasst von Herstellern und Freiwilligen. </a:t>
            </a:r>
          </a:p>
          <a:p>
            <a:pPr marL="171450" indent="-171450">
              <a:buFontTx/>
              <a:buChar char="-"/>
            </a:pPr>
            <a:r>
              <a:rPr lang="en-US" dirty="0"/>
              <a:t>Ingestion als Batch über den nächtlichen Export. </a:t>
            </a:r>
          </a:p>
          <a:p>
            <a:pPr marL="171450" indent="-171450">
              <a:buFontTx/>
              <a:buChar char="-"/>
            </a:pPr>
            <a:r>
              <a:rPr lang="en-US" dirty="0"/>
              <a:t>Storage in drei Stufen. </a:t>
            </a:r>
          </a:p>
          <a:p>
            <a:pPr marL="171450" indent="-171450">
              <a:buFontTx/>
              <a:buChar char="-"/>
            </a:pPr>
            <a:r>
              <a:rPr lang="en-US" dirty="0"/>
              <a:t>Transformation mit Bereinigung und Tests. </a:t>
            </a:r>
          </a:p>
          <a:p>
            <a:pPr marL="171450" indent="-171450">
              <a:buFontTx/>
              <a:buChar char="-"/>
            </a:pPr>
            <a:r>
              <a:rPr lang="en-US" dirty="0"/>
              <a:t>Serving folgt in Teil 2. </a:t>
            </a:r>
          </a:p>
          <a:p>
            <a:pPr marL="171450" indent="-171450">
              <a:buFontTx/>
              <a:buChar char="-"/>
            </a:pPr>
            <a:r>
              <a:rPr lang="en-US" dirty="0"/>
              <a:t>Die Unterströmungen ziehen sich durch alle Phasen, zum Beispiel halten wir zu jedem Datenstand das Snapshot-Datum fest, damit die Resultate reproduzierbar sind. </a:t>
            </a:r>
          </a:p>
          <a:p>
            <a:pPr marL="171450" indent="-171450">
              <a:buFontTx/>
              <a:buChar char="-"/>
            </a:pPr>
            <a:r>
              <a:rPr lang="en-US" dirty="0"/>
              <a:t>…</a:t>
            </a:r>
            <a:r>
              <a:rPr lang="en-US" dirty="0" err="1"/>
              <a:t>Übergabe</a:t>
            </a:r>
            <a:r>
              <a:rPr lang="en-US" dirty="0"/>
              <a:t>: “Andrea </a:t>
            </a:r>
            <a:r>
              <a:rPr lang="en-US" dirty="0" err="1"/>
              <a:t>zeigt</a:t>
            </a:r>
            <a:r>
              <a:rPr lang="en-US" dirty="0"/>
              <a:t> euch jetzt, wie wir das technisch umgesetzt haben."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1 Min: Unsere Hauptquelle ist Open Food Facts, die grösste offene Lebensmitteldatenbank. Sie enthält genau die Felder, die wir für die Hypothesen brauchen: Nährwerte, Nutri-Score, NOVA-Gruppe, Zusatzstoffe und Kategorien. In unserem Snapshot vom 6. Oktober 2026 sind 105'693 Schweizer Produkte erfasst. Dazu kommen zwei Referenzen: die Grenzwerte der britischen Food Standards Agency für H3 und die BLV-Liste als Kontext. Wichtig: Die Daten werden von Freiwilligen erfasst. Das ist der Grund, warum wir viel Zeit in die Bereinigung investieren.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1 Min: </a:t>
            </a:r>
          </a:p>
          <a:p>
            <a:pPr marL="171450" indent="-171450">
              <a:buFontTx/>
              <a:buChar char="-"/>
            </a:pPr>
            <a:r>
              <a:rPr lang="de-DE" b="0" dirty="0"/>
              <a:t>Wie kommen die Daten zu uns? Unsere Ingestion hat vier Schritte. </a:t>
            </a:r>
          </a:p>
          <a:p>
            <a:pPr marL="171450" indent="-171450">
              <a:buFontTx/>
              <a:buChar char="-"/>
            </a:pPr>
            <a:r>
              <a:rPr lang="de-DE" b="0" dirty="0"/>
              <a:t>1) Zuerst laden wir den kompletten Export von Open Food Facts herunter, eine Parquet-Datei, die jede Nacht neu erstellt wird. </a:t>
            </a:r>
          </a:p>
          <a:p>
            <a:pPr marL="171450" indent="-171450">
              <a:buFontTx/>
              <a:buChar char="-"/>
            </a:pPr>
            <a:r>
              <a:rPr lang="de-DE" b="0" dirty="0"/>
              <a:t>2) Dann filtern wir auf Produkte, die in der Schweiz verkauft werden. Von den vielen Spalten behalten wir nur die 15, die wir für unsere Hypothesen brauchen, und 3) holen dabei die Nährwerte aus ihrer verschachtelten Struktur in eigene Spalten. </a:t>
            </a:r>
          </a:p>
          <a:p>
            <a:pPr marL="171450" indent="-171450">
              <a:buFontTx/>
              <a:buChar char="-"/>
            </a:pPr>
            <a:r>
              <a:rPr lang="de-DE" b="0" dirty="0"/>
              <a:t>4) Zum Schluss speichern wir alles als Bronze-Datei, mit dem Datum im Namen. So wissen wir immer, welchen Datenstand wir auswerten. Dabei haben wir zwei bewusste Entscheide getroffen. </a:t>
            </a:r>
            <a:r>
              <a:rPr lang="de-DE" b="1" dirty="0"/>
              <a:t>Erstens Batch statt Streaming</a:t>
            </a:r>
            <a:r>
              <a:rPr lang="de-DE" b="0" dirty="0"/>
              <a:t>: Die Quelle aktualisiert sich nur einmal pro Nacht, und unsere Analyse ist nicht zeitkritisch. Ein laufender Datenstrom hätte keinen Mehrwert. </a:t>
            </a:r>
            <a:r>
              <a:rPr lang="de-DE" b="1" dirty="0"/>
              <a:t>Zweitens den Export statt der API</a:t>
            </a:r>
            <a:r>
              <a:rPr lang="de-DE" b="0" dirty="0"/>
              <a:t>: Die API ist für einzelne Abfragen gedacht, etwa für eine Scanner-App. Wer damit die ganze Datenbank abfragt, wird blockiert. Für Massendaten ist der Export der vorgesehene Weg.</a:t>
            </a:r>
            <a:endParaRPr lang="en-US" b="0"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1,5 Min: Wir haben drei Speicherumgebungen verglichen. </a:t>
            </a:r>
          </a:p>
          <a:p>
            <a:pPr marL="171450" indent="-171450">
              <a:buFontTx/>
              <a:buChar char="-"/>
            </a:pPr>
            <a:r>
              <a:rPr lang="en-US" b="1" dirty="0"/>
              <a:t>PostgreSQL</a:t>
            </a:r>
            <a:r>
              <a:rPr lang="en-US" dirty="0"/>
              <a:t> ist der Klassiker, braucht aber einen Server und ist für spaltenweise Auswertungen nicht optimiert. </a:t>
            </a:r>
          </a:p>
          <a:p>
            <a:pPr marL="171450" indent="-171450">
              <a:buFontTx/>
              <a:buChar char="-"/>
            </a:pPr>
            <a:r>
              <a:rPr lang="en-US" b="1" dirty="0"/>
              <a:t>MongoDB</a:t>
            </a:r>
            <a:r>
              <a:rPr lang="en-US" dirty="0"/>
              <a:t> passt gut zu den verschachtelten JSON-Daten, ist aber schwach bei Aggregationen über Millionen Zeilen. </a:t>
            </a:r>
          </a:p>
          <a:p>
            <a:pPr marL="171450" indent="-171450">
              <a:buFontTx/>
              <a:buChar char="-"/>
            </a:pPr>
            <a:r>
              <a:rPr lang="en-US" b="1" dirty="0" err="1"/>
              <a:t>DuckDB</a:t>
            </a:r>
            <a:r>
              <a:rPr lang="en-US" b="1" dirty="0"/>
              <a:t> mit Parquet </a:t>
            </a:r>
            <a:r>
              <a:rPr lang="en-US" dirty="0"/>
              <a:t>ist eingebettet, braucht keinen Server und liest nur die Spalten, die wir abfragen. </a:t>
            </a:r>
          </a:p>
          <a:p>
            <a:pPr marL="171450" indent="-171450">
              <a:buFontTx/>
              <a:buChar char="-"/>
            </a:pPr>
            <a:r>
              <a:rPr lang="en-US" b="1" dirty="0"/>
              <a:t>Der Nachteil</a:t>
            </a:r>
            <a:r>
              <a:rPr lang="en-US" dirty="0"/>
              <a:t>: Mehrere gleichzeitige Schreibzugriffe gehen schlecht. Für unseren Fall, die Analyse durch zwei Personen, ist das kein Problem. Das ist ein bewusster Trade-off: Falls wir in Teil 2 eine App mit vielen Nutzern bauen, ergänzen wir eventuell PostgreSQL. Der Entscheid ist also umkehrbar.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1 Min: </a:t>
            </a:r>
            <a:r>
              <a:rPr lang="de-DE" dirty="0"/>
              <a:t>Gespeichert wird in drei Stufen, nach der sogenannten </a:t>
            </a:r>
            <a:r>
              <a:rPr lang="de-DE" dirty="0" err="1"/>
              <a:t>Medallion</a:t>
            </a:r>
            <a:r>
              <a:rPr lang="de-DE" dirty="0"/>
              <a:t>-Architektur.</a:t>
            </a:r>
          </a:p>
          <a:p>
            <a:pPr marL="171450" indent="-171450">
              <a:buFontTx/>
              <a:buChar char="-"/>
            </a:pPr>
            <a:r>
              <a:rPr lang="de-DE" b="1" dirty="0"/>
              <a:t>Bronze</a:t>
            </a:r>
            <a:r>
              <a:rPr lang="de-DE" dirty="0"/>
              <a:t> sind die Rohdaten, alle Schweizer Produkte, so wie sie aus der Quelle kommen. Daran ändern wir nichts. So können wir jederzeit neu bereinigen, ohne neu herunterzuladen.</a:t>
            </a:r>
          </a:p>
          <a:p>
            <a:pPr marL="171450" indent="-171450">
              <a:buFontTx/>
              <a:buChar char="-"/>
            </a:pPr>
            <a:r>
              <a:rPr lang="de-DE" b="1" dirty="0" err="1"/>
              <a:t>Silver</a:t>
            </a:r>
            <a:r>
              <a:rPr lang="de-DE" dirty="0"/>
              <a:t> ist die bereinigte Tabelle in </a:t>
            </a:r>
            <a:r>
              <a:rPr lang="de-DE" dirty="0" err="1"/>
              <a:t>DuckDB</a:t>
            </a:r>
            <a:r>
              <a:rPr lang="de-DE" dirty="0"/>
              <a:t>.</a:t>
            </a:r>
          </a:p>
          <a:p>
            <a:pPr marL="171450" indent="-171450">
              <a:buFontTx/>
              <a:buChar char="-"/>
            </a:pPr>
            <a:r>
              <a:rPr lang="de-DE" b="1" dirty="0"/>
              <a:t>Gold</a:t>
            </a:r>
            <a:r>
              <a:rPr lang="de-DE" dirty="0"/>
              <a:t> sind kleine Tabellen, die je eine Hypothese direkt beantworten. Sie sind auch die Schnittstelle für Teil 2.</a:t>
            </a:r>
          </a:p>
          <a:p>
            <a:pPr marL="171450" indent="-171450">
              <a:buFontTx/>
              <a:buChar char="-"/>
            </a:pPr>
            <a:r>
              <a:rPr lang="de-DE" b="1" dirty="0"/>
              <a:t>Unten seht ihr den Kern im Code</a:t>
            </a:r>
            <a:r>
              <a:rPr lang="de-DE" dirty="0"/>
              <a:t>: Jede Bereinigungsregel setzt zuerst ein </a:t>
            </a:r>
            <a:r>
              <a:rPr lang="de-DE" dirty="0" err="1"/>
              <a:t>Flag</a:t>
            </a:r>
            <a:r>
              <a:rPr lang="de-DE" dirty="0"/>
              <a:t>, also eine Markierung. In </a:t>
            </a:r>
            <a:r>
              <a:rPr lang="de-DE" dirty="0" err="1"/>
              <a:t>Silver</a:t>
            </a:r>
            <a:r>
              <a:rPr lang="de-DE" dirty="0"/>
              <a:t> kommen nur Zeilen ohne </a:t>
            </a:r>
            <a:r>
              <a:rPr lang="de-DE" dirty="0" err="1"/>
              <a:t>Flag</a:t>
            </a:r>
            <a:r>
              <a:rPr lang="de-DE" dirty="0"/>
              <a:t>. Die markierten Zeilen löschen wir nicht einfach, sondern speichern sie mit Grund in einer eigenen Tabelle. So bleibt jeder Schritt nachvollziehbar, und das führt direkt zur nächsten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1,25 min: </a:t>
            </a:r>
            <a:r>
              <a:rPr lang="de-DE" dirty="0"/>
              <a:t>Weil die Daten von Freiwilligen erfasst werden, haben wir sechs Bereinigungsregeln definiert. Sie decken die typischen Datenprobleme aus der Vorlesung ab: Redundanz, Inkorrektheit, Inkonsistenz und Unvollständigkeit. </a:t>
            </a:r>
            <a:r>
              <a:rPr lang="de-DE" b="1" dirty="0"/>
              <a:t>Echte Fehler sind eher selten: </a:t>
            </a:r>
            <a:r>
              <a:rPr lang="de-DE" dirty="0"/>
              <a:t>Gut 200 Produkte haben unmögliche Werte, zum Beispiel mehr als 100 Gramm Zucker pro 100 Gramm. Bei knapp 4'000 passt die angegebene Energie nicht zu den Nährwerten. Die kann man nachrechnen, und wenn sie stark abweicht, ist vermutlich ein Wert falsch erfasst. </a:t>
            </a:r>
            <a:r>
              <a:rPr lang="de-DE" b="1" dirty="0"/>
              <a:t>Der mit Abstand </a:t>
            </a:r>
            <a:r>
              <a:rPr lang="de-DE" b="1" dirty="0" err="1"/>
              <a:t>grösste</a:t>
            </a:r>
            <a:r>
              <a:rPr lang="de-DE" b="1" dirty="0"/>
              <a:t> Grund ist aber Unvollständigkeit</a:t>
            </a:r>
            <a:r>
              <a:rPr lang="de-DE" dirty="0"/>
              <a:t>: Bei über 82'000 Produkten fehlt der Nutri-Score oder die NOVA-Gruppe, und ohne diese Werte können wir nichts testen. Von rund 106'000 Produkten bleiben deshalb knapp 23'000, also gut jedes fünfte. Getränke behalten wir, werten sie aber getrennt aus, weil der Nutri-Score sie mit einem eigenen Algorithmus berechnet</a:t>
            </a:r>
            <a:r>
              <a:rPr lang="de-DE" b="1" dirty="0"/>
              <a:t>. Wichtig für die Nachvollziehbarkeit</a:t>
            </a:r>
            <a:r>
              <a:rPr lang="de-DE" dirty="0"/>
              <a:t>: Jedes entfernte Produkt ist mit Grund protokolliert.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45 Sek: Jede Zeile ist eine Nutri-Score-Klasse, die Farben zeigen den Verarbeitungsgrad. </a:t>
            </a:r>
          </a:p>
          <a:p>
            <a:r>
              <a:rPr lang="en-US" dirty="0"/>
              <a:t>Von A nach E wird der orange Anteil, also hochverarbeitete Produkte, immer grösser: von rund 23 Prozent bei A auf rund 74 Prozent bei E. Der Nutri-Score und der Verarbeitungsgrad hängen also zusammen, das sehen wir gleich auch im Test zu H2. </a:t>
            </a:r>
          </a:p>
          <a:p>
            <a:r>
              <a:rPr lang="en-US" dirty="0"/>
              <a:t>Aber auch bei A ist fast jedes vierte Produkt hochverarbeitet und bei B mehr als jedes dritte. Genau das prüfen wir mit H1. </a:t>
            </a:r>
            <a:r>
              <a:rPr lang="de-DE" dirty="0"/>
              <a:t>Ob das statistisch hält, zeigen die Tests auf der nächsten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1,5 Min: </a:t>
            </a:r>
            <a:r>
              <a:rPr lang="de-DE" dirty="0"/>
              <a:t>Hier sind unsere vier Tests. Eine Hypothese ist bestätigt, drei sind verworfen. Verworfen </a:t>
            </a:r>
            <a:r>
              <a:rPr lang="de-DE" dirty="0" err="1"/>
              <a:t>heisst</a:t>
            </a:r>
            <a:r>
              <a:rPr lang="de-DE" dirty="0"/>
              <a:t> nicht falsch gemacht. Es </a:t>
            </a:r>
            <a:r>
              <a:rPr lang="de-DE" dirty="0" err="1"/>
              <a:t>heisst</a:t>
            </a:r>
            <a:r>
              <a:rPr lang="de-DE" dirty="0"/>
              <a:t>, dass die Daten etwas anderes zeigen, als wir erwartet haben.</a:t>
            </a:r>
          </a:p>
          <a:p>
            <a:pPr marL="171450" indent="-171450">
              <a:buFontTx/>
              <a:buChar char="-"/>
            </a:pPr>
            <a:r>
              <a:rPr lang="de-DE" b="1" dirty="0"/>
              <a:t>H1 ist bestätigt</a:t>
            </a:r>
            <a:r>
              <a:rPr lang="de-DE" dirty="0"/>
              <a:t>: 27,7 Prozent der Produkte mit A oder B sind hochverarbeitet. Das ist mehr als jedes vierte.</a:t>
            </a:r>
          </a:p>
          <a:p>
            <a:pPr marL="171450" indent="-171450">
              <a:buFontTx/>
              <a:buChar char="-"/>
            </a:pPr>
            <a:r>
              <a:rPr lang="de-DE" b="1" dirty="0"/>
              <a:t>H2 ist verworfen</a:t>
            </a:r>
            <a:r>
              <a:rPr lang="de-DE" dirty="0"/>
              <a:t>: Score und Verarbeitung hängen stärker zusammen als erwartet, das haben wir im Diagramm gesehen.</a:t>
            </a:r>
          </a:p>
          <a:p>
            <a:pPr marL="171450" indent="-171450">
              <a:buFontTx/>
              <a:buChar char="-"/>
            </a:pPr>
            <a:r>
              <a:rPr lang="de-DE" b="1" dirty="0"/>
              <a:t>H3 ist verworfen</a:t>
            </a:r>
            <a:r>
              <a:rPr lang="de-DE" dirty="0"/>
              <a:t>: Nur etwa ein Prozent der gut bewerteten Müeslis hat viel Zucker. Unser Müesli-Beispiel ist also eher die Ausnahme. Vielleicht, weil der Nutri-Score seit 2024 strenger ist.</a:t>
            </a:r>
          </a:p>
          <a:p>
            <a:pPr marL="171450" indent="-171450">
              <a:buFontTx/>
              <a:buChar char="-"/>
            </a:pPr>
            <a:r>
              <a:rPr lang="de-DE" b="1" dirty="0"/>
              <a:t>H4 ist verworfen</a:t>
            </a:r>
            <a:r>
              <a:rPr lang="de-DE" dirty="0"/>
              <a:t>: Mehr Zusatzstoffe gehen mit einem schlechteren Score einher. Vermutlich, weil solche Produkte auch mehr Zucker, Fett oder Salz haben.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45 Sek: </a:t>
            </a:r>
          </a:p>
          <a:p>
            <a:pPr marL="171450" indent="-171450">
              <a:buFontTx/>
              <a:buChar char="-"/>
            </a:pPr>
            <a:r>
              <a:rPr lang="en-US" dirty="0" err="1"/>
              <a:t>Kernaussage</a:t>
            </a:r>
            <a:r>
              <a:rPr lang="en-US" dirty="0"/>
              <a:t>: Der Nutri-Score ist besser als sein Ruf, denn zuckerreiche Cerealien mit gutem Score sind selten. </a:t>
            </a:r>
          </a:p>
          <a:p>
            <a:pPr marL="171450" indent="-171450">
              <a:buFontTx/>
              <a:buChar char="-"/>
            </a:pPr>
            <a:r>
              <a:rPr lang="en-US" dirty="0"/>
              <a:t>Aber er sagt nichts über die Verarbeitung: Mehr als jedes vierte Produkt mit A oder B ist hochverarbeitet. Technisch steht die Pipeline von den Rohdaten bis zu den Auswertungstabellen. </a:t>
            </a:r>
          </a:p>
          <a:p>
            <a:pPr marL="171450" indent="-171450">
              <a:buFontTx/>
              <a:buChar char="-"/>
            </a:pPr>
            <a:r>
              <a:rPr lang="en-US" b="1" dirty="0"/>
              <a:t>In Teil 2 </a:t>
            </a:r>
            <a:r>
              <a:rPr lang="en-US" dirty="0"/>
              <a:t>klären wir, nach welcher Version die Scores berechnet sind, prüfen, ob die vielen fehlenden Werte die Ergebnisse verzerren, und setzen Serving Option B um: Kann ein Modell allein aus den Nährwerten erkennen, ob ein Produkt hochverarbeitet ist? Wir vergleichen mindestens zwei Klassifikationsmodelle, zum Beispiel logistische Regression und Random Forest. </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Nicht vortragen. Diese Folie dient als Nachweis für das Kriterium Eigenständigkeit. Vor der Abgabe die Angaben gemäss ZHAW-Zitierleitfaden formatieren und die FSA-Quelle prüfen.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4EE"/>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27720"/>
            <a:ext cx="10566400" cy="446980"/>
          </a:xfrm>
          <a:prstGeom prst="rect">
            <a:avLst/>
          </a:prstGeom>
          <a:noFill/>
          <a:ln/>
        </p:spPr>
        <p:txBody>
          <a:bodyPr wrap="square" lIns="0" tIns="0" rIns="0" bIns="0" rtlCol="0" anchor="t"/>
          <a:lstStyle>
            <a:lvl1pPr marL="0" indent="0" algn="l">
              <a:lnSpc>
                <a:spcPct val="115000"/>
              </a:lnSpc>
              <a:buNone/>
              <a:defRPr lang="en-US" sz="3200" dirty="0">
                <a:solidFill>
                  <a:srgbClr val="1E2A26"/>
                </a:solidFill>
                <a:latin typeface="Arial" pitchFamily="34" charset="0"/>
                <a:ea typeface="Arial" pitchFamily="34" charset="-122"/>
                <a:cs typeface="Arial"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79501"/>
            <a:ext cx="10566400" cy="4165699"/>
          </a:xfrm>
          <a:prstGeom prst="rect">
            <a:avLst/>
          </a:prstGeom>
          <a:noFill/>
          <a:ln/>
        </p:spPr>
        <p:txBody>
          <a:bodyPr wrap="square" lIns="0" tIns="0" rIns="0" bIns="0" rtlCol="0" anchor="t"/>
          <a:lstStyle>
            <a:lvl1pPr marL="0" indent="0" algn="l">
              <a:lnSpc>
                <a:spcPct val="140000"/>
              </a:lnSpc>
              <a:buNone/>
              <a:defRPr lang="en-US" sz="1600" dirty="0">
                <a:solidFill>
                  <a:srgbClr val="1E2A26"/>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4EE"/>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27720"/>
            <a:ext cx="10566400" cy="446980"/>
          </a:xfrm>
          <a:prstGeom prst="rect">
            <a:avLst/>
          </a:prstGeom>
          <a:noFill/>
          <a:ln/>
        </p:spPr>
        <p:txBody>
          <a:bodyPr wrap="square" lIns="0" tIns="0" rIns="0" bIns="0" rtlCol="0" anchor="t"/>
          <a:lstStyle>
            <a:lvl1pPr marL="0" indent="0" algn="l">
              <a:lnSpc>
                <a:spcPct val="115000"/>
              </a:lnSpc>
              <a:buNone/>
              <a:defRPr lang="en-US" sz="3200" dirty="0">
                <a:solidFill>
                  <a:srgbClr val="1E2A26"/>
                </a:solidFill>
                <a:latin typeface="Arial" pitchFamily="34" charset="0"/>
                <a:ea typeface="Arial" pitchFamily="34" charset="-122"/>
                <a:cs typeface="Arial"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79501"/>
            <a:ext cx="10566400" cy="4165699"/>
          </a:xfrm>
          <a:prstGeom prst="rect">
            <a:avLst/>
          </a:prstGeom>
          <a:noFill/>
          <a:ln/>
        </p:spPr>
        <p:txBody>
          <a:bodyPr wrap="square" lIns="0" tIns="0" rIns="0" bIns="0" rtlCol="0" anchor="t"/>
          <a:lstStyle>
            <a:lvl1pPr marL="0" indent="0" algn="l">
              <a:lnSpc>
                <a:spcPct val="140000"/>
              </a:lnSpc>
              <a:buNone/>
              <a:defRPr lang="en-US" sz="1600" dirty="0">
                <a:solidFill>
                  <a:srgbClr val="1E2A26"/>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A26"/>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F0A56B"/>
                </a:solidFill>
                <a:latin typeface="Arial" pitchFamily="34" charset="0"/>
                <a:ea typeface="Arial" pitchFamily="34" charset="-122"/>
                <a:cs typeface="Arial" pitchFamily="34" charset="-120"/>
              </a:rPr>
              <a:t>DATA ENGINEERING HS26 · PROJEKTARBEIT TEIL 1</a:t>
            </a:r>
            <a:endParaRPr lang="en-US" sz="1400" dirty="0"/>
          </a:p>
        </p:txBody>
      </p:sp>
      <p:sp>
        <p:nvSpPr>
          <p:cNvPr id="3" name="Text 1"/>
          <p:cNvSpPr>
            <a:spLocks noGrp="1"/>
          </p:cNvSpPr>
          <p:nvPr>
            <p:ph type="title"/>
          </p:nvPr>
        </p:nvSpPr>
        <p:spPr>
          <a:xfrm>
            <a:off x="812800" y="2146399"/>
            <a:ext cx="10883392" cy="1625600"/>
          </a:xfrm>
          <a:prstGeom prst="rect">
            <a:avLst/>
          </a:prstGeom>
          <a:noFill/>
          <a:ln/>
        </p:spPr>
        <p:txBody>
          <a:bodyPr wrap="square" lIns="0" tIns="0" rIns="0" bIns="0" rtlCol="0" anchor="t">
            <a:normAutofit/>
          </a:bodyPr>
          <a:lstStyle/>
          <a:p>
            <a:pPr marL="0" indent="0" algn="l">
              <a:lnSpc>
                <a:spcPts val="6300"/>
              </a:lnSpc>
              <a:buNone/>
            </a:pPr>
            <a:r>
              <a:rPr lang="en-US" sz="6000" b="1" i="0" dirty="0">
                <a:solidFill>
                  <a:srgbClr val="F3F0E8"/>
                </a:solidFill>
                <a:latin typeface="Arial" pitchFamily="34" charset="0"/>
                <a:ea typeface="Arial" pitchFamily="34" charset="-122"/>
                <a:cs typeface="Arial" pitchFamily="34" charset="-120"/>
              </a:rPr>
              <a:t>Gut bewertet –</a:t>
            </a:r>
            <a:endParaRPr lang="en-US" sz="6000" dirty="0"/>
          </a:p>
          <a:p>
            <a:pPr marL="0" indent="0" algn="l">
              <a:lnSpc>
                <a:spcPts val="6300"/>
              </a:lnSpc>
              <a:buNone/>
            </a:pPr>
            <a:r>
              <a:rPr lang="en-US" sz="6000" b="1" i="0" dirty="0">
                <a:solidFill>
                  <a:srgbClr val="F3F0E8"/>
                </a:solidFill>
                <a:latin typeface="Arial" pitchFamily="34" charset="0"/>
                <a:ea typeface="Arial" pitchFamily="34" charset="-122"/>
                <a:cs typeface="Arial" pitchFamily="34" charset="-120"/>
              </a:rPr>
              <a:t>aber auch gesund?</a:t>
            </a:r>
            <a:endParaRPr lang="en-US" sz="6000" dirty="0"/>
          </a:p>
        </p:txBody>
      </p:sp>
      <p:sp>
        <p:nvSpPr>
          <p:cNvPr id="4" name="Text 2"/>
          <p:cNvSpPr/>
          <p:nvPr/>
        </p:nvSpPr>
        <p:spPr>
          <a:xfrm>
            <a:off x="812800" y="3949799"/>
            <a:ext cx="9156700" cy="751681"/>
          </a:xfrm>
          <a:prstGeom prst="rect">
            <a:avLst/>
          </a:prstGeom>
          <a:noFill/>
          <a:ln/>
        </p:spPr>
        <p:txBody>
          <a:bodyPr wrap="square" lIns="0" tIns="0" rIns="0" bIns="0" rtlCol="0" anchor="t">
            <a:normAutofit/>
          </a:bodyPr>
          <a:lstStyle/>
          <a:p>
            <a:pPr marL="0" indent="0" algn="l">
              <a:lnSpc>
                <a:spcPts val="2860"/>
              </a:lnSpc>
              <a:buNone/>
            </a:pPr>
            <a:r>
              <a:rPr lang="en-US" sz="2200" dirty="0">
                <a:solidFill>
                  <a:srgbClr val="C9D3CC"/>
                </a:solidFill>
                <a:latin typeface="Arial" pitchFamily="34" charset="0"/>
                <a:ea typeface="Arial" pitchFamily="34" charset="-122"/>
                <a:cs typeface="Arial" pitchFamily="34" charset="-120"/>
              </a:rPr>
              <a:t>Wie aussagekräftig ist der Nutri-Score? Eine Analyse mit Open Food Facts</a:t>
            </a:r>
            <a:endParaRPr lang="en-US" sz="2200" dirty="0"/>
          </a:p>
        </p:txBody>
      </p:sp>
      <p:sp>
        <p:nvSpPr>
          <p:cNvPr id="5" name="Text 3"/>
          <p:cNvSpPr/>
          <p:nvPr/>
        </p:nvSpPr>
        <p:spPr>
          <a:xfrm>
            <a:off x="812800" y="5760740"/>
            <a:ext cx="2235875" cy="309860"/>
          </a:xfrm>
          <a:prstGeom prst="rect">
            <a:avLst/>
          </a:prstGeom>
          <a:noFill/>
          <a:ln/>
        </p:spPr>
        <p:txBody>
          <a:bodyPr wrap="square" lIns="0" tIns="0" rIns="0" bIns="0" rtlCol="0" anchor="t">
            <a:normAutofit fontScale="70000" lnSpcReduction="20000"/>
          </a:bodyPr>
          <a:lstStyle/>
          <a:p>
            <a:pPr marL="0" indent="0" algn="l">
              <a:lnSpc>
                <a:spcPts val="2240"/>
              </a:lnSpc>
              <a:buNone/>
            </a:pPr>
            <a:r>
              <a:rPr lang="en-US" sz="1600" dirty="0">
                <a:solidFill>
                  <a:srgbClr val="F3F0E8"/>
                </a:solidFill>
                <a:latin typeface="Arial" pitchFamily="34" charset="0"/>
                <a:ea typeface="Arial" pitchFamily="34" charset="-122"/>
                <a:cs typeface="Arial" pitchFamily="34" charset="-120"/>
              </a:rPr>
              <a:t>Cindy Sommer · Andrea Brunetto</a:t>
            </a:r>
            <a:endParaRPr lang="en-US" sz="1600" dirty="0"/>
          </a:p>
        </p:txBody>
      </p:sp>
      <p:sp>
        <p:nvSpPr>
          <p:cNvPr id="6" name="Text 4"/>
          <p:cNvSpPr/>
          <p:nvPr/>
        </p:nvSpPr>
        <p:spPr>
          <a:xfrm>
            <a:off x="3082429" y="5796359"/>
            <a:ext cx="6574155"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9D3CC"/>
                </a:solidFill>
                <a:latin typeface="Arial" pitchFamily="34" charset="0"/>
                <a:ea typeface="Arial" pitchFamily="34" charset="-122"/>
                <a:cs typeface="Arial" pitchFamily="34" charset="-120"/>
              </a:rPr>
              <a:t>ZHAW School of Management and Law · </a:t>
            </a:r>
            <a:r>
              <a:rPr lang="en-US" sz="1400" dirty="0" err="1">
                <a:solidFill>
                  <a:srgbClr val="C9D3CC"/>
                </a:solidFill>
                <a:latin typeface="Arial" pitchFamily="34" charset="0"/>
                <a:ea typeface="Arial" pitchFamily="34" charset="-122"/>
                <a:cs typeface="Arial" pitchFamily="34" charset="-120"/>
              </a:rPr>
              <a:t>Kolloquium</a:t>
            </a:r>
            <a:r>
              <a:rPr lang="en-US" sz="1400" dirty="0">
                <a:solidFill>
                  <a:srgbClr val="C9D3CC"/>
                </a:solidFill>
                <a:latin typeface="Arial" pitchFamily="34" charset="0"/>
                <a:ea typeface="Arial" pitchFamily="34" charset="-122"/>
                <a:cs typeface="Arial" pitchFamily="34" charset="-120"/>
              </a:rPr>
              <a:t> 28. Oktober 2026</a:t>
            </a:r>
            <a:endParaRPr lang="en-US" sz="1400" dirty="0"/>
          </a:p>
        </p:txBody>
      </p:sp>
      <p:pic>
        <p:nvPicPr>
          <p:cNvPr id="9" name="Grafik 8" descr="The image displays a nutrition label with a colorful rainbow gradient ranging from green to red, symbolizing the NUTRI-SCORE rating system, with each letter A through E representing a different nutritional score.&#10;&#10;KI-generierte Inhalte können fehlerhaft sein.">
            <a:extLst>
              <a:ext uri="{FF2B5EF4-FFF2-40B4-BE49-F238E27FC236}">
                <a16:creationId xmlns:a16="http://schemas.microsoft.com/office/drawing/2014/main" id="{4BDC3F73-318F-1B73-88A3-270D12F82075}"/>
              </a:ext>
            </a:extLst>
          </p:cNvPr>
          <p:cNvPicPr>
            <a:picLocks noChangeAspect="1"/>
          </p:cNvPicPr>
          <p:nvPr/>
        </p:nvPicPr>
        <p:blipFill>
          <a:blip r:embed="rId3"/>
          <a:stretch>
            <a:fillRect/>
          </a:stretch>
        </p:blipFill>
        <p:spPr>
          <a:xfrm>
            <a:off x="8834511" y="406097"/>
            <a:ext cx="2948932" cy="165140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E"/>
        </a:solidFill>
        <a:effectLst/>
      </p:bgPr>
    </p:bg>
    <p:spTree>
      <p:nvGrpSpPr>
        <p:cNvPr id="1" name=""/>
        <p:cNvGrpSpPr/>
        <p:nvPr/>
      </p:nvGrpSpPr>
      <p:grpSpPr>
        <a:xfrm>
          <a:off x="0" y="0"/>
          <a:ext cx="0" cy="0"/>
          <a:chOff x="0" y="0"/>
          <a:chExt cx="0" cy="0"/>
        </a:xfrm>
      </p:grpSpPr>
      <p:sp>
        <p:nvSpPr>
          <p:cNvPr id="3" name="Text 1"/>
          <p:cNvSpPr>
            <a:spLocks noGrp="1"/>
          </p:cNvSpPr>
          <p:nvPr>
            <p:ph type="title"/>
          </p:nvPr>
        </p:nvSpPr>
        <p:spPr>
          <a:xfrm>
            <a:off x="884986" y="1070919"/>
            <a:ext cx="10883392" cy="472380"/>
          </a:xfrm>
          <a:prstGeom prst="rect">
            <a:avLst/>
          </a:prstGeom>
          <a:noFill/>
          <a:ln/>
        </p:spPr>
        <p:txBody>
          <a:bodyPr wrap="square" lIns="0" tIns="0" rIns="0" bIns="0" rtlCol="0" anchor="t">
            <a:normAutofit/>
          </a:bodyPr>
          <a:lstStyle/>
          <a:p>
            <a:pPr marL="0" indent="0" algn="l">
              <a:lnSpc>
                <a:spcPts val="3520"/>
              </a:lnSpc>
              <a:buNone/>
            </a:pPr>
            <a:r>
              <a:rPr lang="en-US" b="1" dirty="0" err="1"/>
              <a:t>Ablauf</a:t>
            </a:r>
            <a:endParaRPr lang="en-US" sz="3200" dirty="0"/>
          </a:p>
        </p:txBody>
      </p:sp>
      <p:sp>
        <p:nvSpPr>
          <p:cNvPr id="4" name="Shape 2"/>
          <p:cNvSpPr/>
          <p:nvPr/>
        </p:nvSpPr>
        <p:spPr>
          <a:xfrm>
            <a:off x="815975" y="1933476"/>
            <a:ext cx="5149850" cy="2805013"/>
          </a:xfrm>
          <a:prstGeom prst="roundRect">
            <a:avLst>
              <a:gd name="adj" fmla="val 3509"/>
            </a:avLst>
          </a:prstGeom>
          <a:solidFill>
            <a:srgbClr val="FFFFFF"/>
          </a:solidFill>
          <a:ln w="6350">
            <a:solidFill>
              <a:srgbClr val="DDD8CC"/>
            </a:solidFill>
            <a:prstDash val="solid"/>
          </a:ln>
        </p:spPr>
        <p:txBody>
          <a:bodyPr/>
          <a:lstStyle/>
          <a:p>
            <a:endParaRPr lang="de-CH"/>
          </a:p>
        </p:txBody>
      </p:sp>
      <p:sp>
        <p:nvSpPr>
          <p:cNvPr id="5" name="Text 3"/>
          <p:cNvSpPr/>
          <p:nvPr/>
        </p:nvSpPr>
        <p:spPr>
          <a:xfrm>
            <a:off x="1123950" y="2241451"/>
            <a:ext cx="4669917"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B4501A"/>
                </a:solidFill>
                <a:latin typeface="Arial" pitchFamily="34" charset="0"/>
                <a:ea typeface="Arial" pitchFamily="34" charset="-122"/>
                <a:cs typeface="Arial" pitchFamily="34" charset="-120"/>
              </a:rPr>
              <a:t>Teil A · Cindy Sommer</a:t>
            </a:r>
            <a:endParaRPr lang="en-US" sz="1400" dirty="0"/>
          </a:p>
        </p:txBody>
      </p:sp>
      <p:sp>
        <p:nvSpPr>
          <p:cNvPr id="6" name="Text 4"/>
          <p:cNvSpPr/>
          <p:nvPr/>
        </p:nvSpPr>
        <p:spPr>
          <a:xfrm>
            <a:off x="1123950" y="2642691"/>
            <a:ext cx="4669917"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1E2A26"/>
                </a:solidFill>
                <a:latin typeface="Arial" pitchFamily="34" charset="0"/>
                <a:ea typeface="Arial" pitchFamily="34" charset="-122"/>
                <a:cs typeface="Arial" pitchFamily="34" charset="-120"/>
              </a:rPr>
              <a:t>Konzeptionalisierung</a:t>
            </a:r>
            <a:endParaRPr lang="en-US" sz="2200" dirty="0"/>
          </a:p>
        </p:txBody>
      </p:sp>
      <p:sp>
        <p:nvSpPr>
          <p:cNvPr id="7" name="Text 5"/>
          <p:cNvSpPr/>
          <p:nvPr/>
        </p:nvSpPr>
        <p:spPr>
          <a:xfrm>
            <a:off x="1152029" y="3130352"/>
            <a:ext cx="4634218" cy="1325563"/>
          </a:xfrm>
          <a:prstGeom prst="rect">
            <a:avLst/>
          </a:prstGeom>
          <a:noFill/>
          <a:ln/>
        </p:spPr>
        <p:txBody>
          <a:bodyPr wrap="square" lIns="0" tIns="0" rIns="0" bIns="0" rtlCol="0" anchor="t">
            <a:normAutofit/>
          </a:bodyPr>
          <a:lstStyle/>
          <a:p>
            <a:pPr marL="225921" indent="-225921" algn="l">
              <a:lnSpc>
                <a:spcPts val="2560"/>
              </a:lnSpc>
              <a:buSzPct val="100000"/>
              <a:buFontTx/>
              <a:buAutoNum type="arabicPeriod"/>
            </a:pPr>
            <a:r>
              <a:rPr lang="en-US" sz="1600" dirty="0">
                <a:solidFill>
                  <a:srgbClr val="3E4A45"/>
                </a:solidFill>
                <a:latin typeface="Arial" pitchFamily="34" charset="0"/>
                <a:ea typeface="Arial" pitchFamily="34" charset="-122"/>
                <a:cs typeface="Arial" pitchFamily="34" charset="-120"/>
              </a:rPr>
              <a:t>Ausgangslage und Problemstellung</a:t>
            </a:r>
            <a:endParaRPr lang="en-US" sz="1600" dirty="0"/>
          </a:p>
          <a:p>
            <a:pPr marL="225921" indent="-225921" algn="l">
              <a:lnSpc>
                <a:spcPts val="2560"/>
              </a:lnSpc>
              <a:buSzPct val="100000"/>
              <a:buFontTx/>
              <a:buAutoNum type="arabicPeriod"/>
            </a:pPr>
            <a:r>
              <a:rPr lang="en-US" sz="1600" dirty="0">
                <a:solidFill>
                  <a:srgbClr val="3E4A45"/>
                </a:solidFill>
                <a:latin typeface="Arial" pitchFamily="34" charset="0"/>
                <a:ea typeface="Arial" pitchFamily="34" charset="-122"/>
                <a:cs typeface="Arial" pitchFamily="34" charset="-120"/>
              </a:rPr>
              <a:t>Forschungsfragen und Hypothesen</a:t>
            </a:r>
            <a:endParaRPr lang="en-US" sz="1600" dirty="0"/>
          </a:p>
          <a:p>
            <a:pPr marL="225921" indent="-225921" algn="l">
              <a:lnSpc>
                <a:spcPts val="2560"/>
              </a:lnSpc>
              <a:buSzPct val="100000"/>
              <a:buFontTx/>
              <a:buAutoNum type="arabicPeriod"/>
            </a:pPr>
            <a:r>
              <a:rPr lang="en-US" sz="1600" dirty="0">
                <a:solidFill>
                  <a:srgbClr val="3E4A45"/>
                </a:solidFill>
                <a:latin typeface="Arial" pitchFamily="34" charset="0"/>
                <a:ea typeface="Arial" pitchFamily="34" charset="-122"/>
                <a:cs typeface="Arial" pitchFamily="34" charset="-120"/>
              </a:rPr>
              <a:t>Vorgehen und Methoden</a:t>
            </a:r>
            <a:endParaRPr lang="en-US" sz="1600" dirty="0"/>
          </a:p>
          <a:p>
            <a:pPr marL="225921" indent="-225921" algn="l">
              <a:lnSpc>
                <a:spcPts val="2560"/>
              </a:lnSpc>
              <a:buSzPct val="100000"/>
              <a:buFontTx/>
              <a:buAutoNum type="arabicPeriod"/>
            </a:pPr>
            <a:r>
              <a:rPr lang="en-US" sz="1600" dirty="0">
                <a:solidFill>
                  <a:srgbClr val="3E4A45"/>
                </a:solidFill>
                <a:latin typeface="Arial" pitchFamily="34" charset="0"/>
                <a:ea typeface="Arial" pitchFamily="34" charset="-122"/>
                <a:cs typeface="Arial" pitchFamily="34" charset="-120"/>
              </a:rPr>
              <a:t>Entwurf des Lebenszyklus</a:t>
            </a:r>
            <a:endParaRPr lang="en-US" sz="1600" dirty="0"/>
          </a:p>
        </p:txBody>
      </p:sp>
      <p:sp>
        <p:nvSpPr>
          <p:cNvPr id="8" name="Shape 6"/>
          <p:cNvSpPr/>
          <p:nvPr/>
        </p:nvSpPr>
        <p:spPr>
          <a:xfrm>
            <a:off x="6226175" y="1933476"/>
            <a:ext cx="5149850" cy="2805013"/>
          </a:xfrm>
          <a:prstGeom prst="roundRect">
            <a:avLst>
              <a:gd name="adj" fmla="val 3509"/>
            </a:avLst>
          </a:prstGeom>
          <a:solidFill>
            <a:srgbClr val="FFFFFF"/>
          </a:solidFill>
          <a:ln w="6350">
            <a:solidFill>
              <a:srgbClr val="DDD8CC"/>
            </a:solidFill>
            <a:prstDash val="solid"/>
          </a:ln>
        </p:spPr>
        <p:txBody>
          <a:bodyPr/>
          <a:lstStyle/>
          <a:p>
            <a:endParaRPr lang="de-CH" dirty="0"/>
          </a:p>
        </p:txBody>
      </p:sp>
      <p:sp>
        <p:nvSpPr>
          <p:cNvPr id="9" name="Text 7"/>
          <p:cNvSpPr/>
          <p:nvPr/>
        </p:nvSpPr>
        <p:spPr>
          <a:xfrm>
            <a:off x="6534150" y="2241451"/>
            <a:ext cx="4669917"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F5F7A"/>
                </a:solidFill>
                <a:latin typeface="Arial" pitchFamily="34" charset="0"/>
                <a:ea typeface="Arial" pitchFamily="34" charset="-122"/>
                <a:cs typeface="Arial" pitchFamily="34" charset="-120"/>
              </a:rPr>
              <a:t>Teil B · Andrea Brunetto</a:t>
            </a:r>
            <a:endParaRPr lang="en-US" sz="1400" dirty="0"/>
          </a:p>
        </p:txBody>
      </p:sp>
      <p:sp>
        <p:nvSpPr>
          <p:cNvPr id="10" name="Text 8"/>
          <p:cNvSpPr/>
          <p:nvPr/>
        </p:nvSpPr>
        <p:spPr>
          <a:xfrm>
            <a:off x="6534150" y="2642691"/>
            <a:ext cx="4669917"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1E2A26"/>
                </a:solidFill>
                <a:latin typeface="Arial" pitchFamily="34" charset="0"/>
                <a:ea typeface="Arial" pitchFamily="34" charset="-122"/>
                <a:cs typeface="Arial" pitchFamily="34" charset="-120"/>
              </a:rPr>
              <a:t>Technische Umsetzung</a:t>
            </a:r>
            <a:endParaRPr lang="en-US" sz="2200" dirty="0"/>
          </a:p>
        </p:txBody>
      </p:sp>
      <p:sp>
        <p:nvSpPr>
          <p:cNvPr id="11" name="Text 9"/>
          <p:cNvSpPr/>
          <p:nvPr/>
        </p:nvSpPr>
        <p:spPr>
          <a:xfrm>
            <a:off x="6562229" y="3130352"/>
            <a:ext cx="4634218" cy="1325563"/>
          </a:xfrm>
          <a:prstGeom prst="rect">
            <a:avLst/>
          </a:prstGeom>
          <a:noFill/>
          <a:ln/>
        </p:spPr>
        <p:txBody>
          <a:bodyPr wrap="square" lIns="0" tIns="0" rIns="0" bIns="0" rtlCol="0" anchor="t">
            <a:normAutofit/>
          </a:bodyPr>
          <a:lstStyle/>
          <a:p>
            <a:pPr marL="225921" indent="-225921" algn="l">
              <a:lnSpc>
                <a:spcPts val="2560"/>
              </a:lnSpc>
              <a:buSzPct val="100000"/>
              <a:buFontTx/>
              <a:buAutoNum type="arabicPeriod"/>
            </a:pPr>
            <a:r>
              <a:rPr lang="en-US" sz="1600" dirty="0">
                <a:solidFill>
                  <a:srgbClr val="3E4A45"/>
                </a:solidFill>
                <a:latin typeface="Arial" pitchFamily="34" charset="0"/>
                <a:ea typeface="Arial" pitchFamily="34" charset="-122"/>
                <a:cs typeface="Arial" pitchFamily="34" charset="-120"/>
              </a:rPr>
              <a:t>Datenquellen und Ingestion</a:t>
            </a:r>
            <a:endParaRPr lang="en-US" sz="1600" dirty="0"/>
          </a:p>
          <a:p>
            <a:pPr marL="225921" indent="-225921" algn="l">
              <a:lnSpc>
                <a:spcPts val="2560"/>
              </a:lnSpc>
              <a:buSzPct val="100000"/>
              <a:buFontTx/>
              <a:buAutoNum type="arabicPeriod"/>
            </a:pPr>
            <a:r>
              <a:rPr lang="en-US" sz="1600" dirty="0">
                <a:solidFill>
                  <a:srgbClr val="3E4A45"/>
                </a:solidFill>
                <a:latin typeface="Arial" pitchFamily="34" charset="0"/>
                <a:ea typeface="Arial" pitchFamily="34" charset="-122"/>
                <a:cs typeface="Arial" pitchFamily="34" charset="-120"/>
              </a:rPr>
              <a:t>Storage: Evaluation und Umsetzung</a:t>
            </a:r>
            <a:endParaRPr lang="en-US" sz="1600" dirty="0"/>
          </a:p>
          <a:p>
            <a:pPr marL="225921" indent="-225921" algn="l">
              <a:lnSpc>
                <a:spcPts val="2560"/>
              </a:lnSpc>
              <a:buSzPct val="100000"/>
              <a:buFontTx/>
              <a:buAutoNum type="arabicPeriod"/>
            </a:pPr>
            <a:r>
              <a:rPr lang="en-US" sz="1600" dirty="0">
                <a:solidFill>
                  <a:srgbClr val="3E4A45"/>
                </a:solidFill>
                <a:latin typeface="Arial" pitchFamily="34" charset="0"/>
                <a:ea typeface="Arial" pitchFamily="34" charset="-122"/>
                <a:cs typeface="Arial" pitchFamily="34" charset="-120"/>
              </a:rPr>
              <a:t>Transformation 1: Bereinigung, erste Tests</a:t>
            </a:r>
            <a:endParaRPr lang="en-US" sz="1600" dirty="0"/>
          </a:p>
          <a:p>
            <a:pPr marL="225921" indent="-225921" algn="l">
              <a:lnSpc>
                <a:spcPts val="2560"/>
              </a:lnSpc>
              <a:buSzPct val="100000"/>
              <a:buFontTx/>
              <a:buAutoNum type="arabicPeriod"/>
            </a:pPr>
            <a:r>
              <a:rPr lang="en-US" sz="1600" dirty="0">
                <a:solidFill>
                  <a:srgbClr val="3E4A45"/>
                </a:solidFill>
                <a:latin typeface="Arial" pitchFamily="34" charset="0"/>
                <a:ea typeface="Arial" pitchFamily="34" charset="-122"/>
                <a:cs typeface="Arial" pitchFamily="34" charset="-120"/>
              </a:rPr>
              <a:t>Fazit und Ausblick auf Teil 2</a:t>
            </a:r>
            <a:endParaRPr lang="en-US" sz="16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660"/>
                </a:solidFill>
                <a:latin typeface="Arial" pitchFamily="34" charset="0"/>
                <a:ea typeface="Arial" pitchFamily="34" charset="-122"/>
                <a:cs typeface="Arial" pitchFamily="34" charset="-120"/>
              </a:rPr>
              <a:t>Nutri-Score </a:t>
            </a:r>
            <a:r>
              <a:rPr lang="en-US" sz="1200" dirty="0" err="1">
                <a:solidFill>
                  <a:srgbClr val="5A6660"/>
                </a:solidFill>
                <a:latin typeface="Arial" pitchFamily="34" charset="0"/>
                <a:ea typeface="Arial" pitchFamily="34" charset="-122"/>
                <a:cs typeface="Arial" pitchFamily="34" charset="-120"/>
              </a:rPr>
              <a:t>unter</a:t>
            </a:r>
            <a:r>
              <a:rPr lang="en-US" sz="1200" dirty="0">
                <a:solidFill>
                  <a:srgbClr val="5A6660"/>
                </a:solidFill>
                <a:latin typeface="Arial" pitchFamily="34" charset="0"/>
                <a:ea typeface="Arial" pitchFamily="34" charset="-122"/>
                <a:cs typeface="Arial" pitchFamily="34" charset="-120"/>
              </a:rPr>
              <a:t> der Lupe · 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01A"/>
                </a:solidFill>
                <a:latin typeface="Arial" pitchFamily="34" charset="0"/>
                <a:ea typeface="Arial" pitchFamily="34" charset="-122"/>
                <a:cs typeface="Arial" pitchFamily="34" charset="-120"/>
              </a:rPr>
              <a:t>AUSGANGSLAGE</a:t>
            </a:r>
            <a:endParaRPr lang="en-US" sz="1200" dirty="0"/>
          </a:p>
        </p:txBody>
      </p:sp>
      <p:sp>
        <p:nvSpPr>
          <p:cNvPr id="3" name="Text 1"/>
          <p:cNvSpPr>
            <a:spLocks noGrp="1"/>
          </p:cNvSpPr>
          <p:nvPr>
            <p:ph type="title"/>
          </p:nvPr>
        </p:nvSpPr>
        <p:spPr>
          <a:xfrm>
            <a:off x="812800" y="11277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E2A26"/>
                </a:solidFill>
                <a:latin typeface="Arial" pitchFamily="34" charset="0"/>
                <a:ea typeface="Arial" pitchFamily="34" charset="-122"/>
                <a:cs typeface="Arial" pitchFamily="34" charset="-120"/>
              </a:rPr>
              <a:t>Der Nutri-Score soll den Einkauf vereinfachen</a:t>
            </a:r>
            <a:endParaRPr lang="en-US" sz="3200" dirty="0"/>
          </a:p>
        </p:txBody>
      </p:sp>
      <p:sp>
        <p:nvSpPr>
          <p:cNvPr id="4" name="Shape 2"/>
          <p:cNvSpPr/>
          <p:nvPr/>
        </p:nvSpPr>
        <p:spPr>
          <a:xfrm>
            <a:off x="815975" y="1933476"/>
            <a:ext cx="3380284" cy="1972072"/>
          </a:xfrm>
          <a:prstGeom prst="roundRect">
            <a:avLst>
              <a:gd name="adj" fmla="val 4991"/>
            </a:avLst>
          </a:prstGeom>
          <a:solidFill>
            <a:srgbClr val="FFFFFF"/>
          </a:solidFill>
          <a:ln w="6350">
            <a:solidFill>
              <a:srgbClr val="DDD8CC"/>
            </a:solidFill>
            <a:prstDash val="solid"/>
          </a:ln>
        </p:spPr>
        <p:txBody>
          <a:bodyPr/>
          <a:lstStyle/>
          <a:p>
            <a:endParaRPr lang="de-CH"/>
          </a:p>
        </p:txBody>
      </p:sp>
      <p:sp>
        <p:nvSpPr>
          <p:cNvPr id="5" name="Text 3"/>
          <p:cNvSpPr/>
          <p:nvPr/>
        </p:nvSpPr>
        <p:spPr>
          <a:xfrm>
            <a:off x="1073150" y="2190651"/>
            <a:ext cx="2951912"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B4501A"/>
                </a:solidFill>
                <a:latin typeface="Arial" pitchFamily="34" charset="0"/>
                <a:ea typeface="Arial" pitchFamily="34" charset="-122"/>
                <a:cs typeface="Arial" pitchFamily="34" charset="-120"/>
              </a:rPr>
              <a:t>A–E</a:t>
            </a:r>
            <a:endParaRPr lang="en-US" sz="4800" dirty="0"/>
          </a:p>
        </p:txBody>
      </p:sp>
      <p:sp>
        <p:nvSpPr>
          <p:cNvPr id="6" name="Text 4"/>
          <p:cNvSpPr/>
          <p:nvPr/>
        </p:nvSpPr>
        <p:spPr>
          <a:xfrm>
            <a:off x="1073150" y="2901851"/>
            <a:ext cx="2951912" cy="771922"/>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E4A45"/>
                </a:solidFill>
                <a:latin typeface="Arial" pitchFamily="34" charset="0"/>
                <a:ea typeface="Arial" pitchFamily="34" charset="-122"/>
                <a:cs typeface="Arial" pitchFamily="34" charset="-120"/>
              </a:rPr>
              <a:t>Fünfstufige Skala zur Nährwertqualität, berechnet pro </a:t>
            </a:r>
          </a:p>
          <a:p>
            <a:pPr marL="0" indent="0" algn="l">
              <a:lnSpc>
                <a:spcPts val="1960"/>
              </a:lnSpc>
              <a:buNone/>
            </a:pPr>
            <a:r>
              <a:rPr lang="en-US" sz="1400" dirty="0">
                <a:solidFill>
                  <a:srgbClr val="3E4A45"/>
                </a:solidFill>
                <a:latin typeface="Arial" pitchFamily="34" charset="0"/>
                <a:ea typeface="Arial" pitchFamily="34" charset="-122"/>
                <a:cs typeface="Arial" pitchFamily="34" charset="-120"/>
              </a:rPr>
              <a:t>100 g bzw. 100 ml</a:t>
            </a:r>
            <a:endParaRPr lang="en-US" sz="1400" dirty="0"/>
          </a:p>
        </p:txBody>
      </p:sp>
      <p:sp>
        <p:nvSpPr>
          <p:cNvPr id="7" name="Shape 5"/>
          <p:cNvSpPr/>
          <p:nvPr/>
        </p:nvSpPr>
        <p:spPr>
          <a:xfrm>
            <a:off x="4405809" y="1933476"/>
            <a:ext cx="3380383" cy="1972072"/>
          </a:xfrm>
          <a:prstGeom prst="roundRect">
            <a:avLst>
              <a:gd name="adj" fmla="val 4991"/>
            </a:avLst>
          </a:prstGeom>
          <a:solidFill>
            <a:srgbClr val="FFFFFF"/>
          </a:solidFill>
          <a:ln w="6350">
            <a:solidFill>
              <a:srgbClr val="DDD8CC"/>
            </a:solidFill>
            <a:prstDash val="solid"/>
          </a:ln>
        </p:spPr>
        <p:txBody>
          <a:bodyPr/>
          <a:lstStyle/>
          <a:p>
            <a:endParaRPr lang="de-CH"/>
          </a:p>
        </p:txBody>
      </p:sp>
      <p:sp>
        <p:nvSpPr>
          <p:cNvPr id="8" name="Text 6"/>
          <p:cNvSpPr/>
          <p:nvPr/>
        </p:nvSpPr>
        <p:spPr>
          <a:xfrm>
            <a:off x="4662984" y="2190651"/>
            <a:ext cx="2952014"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B4501A"/>
                </a:solidFill>
                <a:latin typeface="Arial" pitchFamily="34" charset="0"/>
                <a:ea typeface="Arial" pitchFamily="34" charset="-122"/>
                <a:cs typeface="Arial" pitchFamily="34" charset="-120"/>
              </a:rPr>
              <a:t>7</a:t>
            </a:r>
            <a:endParaRPr lang="en-US" sz="4800" dirty="0"/>
          </a:p>
        </p:txBody>
      </p:sp>
      <p:sp>
        <p:nvSpPr>
          <p:cNvPr id="9" name="Text 7"/>
          <p:cNvSpPr/>
          <p:nvPr/>
        </p:nvSpPr>
        <p:spPr>
          <a:xfrm>
            <a:off x="4662984" y="2901851"/>
            <a:ext cx="2952014" cy="771922"/>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E4A45"/>
                </a:solidFill>
                <a:latin typeface="Arial" pitchFamily="34" charset="0"/>
                <a:ea typeface="Arial" pitchFamily="34" charset="-122"/>
                <a:cs typeface="Arial" pitchFamily="34" charset="-120"/>
              </a:rPr>
              <a:t>Länder nutzen ihn, darunter die Schweiz. </a:t>
            </a:r>
            <a:r>
              <a:rPr lang="en-US" sz="1400" dirty="0" err="1">
                <a:solidFill>
                  <a:srgbClr val="3E4A45"/>
                </a:solidFill>
                <a:latin typeface="Arial" pitchFamily="34" charset="0"/>
                <a:ea typeface="Arial" pitchFamily="34" charset="-122"/>
                <a:cs typeface="Arial" pitchFamily="34" charset="-120"/>
              </a:rPr>
              <a:t>Algorithmus</a:t>
            </a:r>
            <a:r>
              <a:rPr lang="en-US" sz="1400" dirty="0">
                <a:solidFill>
                  <a:srgbClr val="3E4A45"/>
                </a:solidFill>
                <a:latin typeface="Arial" pitchFamily="34" charset="0"/>
                <a:ea typeface="Arial" pitchFamily="34" charset="-122"/>
                <a:cs typeface="Arial" pitchFamily="34" charset="-120"/>
              </a:rPr>
              <a:t> 2024 überarbeitet</a:t>
            </a:r>
            <a:endParaRPr lang="en-US" sz="1400" dirty="0"/>
          </a:p>
        </p:txBody>
      </p:sp>
      <p:sp>
        <p:nvSpPr>
          <p:cNvPr id="10" name="Shape 8"/>
          <p:cNvSpPr/>
          <p:nvPr/>
        </p:nvSpPr>
        <p:spPr>
          <a:xfrm>
            <a:off x="7995741" y="1933476"/>
            <a:ext cx="3380284" cy="1972072"/>
          </a:xfrm>
          <a:prstGeom prst="roundRect">
            <a:avLst>
              <a:gd name="adj" fmla="val 4991"/>
            </a:avLst>
          </a:prstGeom>
          <a:solidFill>
            <a:srgbClr val="FFFFFF"/>
          </a:solidFill>
          <a:ln w="6350">
            <a:solidFill>
              <a:srgbClr val="DDD8CC"/>
            </a:solidFill>
            <a:prstDash val="solid"/>
          </a:ln>
        </p:spPr>
        <p:txBody>
          <a:bodyPr/>
          <a:lstStyle/>
          <a:p>
            <a:endParaRPr lang="de-CH"/>
          </a:p>
        </p:txBody>
      </p:sp>
      <p:sp>
        <p:nvSpPr>
          <p:cNvPr id="11" name="Text 9"/>
          <p:cNvSpPr/>
          <p:nvPr/>
        </p:nvSpPr>
        <p:spPr>
          <a:xfrm>
            <a:off x="8252916" y="2190651"/>
            <a:ext cx="2951912"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B4501A"/>
                </a:solidFill>
                <a:latin typeface="Arial" pitchFamily="34" charset="0"/>
                <a:ea typeface="Arial" pitchFamily="34" charset="-122"/>
                <a:cs typeface="Arial" pitchFamily="34" charset="-120"/>
              </a:rPr>
              <a:t>10'000+</a:t>
            </a:r>
            <a:endParaRPr lang="en-US" sz="4800" dirty="0"/>
          </a:p>
        </p:txBody>
      </p:sp>
      <p:sp>
        <p:nvSpPr>
          <p:cNvPr id="12" name="Text 10"/>
          <p:cNvSpPr/>
          <p:nvPr/>
        </p:nvSpPr>
        <p:spPr>
          <a:xfrm>
            <a:off x="8252916" y="2901851"/>
            <a:ext cx="2951912" cy="771922"/>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E4A45"/>
                </a:solidFill>
                <a:latin typeface="Arial" pitchFamily="34" charset="0"/>
                <a:ea typeface="Arial" pitchFamily="34" charset="-122"/>
                <a:cs typeface="Arial" pitchFamily="34" charset="-120"/>
              </a:rPr>
              <a:t>Produkte in der Schweiz tragen ihn, von 102 Unternehmen (Stand 9/2025)</a:t>
            </a:r>
            <a:endParaRPr lang="en-US" sz="1400" dirty="0"/>
          </a:p>
        </p:txBody>
      </p:sp>
      <p:sp>
        <p:nvSpPr>
          <p:cNvPr id="13" name="Text 11"/>
          <p:cNvSpPr/>
          <p:nvPr/>
        </p:nvSpPr>
        <p:spPr>
          <a:xfrm>
            <a:off x="812800" y="4264323"/>
            <a:ext cx="981075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E4A45"/>
                </a:solidFill>
                <a:latin typeface="Arial" pitchFamily="34" charset="0"/>
                <a:ea typeface="Arial" pitchFamily="34" charset="-122"/>
                <a:cs typeface="Arial" pitchFamily="34" charset="-120"/>
              </a:rPr>
              <a:t>In der Schweiz ist die Kennzeichnung </a:t>
            </a:r>
            <a:r>
              <a:rPr lang="en-US" sz="1600" b="1" dirty="0">
                <a:solidFill>
                  <a:srgbClr val="3E4A45"/>
                </a:solidFill>
                <a:latin typeface="Arial" pitchFamily="34" charset="0"/>
                <a:ea typeface="Arial" pitchFamily="34" charset="-122"/>
                <a:cs typeface="Arial" pitchFamily="34" charset="-120"/>
              </a:rPr>
              <a:t>freiwillig</a:t>
            </a:r>
            <a:r>
              <a:rPr lang="en-US" sz="1600" dirty="0">
                <a:solidFill>
                  <a:srgbClr val="3E4A45"/>
                </a:solidFill>
                <a:latin typeface="Arial" pitchFamily="34" charset="0"/>
                <a:ea typeface="Arial" pitchFamily="34" charset="-122"/>
                <a:cs typeface="Arial" pitchFamily="34" charset="-120"/>
              </a:rPr>
              <a:t>. Konsumentinnen und Konsumenten lesen ein A oder B oft als „gesund“.</a:t>
            </a:r>
            <a:endParaRPr lang="en-US" sz="1600" dirty="0"/>
          </a:p>
        </p:txBody>
      </p:sp>
      <p:sp>
        <p:nvSpPr>
          <p:cNvPr id="14" name="Text 12"/>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660"/>
                </a:solidFill>
                <a:latin typeface="Arial" pitchFamily="34" charset="0"/>
                <a:ea typeface="Arial" pitchFamily="34" charset="-122"/>
                <a:cs typeface="Arial" pitchFamily="34" charset="-120"/>
              </a:rPr>
              <a:t>Quellen: BLV (2025); CRESS (2024) · 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01A"/>
                </a:solidFill>
                <a:latin typeface="Arial" pitchFamily="34" charset="0"/>
                <a:ea typeface="Arial" pitchFamily="34" charset="-122"/>
                <a:cs typeface="Arial" pitchFamily="34" charset="-120"/>
              </a:rPr>
              <a:t>PROBLEMSTELLUNG</a:t>
            </a:r>
            <a:endParaRPr lang="en-US" sz="1200" dirty="0"/>
          </a:p>
        </p:txBody>
      </p:sp>
      <p:sp>
        <p:nvSpPr>
          <p:cNvPr id="3" name="Text 1"/>
          <p:cNvSpPr>
            <a:spLocks noGrp="1"/>
          </p:cNvSpPr>
          <p:nvPr>
            <p:ph type="title"/>
          </p:nvPr>
        </p:nvSpPr>
        <p:spPr>
          <a:xfrm>
            <a:off x="812800" y="11277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E2A26"/>
                </a:solidFill>
                <a:latin typeface="Arial" pitchFamily="34" charset="0"/>
                <a:ea typeface="Arial" pitchFamily="34" charset="-122"/>
                <a:cs typeface="Arial" pitchFamily="34" charset="-120"/>
              </a:rPr>
              <a:t>Gute Werte können schlechte ausgleichen</a:t>
            </a:r>
            <a:endParaRPr lang="en-US" sz="3200" dirty="0"/>
          </a:p>
        </p:txBody>
      </p:sp>
      <p:sp>
        <p:nvSpPr>
          <p:cNvPr id="4" name="Shape 2"/>
          <p:cNvSpPr/>
          <p:nvPr/>
        </p:nvSpPr>
        <p:spPr>
          <a:xfrm>
            <a:off x="819150" y="1885851"/>
            <a:ext cx="3746202" cy="970161"/>
          </a:xfrm>
          <a:prstGeom prst="roundRect">
            <a:avLst>
              <a:gd name="adj" fmla="val 9818"/>
            </a:avLst>
          </a:prstGeom>
          <a:solidFill>
            <a:srgbClr val="FFFFFF"/>
          </a:solidFill>
          <a:ln w="12700">
            <a:solidFill>
              <a:srgbClr val="B4501A"/>
            </a:solidFill>
            <a:prstDash val="solid"/>
          </a:ln>
        </p:spPr>
        <p:txBody>
          <a:bodyPr/>
          <a:lstStyle/>
          <a:p>
            <a:endParaRPr lang="de-CH"/>
          </a:p>
        </p:txBody>
      </p:sp>
      <p:sp>
        <p:nvSpPr>
          <p:cNvPr id="5" name="Text 3"/>
          <p:cNvSpPr/>
          <p:nvPr/>
        </p:nvSpPr>
        <p:spPr>
          <a:xfrm>
            <a:off x="1028700" y="2095401"/>
            <a:ext cx="3426915"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B4501A"/>
                </a:solidFill>
                <a:latin typeface="Arial" pitchFamily="34" charset="0"/>
                <a:ea typeface="Arial" pitchFamily="34" charset="-122"/>
                <a:cs typeface="Arial" pitchFamily="34" charset="-120"/>
              </a:rPr>
              <a:t>Negativpunkte</a:t>
            </a:r>
            <a:endParaRPr lang="en-US" sz="1600" dirty="0"/>
          </a:p>
        </p:txBody>
      </p:sp>
      <p:sp>
        <p:nvSpPr>
          <p:cNvPr id="6" name="Text 4"/>
          <p:cNvSpPr/>
          <p:nvPr/>
        </p:nvSpPr>
        <p:spPr>
          <a:xfrm>
            <a:off x="1028700" y="2415381"/>
            <a:ext cx="3426915" cy="2564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3E4A45"/>
                </a:solidFill>
                <a:latin typeface="Arial" pitchFamily="34" charset="0"/>
                <a:ea typeface="Arial" pitchFamily="34" charset="-122"/>
                <a:cs typeface="Arial" pitchFamily="34" charset="-120"/>
              </a:rPr>
              <a:t>Energie, Zucker, gesättigte Fettsäuren, Salz</a:t>
            </a:r>
            <a:endParaRPr lang="en-US" sz="1300" dirty="0"/>
          </a:p>
        </p:txBody>
      </p:sp>
      <p:sp>
        <p:nvSpPr>
          <p:cNvPr id="7" name="Text 5"/>
          <p:cNvSpPr/>
          <p:nvPr/>
        </p:nvSpPr>
        <p:spPr>
          <a:xfrm>
            <a:off x="4724102" y="2050852"/>
            <a:ext cx="320397" cy="665460"/>
          </a:xfrm>
          <a:prstGeom prst="rect">
            <a:avLst/>
          </a:prstGeom>
          <a:noFill/>
          <a:ln/>
        </p:spPr>
        <p:txBody>
          <a:bodyPr wrap="square" lIns="0" tIns="0" rIns="0" bIns="0" rtlCol="0" anchor="t">
            <a:normAutofit/>
          </a:bodyPr>
          <a:lstStyle/>
          <a:p>
            <a:pPr marL="0" indent="0" algn="l">
              <a:lnSpc>
                <a:spcPts val="5040"/>
              </a:lnSpc>
              <a:buNone/>
            </a:pPr>
            <a:r>
              <a:rPr lang="en-US" sz="3600" b="1" dirty="0">
                <a:solidFill>
                  <a:srgbClr val="1E2A26"/>
                </a:solidFill>
                <a:latin typeface="Arial" pitchFamily="34" charset="0"/>
                <a:ea typeface="Arial" pitchFamily="34" charset="-122"/>
                <a:cs typeface="Arial" pitchFamily="34" charset="-120"/>
              </a:rPr>
              <a:t>−</a:t>
            </a:r>
            <a:endParaRPr lang="en-US" sz="3600" dirty="0"/>
          </a:p>
        </p:txBody>
      </p:sp>
      <p:sp>
        <p:nvSpPr>
          <p:cNvPr id="8" name="Shape 6"/>
          <p:cNvSpPr/>
          <p:nvPr/>
        </p:nvSpPr>
        <p:spPr>
          <a:xfrm>
            <a:off x="5149850" y="1885851"/>
            <a:ext cx="3746202" cy="970161"/>
          </a:xfrm>
          <a:prstGeom prst="roundRect">
            <a:avLst>
              <a:gd name="adj" fmla="val 9818"/>
            </a:avLst>
          </a:prstGeom>
          <a:solidFill>
            <a:srgbClr val="FFFFFF"/>
          </a:solidFill>
          <a:ln w="12700">
            <a:solidFill>
              <a:srgbClr val="2F5F7A"/>
            </a:solidFill>
            <a:prstDash val="solid"/>
          </a:ln>
        </p:spPr>
        <p:txBody>
          <a:bodyPr/>
          <a:lstStyle/>
          <a:p>
            <a:endParaRPr lang="de-CH"/>
          </a:p>
        </p:txBody>
      </p:sp>
      <p:sp>
        <p:nvSpPr>
          <p:cNvPr id="9" name="Text 7"/>
          <p:cNvSpPr/>
          <p:nvPr/>
        </p:nvSpPr>
        <p:spPr>
          <a:xfrm>
            <a:off x="5359400" y="2095401"/>
            <a:ext cx="3426915"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F5F7A"/>
                </a:solidFill>
                <a:latin typeface="Arial" pitchFamily="34" charset="0"/>
                <a:ea typeface="Arial" pitchFamily="34" charset="-122"/>
                <a:cs typeface="Arial" pitchFamily="34" charset="-120"/>
              </a:rPr>
              <a:t>Positivpunkte</a:t>
            </a:r>
            <a:endParaRPr lang="en-US" sz="1600" dirty="0"/>
          </a:p>
        </p:txBody>
      </p:sp>
      <p:sp>
        <p:nvSpPr>
          <p:cNvPr id="10" name="Text 8"/>
          <p:cNvSpPr/>
          <p:nvPr/>
        </p:nvSpPr>
        <p:spPr>
          <a:xfrm>
            <a:off x="5359400" y="2415381"/>
            <a:ext cx="3530302" cy="2564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3E4A45"/>
                </a:solidFill>
                <a:latin typeface="Arial" pitchFamily="34" charset="0"/>
                <a:ea typeface="Arial" pitchFamily="34" charset="-122"/>
                <a:cs typeface="Arial" pitchFamily="34" charset="-120"/>
              </a:rPr>
              <a:t>Ballaststoffe, Protein, Obst, Gemüse, Nüsse</a:t>
            </a:r>
            <a:endParaRPr lang="en-US" sz="1300" dirty="0"/>
          </a:p>
        </p:txBody>
      </p:sp>
      <p:sp>
        <p:nvSpPr>
          <p:cNvPr id="11" name="Text 9"/>
          <p:cNvSpPr/>
          <p:nvPr/>
        </p:nvSpPr>
        <p:spPr>
          <a:xfrm>
            <a:off x="9054802" y="2050852"/>
            <a:ext cx="320397" cy="665460"/>
          </a:xfrm>
          <a:prstGeom prst="rect">
            <a:avLst/>
          </a:prstGeom>
          <a:noFill/>
          <a:ln/>
        </p:spPr>
        <p:txBody>
          <a:bodyPr wrap="square" lIns="0" tIns="0" rIns="0" bIns="0" rtlCol="0" anchor="t">
            <a:normAutofit/>
          </a:bodyPr>
          <a:lstStyle/>
          <a:p>
            <a:pPr marL="0" indent="0" algn="l">
              <a:lnSpc>
                <a:spcPts val="5040"/>
              </a:lnSpc>
              <a:buNone/>
            </a:pPr>
            <a:r>
              <a:rPr lang="en-US" sz="3600" b="1" dirty="0">
                <a:solidFill>
                  <a:srgbClr val="1E2A26"/>
                </a:solidFill>
                <a:latin typeface="Arial" pitchFamily="34" charset="0"/>
                <a:ea typeface="Arial" pitchFamily="34" charset="-122"/>
                <a:cs typeface="Arial" pitchFamily="34" charset="-120"/>
              </a:rPr>
              <a:t>=</a:t>
            </a:r>
            <a:endParaRPr lang="en-US" sz="3600" dirty="0"/>
          </a:p>
        </p:txBody>
      </p:sp>
      <p:sp>
        <p:nvSpPr>
          <p:cNvPr id="12" name="Shape 10"/>
          <p:cNvSpPr/>
          <p:nvPr/>
        </p:nvSpPr>
        <p:spPr>
          <a:xfrm>
            <a:off x="9474200" y="1892201"/>
            <a:ext cx="1905000" cy="957461"/>
          </a:xfrm>
          <a:prstGeom prst="roundRect">
            <a:avLst>
              <a:gd name="adj" fmla="val 10611"/>
            </a:avLst>
          </a:prstGeom>
          <a:solidFill>
            <a:srgbClr val="1E2A26"/>
          </a:solidFill>
          <a:ln/>
        </p:spPr>
        <p:txBody>
          <a:bodyPr/>
          <a:lstStyle/>
          <a:p>
            <a:endParaRPr lang="de-CH"/>
          </a:p>
        </p:txBody>
      </p:sp>
      <p:sp>
        <p:nvSpPr>
          <p:cNvPr id="13" name="Text 11"/>
          <p:cNvSpPr/>
          <p:nvPr/>
        </p:nvSpPr>
        <p:spPr>
          <a:xfrm>
            <a:off x="9677400" y="2095401"/>
            <a:ext cx="154940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3F0E8"/>
                </a:solidFill>
                <a:latin typeface="Arial" pitchFamily="34" charset="0"/>
                <a:ea typeface="Arial" pitchFamily="34" charset="-122"/>
                <a:cs typeface="Arial" pitchFamily="34" charset="-120"/>
              </a:rPr>
              <a:t>Score</a:t>
            </a:r>
            <a:endParaRPr lang="en-US" sz="1600" dirty="0"/>
          </a:p>
        </p:txBody>
      </p:sp>
      <p:sp>
        <p:nvSpPr>
          <p:cNvPr id="14" name="Text 12"/>
          <p:cNvSpPr/>
          <p:nvPr/>
        </p:nvSpPr>
        <p:spPr>
          <a:xfrm>
            <a:off x="9677400" y="2415381"/>
            <a:ext cx="1549400" cy="2564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C9D3CC"/>
                </a:solidFill>
                <a:latin typeface="Arial" pitchFamily="34" charset="0"/>
                <a:ea typeface="Arial" pitchFamily="34" charset="-122"/>
                <a:cs typeface="Arial" pitchFamily="34" charset="-120"/>
              </a:rPr>
              <a:t>→ Klasse A bis E</a:t>
            </a:r>
            <a:endParaRPr lang="en-US" sz="1300" dirty="0"/>
          </a:p>
        </p:txBody>
      </p:sp>
      <p:sp>
        <p:nvSpPr>
          <p:cNvPr id="15" name="Text 13"/>
          <p:cNvSpPr/>
          <p:nvPr/>
        </p:nvSpPr>
        <p:spPr>
          <a:xfrm>
            <a:off x="812800" y="3167162"/>
            <a:ext cx="5049266"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E2A26"/>
                </a:solidFill>
                <a:latin typeface="Arial" pitchFamily="34" charset="0"/>
                <a:ea typeface="Arial" pitchFamily="34" charset="-122"/>
                <a:cs typeface="Arial" pitchFamily="34" charset="-120"/>
              </a:rPr>
              <a:t>Nicht berücksichtigt</a:t>
            </a:r>
            <a:endParaRPr lang="en-US" sz="1800" dirty="0"/>
          </a:p>
        </p:txBody>
      </p:sp>
      <p:sp>
        <p:nvSpPr>
          <p:cNvPr id="16" name="Text 14"/>
          <p:cNvSpPr/>
          <p:nvPr/>
        </p:nvSpPr>
        <p:spPr>
          <a:xfrm>
            <a:off x="910082" y="3517602"/>
            <a:ext cx="4944364" cy="878780"/>
          </a:xfrm>
          <a:prstGeom prst="rect">
            <a:avLst/>
          </a:prstGeom>
          <a:noFill/>
          <a:ln/>
        </p:spPr>
        <p:txBody>
          <a:bodyPr wrap="square" lIns="0" tIns="0" rIns="0" bIns="0" rtlCol="0" anchor="t">
            <a:normAutofit/>
          </a:bodyPr>
          <a:lstStyle/>
          <a:p>
            <a:pPr marL="156718" indent="-156718" algn="l">
              <a:lnSpc>
                <a:spcPts val="2240"/>
              </a:lnSpc>
              <a:buSzPct val="100000"/>
              <a:buChar char="•"/>
            </a:pPr>
            <a:r>
              <a:rPr lang="en-US" sz="1400" dirty="0">
                <a:solidFill>
                  <a:srgbClr val="3E4A45"/>
                </a:solidFill>
                <a:latin typeface="Arial" pitchFamily="34" charset="0"/>
                <a:ea typeface="Arial" pitchFamily="34" charset="-122"/>
                <a:cs typeface="Arial" pitchFamily="34" charset="-120"/>
              </a:rPr>
              <a:t>Verarbeitungsgrad (NOVA-Gruppen)</a:t>
            </a:r>
            <a:endParaRPr lang="en-US" sz="1400" dirty="0"/>
          </a:p>
          <a:p>
            <a:pPr marL="156718" indent="-156718" algn="l">
              <a:lnSpc>
                <a:spcPts val="2240"/>
              </a:lnSpc>
              <a:buSzPct val="100000"/>
              <a:buChar char="•"/>
            </a:pPr>
            <a:r>
              <a:rPr lang="en-US" sz="1400" dirty="0">
                <a:solidFill>
                  <a:srgbClr val="3E4A45"/>
                </a:solidFill>
                <a:latin typeface="Arial" pitchFamily="34" charset="0"/>
                <a:ea typeface="Arial" pitchFamily="34" charset="-122"/>
                <a:cs typeface="Arial" pitchFamily="34" charset="-120"/>
              </a:rPr>
              <a:t>Zusatzstoffe wie Emulgatoren und Aromen</a:t>
            </a:r>
            <a:endParaRPr lang="en-US" sz="1400" dirty="0"/>
          </a:p>
          <a:p>
            <a:pPr marL="156718" indent="-156718" algn="l">
              <a:lnSpc>
                <a:spcPts val="2240"/>
              </a:lnSpc>
              <a:buSzPct val="100000"/>
              <a:buChar char="•"/>
            </a:pPr>
            <a:r>
              <a:rPr lang="en-US" sz="1400" dirty="0">
                <a:solidFill>
                  <a:srgbClr val="3E4A45"/>
                </a:solidFill>
                <a:latin typeface="Arial" pitchFamily="34" charset="0"/>
                <a:ea typeface="Arial" pitchFamily="34" charset="-122"/>
                <a:cs typeface="Arial" pitchFamily="34" charset="-120"/>
              </a:rPr>
              <a:t>Übliche Portionsgrösse (Bezug immer 100 g)</a:t>
            </a:r>
            <a:endParaRPr lang="en-US" sz="1400" dirty="0"/>
          </a:p>
        </p:txBody>
      </p:sp>
      <p:sp>
        <p:nvSpPr>
          <p:cNvPr id="17" name="Shape 15"/>
          <p:cNvSpPr/>
          <p:nvPr/>
        </p:nvSpPr>
        <p:spPr>
          <a:xfrm>
            <a:off x="819150" y="4629283"/>
            <a:ext cx="5410200" cy="1391841"/>
          </a:xfrm>
          <a:prstGeom prst="roundRect">
            <a:avLst>
              <a:gd name="adj" fmla="val 7300"/>
            </a:avLst>
          </a:prstGeom>
          <a:solidFill>
            <a:srgbClr val="F0E2D3"/>
          </a:solidFill>
          <a:ln/>
        </p:spPr>
        <p:txBody>
          <a:bodyPr/>
          <a:lstStyle/>
          <a:p>
            <a:endParaRPr lang="de-CH"/>
          </a:p>
        </p:txBody>
      </p:sp>
      <p:sp>
        <p:nvSpPr>
          <p:cNvPr id="18" name="Text 16"/>
          <p:cNvSpPr/>
          <p:nvPr/>
        </p:nvSpPr>
        <p:spPr>
          <a:xfrm>
            <a:off x="1073150" y="4883283"/>
            <a:ext cx="5049266" cy="299641"/>
          </a:xfrm>
          <a:prstGeom prst="rect">
            <a:avLst/>
          </a:prstGeom>
          <a:noFill/>
          <a:ln/>
        </p:spPr>
        <p:txBody>
          <a:bodyPr wrap="square" lIns="0" tIns="0" rIns="0" bIns="0" rtlCol="0" anchor="t">
            <a:normAutofit/>
          </a:bodyPr>
          <a:lstStyle/>
          <a:p>
            <a:pPr marL="0" indent="0" algn="l">
              <a:lnSpc>
                <a:spcPts val="2160"/>
              </a:lnSpc>
              <a:buNone/>
            </a:pPr>
            <a:r>
              <a:rPr lang="en-US" sz="1800" b="1" dirty="0" err="1">
                <a:solidFill>
                  <a:srgbClr val="1E2A26"/>
                </a:solidFill>
                <a:latin typeface="Arial" pitchFamily="34" charset="0"/>
                <a:ea typeface="Arial" pitchFamily="34" charset="-122"/>
                <a:cs typeface="Arial" pitchFamily="34" charset="-120"/>
              </a:rPr>
              <a:t>Beispiel</a:t>
            </a:r>
            <a:r>
              <a:rPr lang="en-US" sz="1800" b="1" dirty="0">
                <a:solidFill>
                  <a:srgbClr val="1E2A26"/>
                </a:solidFill>
                <a:latin typeface="Arial" pitchFamily="34" charset="0"/>
                <a:ea typeface="Arial" pitchFamily="34" charset="-122"/>
                <a:cs typeface="Arial" pitchFamily="34" charset="-120"/>
              </a:rPr>
              <a:t> </a:t>
            </a:r>
            <a:r>
              <a:rPr lang="en-US" sz="1800" b="1" dirty="0" err="1">
                <a:solidFill>
                  <a:srgbClr val="1E2A26"/>
                </a:solidFill>
                <a:latin typeface="Arial" pitchFamily="34" charset="0"/>
                <a:ea typeface="Arial" pitchFamily="34" charset="-122"/>
                <a:cs typeface="Arial" pitchFamily="34" charset="-120"/>
              </a:rPr>
              <a:t>Cerealien</a:t>
            </a:r>
            <a:endParaRPr lang="en-US" sz="1800" dirty="0"/>
          </a:p>
        </p:txBody>
      </p:sp>
      <p:sp>
        <p:nvSpPr>
          <p:cNvPr id="19" name="Text 17"/>
          <p:cNvSpPr/>
          <p:nvPr/>
        </p:nvSpPr>
        <p:spPr>
          <a:xfrm>
            <a:off x="1073150" y="5233723"/>
            <a:ext cx="5049266" cy="558800"/>
          </a:xfrm>
          <a:prstGeom prst="rect">
            <a:avLst/>
          </a:prstGeom>
          <a:noFill/>
          <a:ln/>
        </p:spPr>
        <p:txBody>
          <a:bodyPr wrap="square" lIns="0" tIns="0" rIns="0" bIns="0" rtlCol="0" anchor="t">
            <a:normAutofit/>
          </a:bodyPr>
          <a:lstStyle/>
          <a:p>
            <a:pPr marL="0" indent="0" algn="l">
              <a:lnSpc>
                <a:spcPts val="2100"/>
              </a:lnSpc>
              <a:buNone/>
            </a:pPr>
            <a:r>
              <a:rPr lang="en-US" sz="1400" dirty="0">
                <a:solidFill>
                  <a:srgbClr val="3E4A45"/>
                </a:solidFill>
                <a:latin typeface="Arial" pitchFamily="34" charset="0"/>
                <a:ea typeface="Arial" pitchFamily="34" charset="-122"/>
                <a:cs typeface="Arial" pitchFamily="34" charset="-120"/>
              </a:rPr>
              <a:t>Viel Zucker, aber auch viele Ballaststoffe: Die Positivpunkte drücken den Score nach oben, das Produkt erscheint </a:t>
            </a:r>
            <a:r>
              <a:rPr lang="en-US" sz="1400" dirty="0" err="1">
                <a:solidFill>
                  <a:srgbClr val="3E4A45"/>
                </a:solidFill>
                <a:latin typeface="Arial" pitchFamily="34" charset="0"/>
                <a:ea typeface="Arial" pitchFamily="34" charset="-122"/>
                <a:cs typeface="Arial" pitchFamily="34" charset="-120"/>
              </a:rPr>
              <a:t>als</a:t>
            </a:r>
            <a:r>
              <a:rPr lang="en-US" sz="1400" dirty="0">
                <a:solidFill>
                  <a:srgbClr val="3E4A45"/>
                </a:solidFill>
                <a:latin typeface="Arial" pitchFamily="34" charset="0"/>
                <a:ea typeface="Arial" pitchFamily="34" charset="-122"/>
                <a:cs typeface="Arial" pitchFamily="34" charset="-120"/>
              </a:rPr>
              <a:t> A.</a:t>
            </a:r>
            <a:endParaRPr lang="en-US" sz="1400" dirty="0"/>
          </a:p>
        </p:txBody>
      </p:sp>
      <p:sp>
        <p:nvSpPr>
          <p:cNvPr id="20" name="Text 18"/>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660"/>
                </a:solidFill>
                <a:latin typeface="Arial" pitchFamily="34" charset="0"/>
                <a:ea typeface="Arial" pitchFamily="34" charset="-122"/>
                <a:cs typeface="Arial" pitchFamily="34" charset="-120"/>
              </a:rPr>
              <a:t>Nutri-Score unter der Lupe · 04</a:t>
            </a:r>
            <a:endParaRPr lang="en-US" sz="1200" dirty="0"/>
          </a:p>
        </p:txBody>
      </p:sp>
      <p:pic>
        <p:nvPicPr>
          <p:cNvPr id="22" name="Grafik 21" descr="NESQUIK Nutri-Score A für Knusperfrühstück | Nestlé">
            <a:extLst>
              <a:ext uri="{FF2B5EF4-FFF2-40B4-BE49-F238E27FC236}">
                <a16:creationId xmlns:a16="http://schemas.microsoft.com/office/drawing/2014/main" id="{2B50F71C-4E8F-5AEB-35F7-C1ABC8614D48}"/>
              </a:ext>
            </a:extLst>
          </p:cNvPr>
          <p:cNvPicPr>
            <a:picLocks noChangeAspect="1"/>
          </p:cNvPicPr>
          <p:nvPr/>
        </p:nvPicPr>
        <p:blipFill>
          <a:blip r:embed="rId3"/>
          <a:srcRect l="22116" r="18829"/>
          <a:stretch>
            <a:fillRect/>
          </a:stretch>
        </p:blipFill>
        <p:spPr>
          <a:xfrm>
            <a:off x="7956673" y="3325643"/>
            <a:ext cx="2688957" cy="341491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01A"/>
                </a:solidFill>
                <a:latin typeface="Arial" pitchFamily="34" charset="0"/>
                <a:ea typeface="Arial" pitchFamily="34" charset="-122"/>
                <a:cs typeface="Arial" pitchFamily="34" charset="-120"/>
              </a:rPr>
              <a:t>FORSCHUNGSFRAGEN</a:t>
            </a:r>
            <a:endParaRPr lang="en-US" sz="1200" dirty="0"/>
          </a:p>
        </p:txBody>
      </p:sp>
      <p:sp>
        <p:nvSpPr>
          <p:cNvPr id="3" name="Text 1"/>
          <p:cNvSpPr>
            <a:spLocks noGrp="1"/>
          </p:cNvSpPr>
          <p:nvPr>
            <p:ph type="title"/>
          </p:nvPr>
        </p:nvSpPr>
        <p:spPr>
          <a:xfrm>
            <a:off x="812800" y="11277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E2A26"/>
                </a:solidFill>
                <a:latin typeface="Arial" pitchFamily="34" charset="0"/>
                <a:ea typeface="Arial" pitchFamily="34" charset="-122"/>
                <a:cs typeface="Arial" pitchFamily="34" charset="-120"/>
              </a:rPr>
              <a:t>Was wir mit den Daten beantworten wollen</a:t>
            </a:r>
            <a:endParaRPr lang="en-US" sz="3200" dirty="0"/>
          </a:p>
        </p:txBody>
      </p:sp>
      <p:sp>
        <p:nvSpPr>
          <p:cNvPr id="4" name="Shape 2"/>
          <p:cNvSpPr/>
          <p:nvPr/>
        </p:nvSpPr>
        <p:spPr>
          <a:xfrm>
            <a:off x="815975" y="1882676"/>
            <a:ext cx="10560050" cy="910530"/>
          </a:xfrm>
          <a:prstGeom prst="roundRect">
            <a:avLst>
              <a:gd name="adj" fmla="val 10810"/>
            </a:avLst>
          </a:prstGeom>
          <a:solidFill>
            <a:srgbClr val="FFFFFF"/>
          </a:solidFill>
          <a:ln w="6350">
            <a:solidFill>
              <a:srgbClr val="DDD8CC"/>
            </a:solidFill>
            <a:prstDash val="solid"/>
          </a:ln>
        </p:spPr>
        <p:txBody>
          <a:bodyPr/>
          <a:lstStyle/>
          <a:p>
            <a:endParaRPr lang="de-CH"/>
          </a:p>
        </p:txBody>
      </p:sp>
      <p:sp>
        <p:nvSpPr>
          <p:cNvPr id="5" name="Text 3"/>
          <p:cNvSpPr/>
          <p:nvPr/>
        </p:nvSpPr>
        <p:spPr>
          <a:xfrm>
            <a:off x="1073150" y="2089051"/>
            <a:ext cx="812800" cy="52318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B4501A"/>
                </a:solidFill>
                <a:latin typeface="Arial" pitchFamily="34" charset="0"/>
                <a:ea typeface="Arial" pitchFamily="34" charset="-122"/>
                <a:cs typeface="Arial" pitchFamily="34" charset="-120"/>
              </a:rPr>
              <a:t>FF1</a:t>
            </a:r>
            <a:endParaRPr lang="en-US" sz="2800" dirty="0"/>
          </a:p>
        </p:txBody>
      </p:sp>
      <p:sp>
        <p:nvSpPr>
          <p:cNvPr id="6" name="Text 4"/>
          <p:cNvSpPr/>
          <p:nvPr/>
        </p:nvSpPr>
        <p:spPr>
          <a:xfrm>
            <a:off x="2089150" y="2192238"/>
            <a:ext cx="9300591" cy="316805"/>
          </a:xfrm>
          <a:prstGeom prst="rect">
            <a:avLst/>
          </a:prstGeom>
          <a:noFill/>
          <a:ln/>
        </p:spPr>
        <p:txBody>
          <a:bodyPr wrap="square" lIns="0" tIns="0" rIns="0" bIns="0" rtlCol="0" anchor="t">
            <a:normAutofit/>
          </a:bodyPr>
          <a:lstStyle/>
          <a:p>
            <a:pPr marL="0" indent="0" algn="l">
              <a:lnSpc>
                <a:spcPts val="2295"/>
              </a:lnSpc>
              <a:buNone/>
            </a:pPr>
            <a:r>
              <a:rPr lang="en-US" sz="1700" dirty="0">
                <a:solidFill>
                  <a:srgbClr val="1E2A26"/>
                </a:solidFill>
                <a:latin typeface="Arial" pitchFamily="34" charset="0"/>
                <a:ea typeface="Arial" pitchFamily="34" charset="-122"/>
                <a:cs typeface="Arial" pitchFamily="34" charset="-120"/>
              </a:rPr>
              <a:t>Wie gut stimmen Nutri-Score und Verarbeitungsgrad (NOVA) überein?</a:t>
            </a:r>
            <a:endParaRPr lang="en-US" sz="1700" dirty="0"/>
          </a:p>
        </p:txBody>
      </p:sp>
      <p:sp>
        <p:nvSpPr>
          <p:cNvPr id="7" name="Shape 5"/>
          <p:cNvSpPr/>
          <p:nvPr/>
        </p:nvSpPr>
        <p:spPr>
          <a:xfrm>
            <a:off x="815975" y="2951956"/>
            <a:ext cx="10560050" cy="995561"/>
          </a:xfrm>
          <a:prstGeom prst="roundRect">
            <a:avLst>
              <a:gd name="adj" fmla="val 9886"/>
            </a:avLst>
          </a:prstGeom>
          <a:solidFill>
            <a:srgbClr val="FFFFFF"/>
          </a:solidFill>
          <a:ln w="6350">
            <a:solidFill>
              <a:srgbClr val="DDD8CC"/>
            </a:solidFill>
            <a:prstDash val="solid"/>
          </a:ln>
        </p:spPr>
        <p:txBody>
          <a:bodyPr/>
          <a:lstStyle/>
          <a:p>
            <a:endParaRPr lang="de-CH"/>
          </a:p>
        </p:txBody>
      </p:sp>
      <p:sp>
        <p:nvSpPr>
          <p:cNvPr id="8" name="Text 6"/>
          <p:cNvSpPr/>
          <p:nvPr/>
        </p:nvSpPr>
        <p:spPr>
          <a:xfrm>
            <a:off x="1073150" y="3200797"/>
            <a:ext cx="812800" cy="52318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B4501A"/>
                </a:solidFill>
                <a:latin typeface="Arial" pitchFamily="34" charset="0"/>
                <a:ea typeface="Arial" pitchFamily="34" charset="-122"/>
                <a:cs typeface="Arial" pitchFamily="34" charset="-120"/>
              </a:rPr>
              <a:t>FF2</a:t>
            </a:r>
            <a:endParaRPr lang="en-US" sz="2800" dirty="0"/>
          </a:p>
        </p:txBody>
      </p:sp>
      <p:sp>
        <p:nvSpPr>
          <p:cNvPr id="9" name="Text 7"/>
          <p:cNvSpPr/>
          <p:nvPr/>
        </p:nvSpPr>
        <p:spPr>
          <a:xfrm>
            <a:off x="2089150" y="3158331"/>
            <a:ext cx="9300591" cy="608211"/>
          </a:xfrm>
          <a:prstGeom prst="rect">
            <a:avLst/>
          </a:prstGeom>
          <a:noFill/>
          <a:ln/>
        </p:spPr>
        <p:txBody>
          <a:bodyPr wrap="square" lIns="0" tIns="0" rIns="0" bIns="0" rtlCol="0" anchor="t">
            <a:normAutofit/>
          </a:bodyPr>
          <a:lstStyle/>
          <a:p>
            <a:pPr marL="0" indent="0" algn="l">
              <a:lnSpc>
                <a:spcPts val="2295"/>
              </a:lnSpc>
              <a:buNone/>
            </a:pPr>
            <a:r>
              <a:rPr lang="en-US" sz="1700" dirty="0">
                <a:solidFill>
                  <a:srgbClr val="1E2A26"/>
                </a:solidFill>
                <a:latin typeface="Arial" pitchFamily="34" charset="0"/>
                <a:ea typeface="Arial" pitchFamily="34" charset="-122"/>
                <a:cs typeface="Arial" pitchFamily="34" charset="-120"/>
              </a:rPr>
              <a:t>In welchen Produktkategorien weicht der Nutri-Score am stärksten von Zuckergehalt und Zusatzstoffen ab?</a:t>
            </a:r>
            <a:endParaRPr lang="en-US" sz="1700" dirty="0"/>
          </a:p>
        </p:txBody>
      </p:sp>
      <p:sp>
        <p:nvSpPr>
          <p:cNvPr id="10" name="Shape 8"/>
          <p:cNvSpPr/>
          <p:nvPr/>
        </p:nvSpPr>
        <p:spPr>
          <a:xfrm>
            <a:off x="815975" y="4106267"/>
            <a:ext cx="10560050" cy="910530"/>
          </a:xfrm>
          <a:prstGeom prst="roundRect">
            <a:avLst>
              <a:gd name="adj" fmla="val 10810"/>
            </a:avLst>
          </a:prstGeom>
          <a:solidFill>
            <a:srgbClr val="FFFFFF"/>
          </a:solidFill>
          <a:ln w="6350">
            <a:solidFill>
              <a:srgbClr val="DDD8CC"/>
            </a:solidFill>
            <a:prstDash val="solid"/>
          </a:ln>
        </p:spPr>
        <p:txBody>
          <a:bodyPr/>
          <a:lstStyle/>
          <a:p>
            <a:endParaRPr lang="de-CH"/>
          </a:p>
        </p:txBody>
      </p:sp>
      <p:sp>
        <p:nvSpPr>
          <p:cNvPr id="11" name="Text 9"/>
          <p:cNvSpPr/>
          <p:nvPr/>
        </p:nvSpPr>
        <p:spPr>
          <a:xfrm>
            <a:off x="1073150" y="4312642"/>
            <a:ext cx="812800" cy="52318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F7A"/>
                </a:solidFill>
                <a:latin typeface="Arial" pitchFamily="34" charset="0"/>
                <a:ea typeface="Arial" pitchFamily="34" charset="-122"/>
                <a:cs typeface="Arial" pitchFamily="34" charset="-120"/>
              </a:rPr>
              <a:t>FF3</a:t>
            </a:r>
            <a:endParaRPr lang="en-US" sz="2800" dirty="0"/>
          </a:p>
        </p:txBody>
      </p:sp>
      <p:sp>
        <p:nvSpPr>
          <p:cNvPr id="12" name="Text 10"/>
          <p:cNvSpPr/>
          <p:nvPr/>
        </p:nvSpPr>
        <p:spPr>
          <a:xfrm>
            <a:off x="2089150" y="4415830"/>
            <a:ext cx="9300591" cy="316805"/>
          </a:xfrm>
          <a:prstGeom prst="rect">
            <a:avLst/>
          </a:prstGeom>
          <a:noFill/>
          <a:ln/>
        </p:spPr>
        <p:txBody>
          <a:bodyPr wrap="square" lIns="0" tIns="0" rIns="0" bIns="0" rtlCol="0" anchor="t">
            <a:normAutofit/>
          </a:bodyPr>
          <a:lstStyle/>
          <a:p>
            <a:pPr marL="0" indent="0" algn="l">
              <a:lnSpc>
                <a:spcPts val="2295"/>
              </a:lnSpc>
              <a:buNone/>
            </a:pPr>
            <a:r>
              <a:rPr lang="en-US" sz="1700" dirty="0">
                <a:solidFill>
                  <a:srgbClr val="1E2A26"/>
                </a:solidFill>
                <a:latin typeface="Arial" pitchFamily="34" charset="0"/>
                <a:ea typeface="Arial" pitchFamily="34" charset="-122"/>
                <a:cs typeface="Arial" pitchFamily="34" charset="-120"/>
              </a:rPr>
              <a:t>Trifft die Kritik auch nach dem Algorithmus-Update 2024 noch zu? </a:t>
            </a:r>
            <a:r>
              <a:rPr lang="en-US" sz="1700" dirty="0">
                <a:solidFill>
                  <a:srgbClr val="5A6660"/>
                </a:solidFill>
                <a:latin typeface="Arial" pitchFamily="34" charset="0"/>
                <a:ea typeface="Arial" pitchFamily="34" charset="-122"/>
                <a:cs typeface="Arial" pitchFamily="34" charset="-120"/>
              </a:rPr>
              <a:t>(vertieft in Teil 2)</a:t>
            </a:r>
            <a:endParaRPr lang="en-US" sz="1700"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660"/>
                </a:solidFill>
                <a:latin typeface="Arial" pitchFamily="34" charset="0"/>
                <a:ea typeface="Arial" pitchFamily="34" charset="-122"/>
                <a:cs typeface="Arial" pitchFamily="34" charset="-120"/>
              </a:rPr>
              <a:t>Nutri-Score unter der Lupe · 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01A"/>
                </a:solidFill>
                <a:latin typeface="Arial" pitchFamily="34" charset="0"/>
                <a:ea typeface="Arial" pitchFamily="34" charset="-122"/>
                <a:cs typeface="Arial" pitchFamily="34" charset="-120"/>
              </a:rPr>
              <a:t>HYPOTHESEN</a:t>
            </a:r>
            <a:endParaRPr lang="en-US" sz="1200" dirty="0"/>
          </a:p>
        </p:txBody>
      </p:sp>
      <p:sp>
        <p:nvSpPr>
          <p:cNvPr id="3" name="Text 1"/>
          <p:cNvSpPr>
            <a:spLocks noGrp="1"/>
          </p:cNvSpPr>
          <p:nvPr>
            <p:ph type="title"/>
          </p:nvPr>
        </p:nvSpPr>
        <p:spPr>
          <a:xfrm>
            <a:off x="812800" y="11277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E2A26"/>
                </a:solidFill>
                <a:latin typeface="Arial" pitchFamily="34" charset="0"/>
                <a:ea typeface="Arial" pitchFamily="34" charset="-122"/>
                <a:cs typeface="Arial" pitchFamily="34" charset="-120"/>
              </a:rPr>
              <a:t>Vier testbare Annahmen, α = 0,05</a:t>
            </a:r>
            <a:endParaRPr lang="en-US" sz="3200" dirty="0"/>
          </a:p>
        </p:txBody>
      </p:sp>
      <p:sp>
        <p:nvSpPr>
          <p:cNvPr id="4" name="Shape 2"/>
          <p:cNvSpPr/>
          <p:nvPr/>
        </p:nvSpPr>
        <p:spPr>
          <a:xfrm>
            <a:off x="812800" y="1828701"/>
            <a:ext cx="10566400" cy="2733377"/>
          </a:xfrm>
          <a:prstGeom prst="roundRect">
            <a:avLst>
              <a:gd name="adj" fmla="val 2788"/>
            </a:avLst>
          </a:prstGeom>
          <a:solidFill>
            <a:srgbClr val="FFFFFF"/>
          </a:solidFill>
          <a:ln/>
        </p:spPr>
        <p:txBody>
          <a:bodyPr/>
          <a:lstStyle/>
          <a:p>
            <a:endParaRPr lang="de-CH"/>
          </a:p>
        </p:txBody>
      </p:sp>
      <p:sp>
        <p:nvSpPr>
          <p:cNvPr id="5" name="Shape 3"/>
          <p:cNvSpPr/>
          <p:nvPr/>
        </p:nvSpPr>
        <p:spPr>
          <a:xfrm>
            <a:off x="812800" y="1828701"/>
            <a:ext cx="10566400" cy="2733377"/>
          </a:xfrm>
          <a:custGeom>
            <a:avLst/>
            <a:gdLst/>
            <a:ahLst/>
            <a:cxnLst/>
            <a:rect l="l" t="t" r="r" b="b"/>
            <a:pathLst>
              <a:path w="10566400" h="2733377">
                <a:moveTo>
                  <a:pt x="76200" y="2733377"/>
                </a:moveTo>
                <a:lnTo>
                  <a:pt x="76200" y="2733377"/>
                </a:lnTo>
                <a:arcTo wR="76200" hR="76200" stAng="5400000" swAng="5400000"/>
                <a:lnTo>
                  <a:pt x="0" y="76200"/>
                </a:lnTo>
                <a:arcTo wR="76200" hR="76200" stAng="10800000" swAng="5400000"/>
                <a:lnTo>
                  <a:pt x="10490200" y="0"/>
                </a:lnTo>
                <a:arcTo wR="76200" hR="76200" stAng="16200000" swAng="5400000"/>
                <a:lnTo>
                  <a:pt x="10566400" y="76200"/>
                </a:lnTo>
                <a:arcTo wR="76200" hR="63500" stAng="0" swAng="-5400000"/>
                <a:lnTo>
                  <a:pt x="76200" y="12700"/>
                </a:lnTo>
                <a:arcTo wR="63500" hR="63500" stAng="16200000" swAng="-5400000"/>
                <a:lnTo>
                  <a:pt x="12700" y="2657177"/>
                </a:lnTo>
                <a:arcTo wR="63500" hR="76200" stAng="10800000" swAng="-5400000"/>
                <a:close/>
              </a:path>
            </a:pathLst>
          </a:custGeom>
          <a:solidFill>
            <a:srgbClr val="141413">
              <a:alpha val="22000"/>
            </a:srgbClr>
          </a:solidFill>
          <a:ln/>
        </p:spPr>
        <p:txBody>
          <a:bodyPr/>
          <a:lstStyle/>
          <a:p>
            <a:endParaRPr lang="de-CH"/>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1841401"/>
          <a:ext cx="10553700" cy="2720679"/>
        </p:xfrm>
        <a:graphic>
          <a:graphicData uri="http://schemas.openxmlformats.org/drawingml/2006/table">
            <a:tbl>
              <a:tblPr/>
              <a:tblGrid>
                <a:gridCol w="844296">
                  <a:extLst>
                    <a:ext uri="{9D8B030D-6E8A-4147-A177-3AD203B41FA5}">
                      <a16:colId xmlns:a16="http://schemas.microsoft.com/office/drawing/2014/main" val="20000"/>
                    </a:ext>
                  </a:extLst>
                </a:gridCol>
                <a:gridCol w="5910072">
                  <a:extLst>
                    <a:ext uri="{9D8B030D-6E8A-4147-A177-3AD203B41FA5}">
                      <a16:colId xmlns:a16="http://schemas.microsoft.com/office/drawing/2014/main" val="20001"/>
                    </a:ext>
                  </a:extLst>
                </a:gridCol>
                <a:gridCol w="1055370">
                  <a:extLst>
                    <a:ext uri="{9D8B030D-6E8A-4147-A177-3AD203B41FA5}">
                      <a16:colId xmlns:a16="http://schemas.microsoft.com/office/drawing/2014/main" val="20002"/>
                    </a:ext>
                  </a:extLst>
                </a:gridCol>
                <a:gridCol w="2743962">
                  <a:extLst>
                    <a:ext uri="{9D8B030D-6E8A-4147-A177-3AD203B41FA5}">
                      <a16:colId xmlns:a16="http://schemas.microsoft.com/office/drawing/2014/main" val="20003"/>
                    </a:ext>
                  </a:extLst>
                </a:gridCol>
              </a:tblGrid>
              <a:tr h="359271">
                <a:tc>
                  <a:txBody>
                    <a:bodyPr/>
                    <a:lstStyle/>
                    <a:p>
                      <a:pPr marL="0" indent="0">
                        <a:lnSpc>
                          <a:spcPts val="1820"/>
                        </a:lnSpc>
                        <a:buNone/>
                      </a:pPr>
                      <a:r>
                        <a:rPr lang="en-US" sz="1300" b="1" dirty="0">
                          <a:solidFill>
                            <a:srgbClr val="F3F0E8"/>
                          </a:solidFill>
                          <a:latin typeface="Arial" pitchFamily="34" charset="0"/>
                          <a:ea typeface="Arial" pitchFamily="34" charset="-122"/>
                          <a:cs typeface="Arial" pitchFamily="34" charset="-120"/>
                        </a:rPr>
                        <a:t>Nr.</a:t>
                      </a:r>
                      <a:endParaRPr lang="en-US" sz="1300" dirty="0">
                        <a:latin typeface="Arial" charset="0"/>
                        <a:ea typeface="Arial" charset="0"/>
                        <a:cs typeface="Arial" charset="0"/>
                      </a:endParaRPr>
                    </a:p>
                  </a:txBody>
                  <a:tcPr marL="57785" marR="57785" marT="57785" marB="57785">
                    <a:lnL w="0" cap="flat" cmpd="sng" algn="ctr">
                      <a:noFill/>
                    </a:lnL>
                    <a:lnR w="12700" cap="flat" cmpd="sng" algn="ctr">
                      <a:solidFill>
                        <a:srgbClr val="1C2522"/>
                      </a:solidFill>
                      <a:prstDash val="solid"/>
                      <a:round/>
                      <a:headEnd type="none" w="med" len="med"/>
                      <a:tailEnd type="none" w="med" len="med"/>
                    </a:lnR>
                    <a:lnT w="0" cap="flat" cmpd="sng" algn="ctr">
                      <a:noFill/>
                    </a:lnT>
                    <a:lnB w="12700" cap="flat" cmpd="sng" algn="ctr">
                      <a:solidFill>
                        <a:srgbClr val="1C2522"/>
                      </a:solidFill>
                      <a:prstDash val="solid"/>
                      <a:round/>
                      <a:headEnd type="none" w="med" len="med"/>
                      <a:tailEnd type="none" w="med" len="med"/>
                    </a:lnB>
                    <a:solidFill>
                      <a:srgbClr val="1E2A26"/>
                    </a:solidFill>
                  </a:tcPr>
                </a:tc>
                <a:tc>
                  <a:txBody>
                    <a:bodyPr/>
                    <a:lstStyle/>
                    <a:p>
                      <a:pPr marL="0" indent="0">
                        <a:lnSpc>
                          <a:spcPts val="1820"/>
                        </a:lnSpc>
                        <a:buNone/>
                      </a:pPr>
                      <a:r>
                        <a:rPr lang="en-US" sz="1300" b="1" dirty="0">
                          <a:solidFill>
                            <a:srgbClr val="F3F0E8"/>
                          </a:solidFill>
                          <a:latin typeface="Arial" pitchFamily="34" charset="0"/>
                          <a:ea typeface="Arial" pitchFamily="34" charset="-122"/>
                          <a:cs typeface="Arial" pitchFamily="34" charset="-120"/>
                        </a:rPr>
                        <a:t>Hypothese</a:t>
                      </a:r>
                      <a:endParaRPr lang="en-US" sz="1300" dirty="0">
                        <a:latin typeface="Arial" charset="0"/>
                        <a:ea typeface="Arial" charset="0"/>
                        <a:cs typeface="Arial" charset="0"/>
                      </a:endParaRPr>
                    </a:p>
                  </a:txBody>
                  <a:tcPr marL="57785" marR="57785" marT="57785" marB="57785">
                    <a:lnL w="12700" cap="flat" cmpd="sng" algn="ctr">
                      <a:solidFill>
                        <a:srgbClr val="1C2522"/>
                      </a:solidFill>
                      <a:prstDash val="solid"/>
                      <a:round/>
                      <a:headEnd type="none" w="med" len="med"/>
                      <a:tailEnd type="none" w="med" len="med"/>
                    </a:lnL>
                    <a:lnR w="12700" cap="flat" cmpd="sng" algn="ctr">
                      <a:solidFill>
                        <a:srgbClr val="1C2522"/>
                      </a:solidFill>
                      <a:prstDash val="solid"/>
                      <a:round/>
                      <a:headEnd type="none" w="med" len="med"/>
                      <a:tailEnd type="none" w="med" len="med"/>
                    </a:lnR>
                    <a:lnT w="0" cap="flat" cmpd="sng" algn="ctr">
                      <a:noFill/>
                    </a:lnT>
                    <a:lnB w="12700" cap="flat" cmpd="sng" algn="ctr">
                      <a:solidFill>
                        <a:srgbClr val="1C2522"/>
                      </a:solidFill>
                      <a:prstDash val="solid"/>
                      <a:round/>
                      <a:headEnd type="none" w="med" len="med"/>
                      <a:tailEnd type="none" w="med" len="med"/>
                    </a:lnB>
                    <a:solidFill>
                      <a:srgbClr val="1E2A26"/>
                    </a:solidFill>
                  </a:tcPr>
                </a:tc>
                <a:tc>
                  <a:txBody>
                    <a:bodyPr/>
                    <a:lstStyle/>
                    <a:p>
                      <a:pPr marL="0" indent="0">
                        <a:lnSpc>
                          <a:spcPts val="1820"/>
                        </a:lnSpc>
                        <a:buNone/>
                      </a:pPr>
                      <a:r>
                        <a:rPr lang="en-US" sz="1300" b="1" dirty="0">
                          <a:solidFill>
                            <a:srgbClr val="F3F0E8"/>
                          </a:solidFill>
                          <a:latin typeface="Arial" pitchFamily="34" charset="0"/>
                          <a:ea typeface="Arial" pitchFamily="34" charset="-122"/>
                          <a:cs typeface="Arial" pitchFamily="34" charset="-120"/>
                        </a:rPr>
                        <a:t>Frage</a:t>
                      </a:r>
                      <a:endParaRPr lang="en-US" sz="1300" dirty="0">
                        <a:latin typeface="Arial" charset="0"/>
                        <a:ea typeface="Arial" charset="0"/>
                        <a:cs typeface="Arial" charset="0"/>
                      </a:endParaRPr>
                    </a:p>
                  </a:txBody>
                  <a:tcPr marL="57785" marR="57785" marT="57785" marB="57785">
                    <a:lnL w="12700" cap="flat" cmpd="sng" algn="ctr">
                      <a:solidFill>
                        <a:srgbClr val="1C2522"/>
                      </a:solidFill>
                      <a:prstDash val="solid"/>
                      <a:round/>
                      <a:headEnd type="none" w="med" len="med"/>
                      <a:tailEnd type="none" w="med" len="med"/>
                    </a:lnL>
                    <a:lnR w="12700" cap="flat" cmpd="sng" algn="ctr">
                      <a:solidFill>
                        <a:srgbClr val="1C2522"/>
                      </a:solidFill>
                      <a:prstDash val="solid"/>
                      <a:round/>
                      <a:headEnd type="none" w="med" len="med"/>
                      <a:tailEnd type="none" w="med" len="med"/>
                    </a:lnR>
                    <a:lnT w="0" cap="flat" cmpd="sng" algn="ctr">
                      <a:noFill/>
                    </a:lnT>
                    <a:lnB w="12700" cap="flat" cmpd="sng" algn="ctr">
                      <a:solidFill>
                        <a:srgbClr val="1C2522"/>
                      </a:solidFill>
                      <a:prstDash val="solid"/>
                      <a:round/>
                      <a:headEnd type="none" w="med" len="med"/>
                      <a:tailEnd type="none" w="med" len="med"/>
                    </a:lnB>
                    <a:solidFill>
                      <a:srgbClr val="1E2A26"/>
                    </a:solidFill>
                  </a:tcPr>
                </a:tc>
                <a:tc>
                  <a:txBody>
                    <a:bodyPr/>
                    <a:lstStyle/>
                    <a:p>
                      <a:pPr marL="0" indent="0">
                        <a:lnSpc>
                          <a:spcPts val="1820"/>
                        </a:lnSpc>
                        <a:buNone/>
                      </a:pPr>
                      <a:r>
                        <a:rPr lang="en-US" sz="1300" b="1" dirty="0">
                          <a:solidFill>
                            <a:srgbClr val="F3F0E8"/>
                          </a:solidFill>
                          <a:latin typeface="Arial" pitchFamily="34" charset="0"/>
                          <a:ea typeface="Arial" pitchFamily="34" charset="-122"/>
                          <a:cs typeface="Arial" pitchFamily="34" charset="-120"/>
                        </a:rPr>
                        <a:t>Test</a:t>
                      </a:r>
                      <a:endParaRPr lang="en-US" sz="1300" dirty="0">
                        <a:latin typeface="Arial" charset="0"/>
                        <a:ea typeface="Arial" charset="0"/>
                        <a:cs typeface="Arial" charset="0"/>
                      </a:endParaRPr>
                    </a:p>
                  </a:txBody>
                  <a:tcPr marL="57785" marR="57785" marT="57785" marB="57785">
                    <a:lnL w="12700" cap="flat" cmpd="sng" algn="ctr">
                      <a:solidFill>
                        <a:srgbClr val="1C2522"/>
                      </a:solidFill>
                      <a:prstDash val="solid"/>
                      <a:round/>
                      <a:headEnd type="none" w="med" len="med"/>
                      <a:tailEnd type="none" w="med" len="med"/>
                    </a:lnL>
                    <a:lnR w="12700" cap="flat" cmpd="sng" algn="ctr">
                      <a:solidFill>
                        <a:srgbClr val="1C2522"/>
                      </a:solidFill>
                      <a:prstDash val="solid"/>
                      <a:round/>
                      <a:headEnd type="none" w="med" len="med"/>
                      <a:tailEnd type="none" w="med" len="med"/>
                    </a:lnR>
                    <a:lnT w="0" cap="flat" cmpd="sng" algn="ctr">
                      <a:noFill/>
                    </a:lnT>
                    <a:lnB w="12700" cap="flat" cmpd="sng" algn="ctr">
                      <a:solidFill>
                        <a:srgbClr val="1C2522"/>
                      </a:solidFill>
                      <a:prstDash val="solid"/>
                      <a:round/>
                      <a:headEnd type="none" w="med" len="med"/>
                      <a:tailEnd type="none" w="med" len="med"/>
                    </a:lnB>
                    <a:solidFill>
                      <a:srgbClr val="1E2A26"/>
                    </a:solidFill>
                  </a:tcPr>
                </a:tc>
                <a:extLst>
                  <a:ext uri="{0D108BD9-81ED-4DB2-BD59-A6C34878D82A}">
                    <a16:rowId xmlns:a16="http://schemas.microsoft.com/office/drawing/2014/main" val="10000"/>
                  </a:ext>
                </a:extLst>
              </a:tr>
              <a:tr h="590352">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H1</a:t>
                      </a:r>
                      <a:endParaRPr lang="en-US" sz="1300" dirty="0">
                        <a:latin typeface="Arial" charset="0"/>
                        <a:ea typeface="Arial" charset="0"/>
                        <a:cs typeface="Arial" charset="0"/>
                      </a:endParaRPr>
                    </a:p>
                  </a:txBody>
                  <a:tcPr marL="57785" marR="57785" marT="57785" marB="57785">
                    <a:lnL w="0" cap="flat" cmpd="sng" algn="ctr">
                      <a:noFill/>
                    </a:lnL>
                    <a:lnR w="12700" cap="flat" cmpd="sng" algn="ctr">
                      <a:solidFill>
                        <a:srgbClr val="CBCBCB"/>
                      </a:solidFill>
                      <a:prstDash val="solid"/>
                      <a:round/>
                      <a:headEnd type="none" w="med" len="med"/>
                      <a:tailEnd type="none" w="med" len="med"/>
                    </a:lnR>
                    <a:lnT w="12700" cap="flat" cmpd="sng" algn="ctr">
                      <a:solidFill>
                        <a:srgbClr val="1C252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Mehr als 20 % der Produkte mit Nutri-Score A/B sind hochverarbeitet (NOVA 4)</a:t>
                      </a:r>
                      <a:endParaRPr lang="en-US" sz="1300" dirty="0">
                        <a:latin typeface="Arial" charset="0"/>
                        <a:ea typeface="Arial" charset="0"/>
                        <a:cs typeface="Arial"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C252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FF1</a:t>
                      </a:r>
                      <a:endParaRPr lang="en-US" sz="1300" dirty="0">
                        <a:latin typeface="Arial" charset="0"/>
                        <a:ea typeface="Arial" charset="0"/>
                        <a:cs typeface="Arial"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C252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Einseitiger Binomialtest</a:t>
                      </a:r>
                      <a:endParaRPr lang="en-US" sz="1300" dirty="0">
                        <a:latin typeface="Arial" charset="0"/>
                        <a:ea typeface="Arial" charset="0"/>
                        <a:cs typeface="Arial"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C252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1"/>
                  </a:ext>
                </a:extLst>
              </a:tr>
              <a:tr h="590352">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H2</a:t>
                      </a:r>
                      <a:endParaRPr lang="en-US" sz="1300" dirty="0">
                        <a:latin typeface="Arial" charset="0"/>
                        <a:ea typeface="Arial" charset="0"/>
                        <a:cs typeface="Arial" charset="0"/>
                      </a:endParaRPr>
                    </a:p>
                  </a:txBody>
                  <a:tcPr marL="57785" marR="57785" marT="57785" marB="57785">
                    <a:lnL w="0" cap="flat" cmpd="sng" algn="ctr">
                      <a:noFill/>
                    </a:lnL>
                    <a:lnR w="12700" cap="flat" cmpd="sng" algn="ctr">
                      <a:solidFill>
                        <a:srgbClr val="C4C3B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Nutri-Score-Klasse und NOVA-Gruppe hängen nur schwach zusammen (Cramér's V &lt; 0,3)</a:t>
                      </a:r>
                      <a:endParaRPr lang="en-US" sz="1300" dirty="0">
                        <a:latin typeface="Arial" charset="0"/>
                        <a:ea typeface="Arial" charset="0"/>
                        <a:cs typeface="Arial"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FF1</a:t>
                      </a:r>
                      <a:endParaRPr lang="en-US" sz="1300" dirty="0">
                        <a:latin typeface="Arial" charset="0"/>
                        <a:ea typeface="Arial" charset="0"/>
                        <a:cs typeface="Arial"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χ²-Test, Cramér's V</a:t>
                      </a:r>
                      <a:endParaRPr lang="en-US" sz="1300" dirty="0">
                        <a:latin typeface="Arial" charset="0"/>
                        <a:ea typeface="Arial" charset="0"/>
                        <a:cs typeface="Arial"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extLst>
                  <a:ext uri="{0D108BD9-81ED-4DB2-BD59-A6C34878D82A}">
                    <a16:rowId xmlns:a16="http://schemas.microsoft.com/office/drawing/2014/main" val="10002"/>
                  </a:ext>
                </a:extLst>
              </a:tr>
              <a:tr h="590352">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H3</a:t>
                      </a:r>
                      <a:endParaRPr lang="en-US" sz="1300" dirty="0">
                        <a:latin typeface="Arial" charset="0"/>
                        <a:ea typeface="Arial" charset="0"/>
                        <a:cs typeface="Arial" charset="0"/>
                      </a:endParaRPr>
                    </a:p>
                  </a:txBody>
                  <a:tcPr marL="57785" marR="57785" marT="57785" marB="57785">
                    <a:lnL w="0" cap="flat" cmpd="sng" algn="ctr">
                      <a:noFill/>
                    </a:lnL>
                    <a:lnR w="12700" cap="flat" cmpd="sng" algn="ctr">
                      <a:solidFill>
                        <a:srgbClr val="CBCBC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Mindestens 10 % der Frühstückscerealien mit A/B enthalten über 22,5 g Zucker pro 100 g</a:t>
                      </a:r>
                      <a:endParaRPr lang="en-US" sz="1300" dirty="0">
                        <a:latin typeface="Arial" charset="0"/>
                        <a:ea typeface="Arial" charset="0"/>
                        <a:cs typeface="Arial"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FF2</a:t>
                      </a:r>
                      <a:endParaRPr lang="en-US" sz="1300" dirty="0">
                        <a:latin typeface="Arial" charset="0"/>
                        <a:ea typeface="Arial" charset="0"/>
                        <a:cs typeface="Arial"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Einseitiger Binomialtest</a:t>
                      </a:r>
                      <a:endParaRPr lang="en-US" sz="1300" dirty="0">
                        <a:latin typeface="Arial" charset="0"/>
                        <a:ea typeface="Arial" charset="0"/>
                        <a:cs typeface="Arial"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3"/>
                  </a:ext>
                </a:extLst>
              </a:tr>
              <a:tr h="590352">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H4</a:t>
                      </a:r>
                      <a:endParaRPr lang="en-US" sz="1300" dirty="0">
                        <a:latin typeface="Arial" charset="0"/>
                        <a:ea typeface="Arial" charset="0"/>
                        <a:cs typeface="Arial" charset="0"/>
                      </a:endParaRPr>
                    </a:p>
                  </a:txBody>
                  <a:tcPr marL="57785" marR="57785" marT="57785" marB="57785">
                    <a:lnL w="0" cap="flat" cmpd="sng" algn="ctr">
                      <a:noFill/>
                    </a:lnL>
                    <a:lnR w="12700" cap="flat" cmpd="sng" algn="ctr">
                      <a:solidFill>
                        <a:srgbClr val="C4C3B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Anzahl Zusatzstoffe und Nutri-Score-Punkte korrelieren höchstens schwach (|ρ| &lt; 0,2)</a:t>
                      </a:r>
                      <a:endParaRPr lang="en-US" sz="1300" dirty="0">
                        <a:latin typeface="Arial" charset="0"/>
                        <a:ea typeface="Arial" charset="0"/>
                        <a:cs typeface="Arial"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FF2</a:t>
                      </a:r>
                      <a:endParaRPr lang="en-US" sz="1300" dirty="0">
                        <a:latin typeface="Arial" charset="0"/>
                        <a:ea typeface="Arial" charset="0"/>
                        <a:cs typeface="Arial"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Spearman-Korrelation</a:t>
                      </a:r>
                      <a:endParaRPr lang="en-US" sz="1300" dirty="0">
                        <a:latin typeface="Arial" charset="0"/>
                        <a:ea typeface="Arial" charset="0"/>
                        <a:cs typeface="Arial"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extLst>
                  <a:ext uri="{0D108BD9-81ED-4DB2-BD59-A6C34878D82A}">
                    <a16:rowId xmlns:a16="http://schemas.microsoft.com/office/drawing/2014/main" val="10004"/>
                  </a:ext>
                </a:extLst>
              </a:tr>
            </a:tbl>
          </a:graphicData>
        </a:graphic>
      </p:graphicFrame>
      <p:sp>
        <p:nvSpPr>
          <p:cNvPr id="7" name="Text 4"/>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660"/>
                </a:solidFill>
                <a:latin typeface="Arial" pitchFamily="34" charset="0"/>
                <a:ea typeface="Arial" pitchFamily="34" charset="-122"/>
                <a:cs typeface="Arial" pitchFamily="34" charset="-120"/>
              </a:rPr>
              <a:t>22,5 g/100 g = Grenze „hoher Zuckergehalt“ der UK Food Standards Agency · Schwellen vorläufig · 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01A"/>
                </a:solidFill>
                <a:latin typeface="Arial" pitchFamily="34" charset="0"/>
                <a:ea typeface="Arial" pitchFamily="34" charset="-122"/>
                <a:cs typeface="Arial" pitchFamily="34" charset="-120"/>
              </a:rPr>
              <a:t>VORGEHEN UND METHODEN</a:t>
            </a:r>
            <a:endParaRPr lang="en-US" sz="1200" dirty="0"/>
          </a:p>
        </p:txBody>
      </p:sp>
      <p:sp>
        <p:nvSpPr>
          <p:cNvPr id="3" name="Text 1"/>
          <p:cNvSpPr>
            <a:spLocks noGrp="1"/>
          </p:cNvSpPr>
          <p:nvPr>
            <p:ph type="title"/>
          </p:nvPr>
        </p:nvSpPr>
        <p:spPr>
          <a:xfrm>
            <a:off x="812800" y="11277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E2A26"/>
                </a:solidFill>
                <a:latin typeface="Arial" pitchFamily="34" charset="0"/>
                <a:ea typeface="Arial" pitchFamily="34" charset="-122"/>
                <a:cs typeface="Arial" pitchFamily="34" charset="-120"/>
              </a:rPr>
              <a:t>Von der Frage zur geprüften Hypothese</a:t>
            </a:r>
            <a:endParaRPr lang="en-US" sz="3200" dirty="0"/>
          </a:p>
        </p:txBody>
      </p:sp>
      <p:sp>
        <p:nvSpPr>
          <p:cNvPr id="4" name="Shape 2"/>
          <p:cNvSpPr/>
          <p:nvPr/>
        </p:nvSpPr>
        <p:spPr>
          <a:xfrm>
            <a:off x="812800" y="1879501"/>
            <a:ext cx="2032000" cy="1541661"/>
          </a:xfrm>
          <a:prstGeom prst="roundRect">
            <a:avLst>
              <a:gd name="adj" fmla="val 4943"/>
            </a:avLst>
          </a:prstGeom>
          <a:solidFill>
            <a:srgbClr val="FFFFFF"/>
          </a:solidFill>
          <a:ln/>
        </p:spPr>
        <p:txBody>
          <a:bodyPr/>
          <a:lstStyle/>
          <a:p>
            <a:endParaRPr lang="de-CH"/>
          </a:p>
        </p:txBody>
      </p:sp>
      <p:sp>
        <p:nvSpPr>
          <p:cNvPr id="5" name="Shape 3"/>
          <p:cNvSpPr/>
          <p:nvPr/>
        </p:nvSpPr>
        <p:spPr>
          <a:xfrm>
            <a:off x="812800" y="1879501"/>
            <a:ext cx="2032000" cy="1541661"/>
          </a:xfrm>
          <a:custGeom>
            <a:avLst/>
            <a:gdLst/>
            <a:ahLst/>
            <a:cxnLst/>
            <a:rect l="l" t="t" r="r" b="b"/>
            <a:pathLst>
              <a:path w="2032000" h="1541661">
                <a:moveTo>
                  <a:pt x="0" y="76200"/>
                </a:moveTo>
                <a:lnTo>
                  <a:pt x="0" y="76200"/>
                </a:lnTo>
                <a:arcTo wR="76200" hR="76200" stAng="10800000" swAng="5400000"/>
                <a:lnTo>
                  <a:pt x="1955800" y="0"/>
                </a:lnTo>
                <a:arcTo wR="76200" hR="76200" stAng="16200000" swAng="5400000"/>
                <a:lnTo>
                  <a:pt x="2032000" y="76200"/>
                </a:lnTo>
                <a:arcTo wR="76200" hR="38100" stAng="0" swAng="-5400000"/>
                <a:lnTo>
                  <a:pt x="76200" y="38100"/>
                </a:lnTo>
                <a:arcTo wR="76200" hR="38100" stAng="16200000" swAng="-5400000"/>
                <a:close/>
              </a:path>
            </a:pathLst>
          </a:custGeom>
          <a:solidFill>
            <a:srgbClr val="B4501A"/>
          </a:solidFill>
          <a:ln/>
        </p:spPr>
        <p:txBody>
          <a:bodyPr/>
          <a:lstStyle/>
          <a:p>
            <a:endParaRPr lang="de-CH"/>
          </a:p>
        </p:txBody>
      </p:sp>
      <p:sp>
        <p:nvSpPr>
          <p:cNvPr id="6" name="Text 4"/>
          <p:cNvSpPr/>
          <p:nvPr/>
        </p:nvSpPr>
        <p:spPr>
          <a:xfrm>
            <a:off x="990600" y="2095401"/>
            <a:ext cx="1727200"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B4501A"/>
                </a:solidFill>
                <a:latin typeface="Arial" pitchFamily="34" charset="0"/>
                <a:ea typeface="Arial" pitchFamily="34" charset="-122"/>
                <a:cs typeface="Arial" pitchFamily="34" charset="-120"/>
              </a:rPr>
              <a:t>1</a:t>
            </a:r>
            <a:endParaRPr lang="en-US" sz="2000" dirty="0"/>
          </a:p>
        </p:txBody>
      </p:sp>
      <p:sp>
        <p:nvSpPr>
          <p:cNvPr id="7" name="Text 5"/>
          <p:cNvSpPr/>
          <p:nvPr/>
        </p:nvSpPr>
        <p:spPr>
          <a:xfrm>
            <a:off x="990600" y="2527201"/>
            <a:ext cx="1727200"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E2A26"/>
                </a:solidFill>
                <a:latin typeface="Arial" pitchFamily="34" charset="0"/>
                <a:ea typeface="Arial" pitchFamily="34" charset="-122"/>
                <a:cs typeface="Arial" pitchFamily="34" charset="-120"/>
              </a:rPr>
              <a:t>Konzept</a:t>
            </a:r>
            <a:endParaRPr lang="en-US" sz="1400" dirty="0"/>
          </a:p>
        </p:txBody>
      </p:sp>
      <p:sp>
        <p:nvSpPr>
          <p:cNvPr id="8" name="Text 6"/>
          <p:cNvSpPr/>
          <p:nvPr/>
        </p:nvSpPr>
        <p:spPr>
          <a:xfrm>
            <a:off x="990600" y="2816721"/>
            <a:ext cx="172720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45"/>
                </a:solidFill>
                <a:latin typeface="Arial" pitchFamily="34" charset="0"/>
                <a:ea typeface="Arial" pitchFamily="34" charset="-122"/>
                <a:cs typeface="Arial" pitchFamily="34" charset="-120"/>
              </a:rPr>
              <a:t>Fragen und Hypothesen festlegen</a:t>
            </a:r>
            <a:endParaRPr lang="en-US" sz="1200" dirty="0"/>
          </a:p>
        </p:txBody>
      </p:sp>
      <p:sp>
        <p:nvSpPr>
          <p:cNvPr id="9" name="Shape 7"/>
          <p:cNvSpPr/>
          <p:nvPr/>
        </p:nvSpPr>
        <p:spPr>
          <a:xfrm>
            <a:off x="2946400" y="1879501"/>
            <a:ext cx="2032000" cy="1541661"/>
          </a:xfrm>
          <a:prstGeom prst="roundRect">
            <a:avLst>
              <a:gd name="adj" fmla="val 4943"/>
            </a:avLst>
          </a:prstGeom>
          <a:solidFill>
            <a:srgbClr val="FFFFFF"/>
          </a:solidFill>
          <a:ln/>
        </p:spPr>
        <p:txBody>
          <a:bodyPr/>
          <a:lstStyle/>
          <a:p>
            <a:endParaRPr lang="de-CH"/>
          </a:p>
        </p:txBody>
      </p:sp>
      <p:sp>
        <p:nvSpPr>
          <p:cNvPr id="10" name="Shape 8"/>
          <p:cNvSpPr/>
          <p:nvPr/>
        </p:nvSpPr>
        <p:spPr>
          <a:xfrm>
            <a:off x="2946400" y="1879501"/>
            <a:ext cx="2032000" cy="1541661"/>
          </a:xfrm>
          <a:custGeom>
            <a:avLst/>
            <a:gdLst/>
            <a:ahLst/>
            <a:cxnLst/>
            <a:rect l="l" t="t" r="r" b="b"/>
            <a:pathLst>
              <a:path w="2032000" h="1541661">
                <a:moveTo>
                  <a:pt x="0" y="76200"/>
                </a:moveTo>
                <a:lnTo>
                  <a:pt x="0" y="76200"/>
                </a:lnTo>
                <a:arcTo wR="76200" hR="76200" stAng="10800000" swAng="5400000"/>
                <a:lnTo>
                  <a:pt x="1955800" y="0"/>
                </a:lnTo>
                <a:arcTo wR="76200" hR="76200" stAng="16200000" swAng="5400000"/>
                <a:lnTo>
                  <a:pt x="2032000" y="76200"/>
                </a:lnTo>
                <a:arcTo wR="76200" hR="38100" stAng="0" swAng="-5400000"/>
                <a:lnTo>
                  <a:pt x="76200" y="38100"/>
                </a:lnTo>
                <a:arcTo wR="76200" hR="38100" stAng="16200000" swAng="-5400000"/>
                <a:close/>
              </a:path>
            </a:pathLst>
          </a:custGeom>
          <a:solidFill>
            <a:srgbClr val="B4501A"/>
          </a:solidFill>
          <a:ln/>
        </p:spPr>
        <p:txBody>
          <a:bodyPr/>
          <a:lstStyle/>
          <a:p>
            <a:endParaRPr lang="de-CH"/>
          </a:p>
        </p:txBody>
      </p:sp>
      <p:sp>
        <p:nvSpPr>
          <p:cNvPr id="11" name="Text 9"/>
          <p:cNvSpPr/>
          <p:nvPr/>
        </p:nvSpPr>
        <p:spPr>
          <a:xfrm>
            <a:off x="3124200" y="2095401"/>
            <a:ext cx="1727200"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B4501A"/>
                </a:solidFill>
                <a:latin typeface="Arial" pitchFamily="34" charset="0"/>
                <a:ea typeface="Arial" pitchFamily="34" charset="-122"/>
                <a:cs typeface="Arial" pitchFamily="34" charset="-120"/>
              </a:rPr>
              <a:t>2</a:t>
            </a:r>
            <a:endParaRPr lang="en-US" sz="2000" dirty="0"/>
          </a:p>
        </p:txBody>
      </p:sp>
      <p:sp>
        <p:nvSpPr>
          <p:cNvPr id="12" name="Text 10"/>
          <p:cNvSpPr/>
          <p:nvPr/>
        </p:nvSpPr>
        <p:spPr>
          <a:xfrm>
            <a:off x="3124200" y="2527201"/>
            <a:ext cx="1727200"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E2A26"/>
                </a:solidFill>
                <a:latin typeface="Arial" pitchFamily="34" charset="0"/>
                <a:ea typeface="Arial" pitchFamily="34" charset="-122"/>
                <a:cs typeface="Arial" pitchFamily="34" charset="-120"/>
              </a:rPr>
              <a:t>Beschaffung</a:t>
            </a:r>
            <a:endParaRPr lang="en-US" sz="1400" dirty="0"/>
          </a:p>
        </p:txBody>
      </p:sp>
      <p:sp>
        <p:nvSpPr>
          <p:cNvPr id="13" name="Text 11"/>
          <p:cNvSpPr/>
          <p:nvPr/>
        </p:nvSpPr>
        <p:spPr>
          <a:xfrm>
            <a:off x="3124200" y="2816721"/>
            <a:ext cx="172720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45"/>
                </a:solidFill>
                <a:latin typeface="Arial" pitchFamily="34" charset="0"/>
                <a:ea typeface="Arial" pitchFamily="34" charset="-122"/>
                <a:cs typeface="Arial" pitchFamily="34" charset="-120"/>
              </a:rPr>
              <a:t>Bulk-Export laden, auf Schweiz filtern</a:t>
            </a:r>
            <a:endParaRPr lang="en-US" sz="1200" dirty="0"/>
          </a:p>
        </p:txBody>
      </p:sp>
      <p:sp>
        <p:nvSpPr>
          <p:cNvPr id="14" name="Shape 12"/>
          <p:cNvSpPr/>
          <p:nvPr/>
        </p:nvSpPr>
        <p:spPr>
          <a:xfrm>
            <a:off x="5080000" y="1879501"/>
            <a:ext cx="2032000" cy="1541661"/>
          </a:xfrm>
          <a:prstGeom prst="roundRect">
            <a:avLst>
              <a:gd name="adj" fmla="val 4943"/>
            </a:avLst>
          </a:prstGeom>
          <a:solidFill>
            <a:srgbClr val="FFFFFF"/>
          </a:solidFill>
          <a:ln/>
        </p:spPr>
        <p:txBody>
          <a:bodyPr/>
          <a:lstStyle/>
          <a:p>
            <a:endParaRPr lang="de-CH"/>
          </a:p>
        </p:txBody>
      </p:sp>
      <p:sp>
        <p:nvSpPr>
          <p:cNvPr id="15" name="Shape 13"/>
          <p:cNvSpPr/>
          <p:nvPr/>
        </p:nvSpPr>
        <p:spPr>
          <a:xfrm>
            <a:off x="5080000" y="1879501"/>
            <a:ext cx="2032000" cy="1541661"/>
          </a:xfrm>
          <a:custGeom>
            <a:avLst/>
            <a:gdLst/>
            <a:ahLst/>
            <a:cxnLst/>
            <a:rect l="l" t="t" r="r" b="b"/>
            <a:pathLst>
              <a:path w="2032000" h="1541661">
                <a:moveTo>
                  <a:pt x="0" y="76200"/>
                </a:moveTo>
                <a:lnTo>
                  <a:pt x="0" y="76200"/>
                </a:lnTo>
                <a:arcTo wR="76200" hR="76200" stAng="10800000" swAng="5400000"/>
                <a:lnTo>
                  <a:pt x="1955800" y="0"/>
                </a:lnTo>
                <a:arcTo wR="76200" hR="76200" stAng="16200000" swAng="5400000"/>
                <a:lnTo>
                  <a:pt x="2032000" y="76200"/>
                </a:lnTo>
                <a:arcTo wR="76200" hR="38100" stAng="0" swAng="-5400000"/>
                <a:lnTo>
                  <a:pt x="76200" y="38100"/>
                </a:lnTo>
                <a:arcTo wR="76200" hR="38100" stAng="16200000" swAng="-5400000"/>
                <a:close/>
              </a:path>
            </a:pathLst>
          </a:custGeom>
          <a:solidFill>
            <a:srgbClr val="B4501A"/>
          </a:solidFill>
          <a:ln/>
        </p:spPr>
        <p:txBody>
          <a:bodyPr/>
          <a:lstStyle/>
          <a:p>
            <a:endParaRPr lang="de-CH"/>
          </a:p>
        </p:txBody>
      </p:sp>
      <p:sp>
        <p:nvSpPr>
          <p:cNvPr id="16" name="Text 14"/>
          <p:cNvSpPr/>
          <p:nvPr/>
        </p:nvSpPr>
        <p:spPr>
          <a:xfrm>
            <a:off x="5257800" y="2095401"/>
            <a:ext cx="1727200"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B4501A"/>
                </a:solidFill>
                <a:latin typeface="Arial" pitchFamily="34" charset="0"/>
                <a:ea typeface="Arial" pitchFamily="34" charset="-122"/>
                <a:cs typeface="Arial" pitchFamily="34" charset="-120"/>
              </a:rPr>
              <a:t>3</a:t>
            </a:r>
            <a:endParaRPr lang="en-US" sz="2000" dirty="0"/>
          </a:p>
        </p:txBody>
      </p:sp>
      <p:sp>
        <p:nvSpPr>
          <p:cNvPr id="17" name="Text 15"/>
          <p:cNvSpPr/>
          <p:nvPr/>
        </p:nvSpPr>
        <p:spPr>
          <a:xfrm>
            <a:off x="5257800" y="2527201"/>
            <a:ext cx="1727200"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E2A26"/>
                </a:solidFill>
                <a:latin typeface="Arial" pitchFamily="34" charset="0"/>
                <a:ea typeface="Arial" pitchFamily="34" charset="-122"/>
                <a:cs typeface="Arial" pitchFamily="34" charset="-120"/>
              </a:rPr>
              <a:t>Speicherung</a:t>
            </a:r>
            <a:endParaRPr lang="en-US" sz="1400" dirty="0"/>
          </a:p>
        </p:txBody>
      </p:sp>
      <p:sp>
        <p:nvSpPr>
          <p:cNvPr id="18" name="Text 16"/>
          <p:cNvSpPr/>
          <p:nvPr/>
        </p:nvSpPr>
        <p:spPr>
          <a:xfrm>
            <a:off x="5257800" y="2816721"/>
            <a:ext cx="172720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45"/>
                </a:solidFill>
                <a:latin typeface="Arial" pitchFamily="34" charset="0"/>
                <a:ea typeface="Arial" pitchFamily="34" charset="-122"/>
                <a:cs typeface="Arial" pitchFamily="34" charset="-120"/>
              </a:rPr>
              <a:t>Rohdaten und Stufen in Parquet und DuckDB</a:t>
            </a:r>
            <a:endParaRPr lang="en-US" sz="1200" dirty="0"/>
          </a:p>
        </p:txBody>
      </p:sp>
      <p:sp>
        <p:nvSpPr>
          <p:cNvPr id="19" name="Shape 17"/>
          <p:cNvSpPr/>
          <p:nvPr/>
        </p:nvSpPr>
        <p:spPr>
          <a:xfrm>
            <a:off x="7213600" y="1879501"/>
            <a:ext cx="2032000" cy="1541661"/>
          </a:xfrm>
          <a:prstGeom prst="roundRect">
            <a:avLst>
              <a:gd name="adj" fmla="val 4943"/>
            </a:avLst>
          </a:prstGeom>
          <a:solidFill>
            <a:srgbClr val="FFFFFF"/>
          </a:solidFill>
          <a:ln/>
        </p:spPr>
        <p:txBody>
          <a:bodyPr/>
          <a:lstStyle/>
          <a:p>
            <a:endParaRPr lang="de-CH"/>
          </a:p>
        </p:txBody>
      </p:sp>
      <p:sp>
        <p:nvSpPr>
          <p:cNvPr id="20" name="Shape 18"/>
          <p:cNvSpPr/>
          <p:nvPr/>
        </p:nvSpPr>
        <p:spPr>
          <a:xfrm>
            <a:off x="7213600" y="1879501"/>
            <a:ext cx="2032000" cy="1541661"/>
          </a:xfrm>
          <a:custGeom>
            <a:avLst/>
            <a:gdLst/>
            <a:ahLst/>
            <a:cxnLst/>
            <a:rect l="l" t="t" r="r" b="b"/>
            <a:pathLst>
              <a:path w="2032000" h="1541661">
                <a:moveTo>
                  <a:pt x="0" y="76200"/>
                </a:moveTo>
                <a:lnTo>
                  <a:pt x="0" y="76200"/>
                </a:lnTo>
                <a:arcTo wR="76200" hR="76200" stAng="10800000" swAng="5400000"/>
                <a:lnTo>
                  <a:pt x="1955800" y="0"/>
                </a:lnTo>
                <a:arcTo wR="76200" hR="76200" stAng="16200000" swAng="5400000"/>
                <a:lnTo>
                  <a:pt x="2032000" y="76200"/>
                </a:lnTo>
                <a:arcTo wR="76200" hR="38100" stAng="0" swAng="-5400000"/>
                <a:lnTo>
                  <a:pt x="76200" y="38100"/>
                </a:lnTo>
                <a:arcTo wR="76200" hR="38100" stAng="16200000" swAng="-5400000"/>
                <a:close/>
              </a:path>
            </a:pathLst>
          </a:custGeom>
          <a:solidFill>
            <a:srgbClr val="B4501A"/>
          </a:solidFill>
          <a:ln/>
        </p:spPr>
        <p:txBody>
          <a:bodyPr/>
          <a:lstStyle/>
          <a:p>
            <a:endParaRPr lang="de-CH"/>
          </a:p>
        </p:txBody>
      </p:sp>
      <p:sp>
        <p:nvSpPr>
          <p:cNvPr id="21" name="Text 19"/>
          <p:cNvSpPr/>
          <p:nvPr/>
        </p:nvSpPr>
        <p:spPr>
          <a:xfrm>
            <a:off x="7391400" y="2095401"/>
            <a:ext cx="1727200"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B4501A"/>
                </a:solidFill>
                <a:latin typeface="Arial" pitchFamily="34" charset="0"/>
                <a:ea typeface="Arial" pitchFamily="34" charset="-122"/>
                <a:cs typeface="Arial" pitchFamily="34" charset="-120"/>
              </a:rPr>
              <a:t>4</a:t>
            </a:r>
            <a:endParaRPr lang="en-US" sz="2000" dirty="0"/>
          </a:p>
        </p:txBody>
      </p:sp>
      <p:sp>
        <p:nvSpPr>
          <p:cNvPr id="22" name="Text 20"/>
          <p:cNvSpPr/>
          <p:nvPr/>
        </p:nvSpPr>
        <p:spPr>
          <a:xfrm>
            <a:off x="7391400" y="2527201"/>
            <a:ext cx="1727200"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E2A26"/>
                </a:solidFill>
                <a:latin typeface="Arial" pitchFamily="34" charset="0"/>
                <a:ea typeface="Arial" pitchFamily="34" charset="-122"/>
                <a:cs typeface="Arial" pitchFamily="34" charset="-120"/>
              </a:rPr>
              <a:t>Analyse</a:t>
            </a:r>
            <a:endParaRPr lang="en-US" sz="1400" dirty="0"/>
          </a:p>
        </p:txBody>
      </p:sp>
      <p:sp>
        <p:nvSpPr>
          <p:cNvPr id="23" name="Text 21"/>
          <p:cNvSpPr/>
          <p:nvPr/>
        </p:nvSpPr>
        <p:spPr>
          <a:xfrm>
            <a:off x="7391400" y="2816721"/>
            <a:ext cx="172720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45"/>
                </a:solidFill>
                <a:latin typeface="Arial" pitchFamily="34" charset="0"/>
                <a:ea typeface="Arial" pitchFamily="34" charset="-122"/>
                <a:cs typeface="Arial" pitchFamily="34" charset="-120"/>
              </a:rPr>
              <a:t>Bereinigen, explorieren, testen</a:t>
            </a:r>
            <a:endParaRPr lang="en-US" sz="1200" dirty="0"/>
          </a:p>
        </p:txBody>
      </p:sp>
      <p:sp>
        <p:nvSpPr>
          <p:cNvPr id="24" name="Shape 22"/>
          <p:cNvSpPr/>
          <p:nvPr/>
        </p:nvSpPr>
        <p:spPr>
          <a:xfrm>
            <a:off x="9347200" y="1879501"/>
            <a:ext cx="2032000" cy="1541661"/>
          </a:xfrm>
          <a:prstGeom prst="roundRect">
            <a:avLst>
              <a:gd name="adj" fmla="val 4943"/>
            </a:avLst>
          </a:prstGeom>
          <a:solidFill>
            <a:srgbClr val="ECEAE3"/>
          </a:solidFill>
          <a:ln/>
        </p:spPr>
        <p:txBody>
          <a:bodyPr/>
          <a:lstStyle/>
          <a:p>
            <a:endParaRPr lang="de-CH"/>
          </a:p>
        </p:txBody>
      </p:sp>
      <p:sp>
        <p:nvSpPr>
          <p:cNvPr id="25" name="Shape 23"/>
          <p:cNvSpPr/>
          <p:nvPr/>
        </p:nvSpPr>
        <p:spPr>
          <a:xfrm>
            <a:off x="9347200" y="1898551"/>
            <a:ext cx="2032000" cy="0"/>
          </a:xfrm>
          <a:prstGeom prst="line">
            <a:avLst/>
          </a:prstGeom>
          <a:noFill/>
          <a:ln w="38100">
            <a:solidFill>
              <a:srgbClr val="2F5F7A"/>
            </a:solidFill>
            <a:prstDash val="dash"/>
          </a:ln>
        </p:spPr>
        <p:txBody>
          <a:bodyPr/>
          <a:lstStyle/>
          <a:p>
            <a:endParaRPr lang="de-CH"/>
          </a:p>
        </p:txBody>
      </p:sp>
      <p:sp>
        <p:nvSpPr>
          <p:cNvPr id="26" name="Text 24"/>
          <p:cNvSpPr/>
          <p:nvPr/>
        </p:nvSpPr>
        <p:spPr>
          <a:xfrm>
            <a:off x="9525000" y="2095401"/>
            <a:ext cx="1727200"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2F5F7A"/>
                </a:solidFill>
                <a:latin typeface="Arial" pitchFamily="34" charset="0"/>
                <a:ea typeface="Arial" pitchFamily="34" charset="-122"/>
                <a:cs typeface="Arial" pitchFamily="34" charset="-120"/>
              </a:rPr>
              <a:t>5</a:t>
            </a:r>
            <a:endParaRPr lang="en-US" sz="2000" dirty="0"/>
          </a:p>
        </p:txBody>
      </p:sp>
      <p:sp>
        <p:nvSpPr>
          <p:cNvPr id="27" name="Text 25"/>
          <p:cNvSpPr/>
          <p:nvPr/>
        </p:nvSpPr>
        <p:spPr>
          <a:xfrm>
            <a:off x="9525000" y="2527201"/>
            <a:ext cx="1727200"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E2A26"/>
                </a:solidFill>
                <a:latin typeface="Arial" pitchFamily="34" charset="0"/>
                <a:ea typeface="Arial" pitchFamily="34" charset="-122"/>
                <a:cs typeface="Arial" pitchFamily="34" charset="-120"/>
              </a:rPr>
              <a:t>Serving</a:t>
            </a:r>
            <a:endParaRPr lang="en-US" sz="1400" dirty="0"/>
          </a:p>
        </p:txBody>
      </p:sp>
      <p:sp>
        <p:nvSpPr>
          <p:cNvPr id="28" name="Text 26"/>
          <p:cNvSpPr/>
          <p:nvPr/>
        </p:nvSpPr>
        <p:spPr>
          <a:xfrm>
            <a:off x="9525000" y="2816721"/>
            <a:ext cx="172720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45"/>
                </a:solidFill>
                <a:latin typeface="Arial" pitchFamily="34" charset="0"/>
                <a:ea typeface="Arial" pitchFamily="34" charset="-122"/>
                <a:cs typeface="Arial" pitchFamily="34" charset="-120"/>
              </a:rPr>
              <a:t>Teil 2: ML-Modell oder KI-Anwendung</a:t>
            </a:r>
            <a:endParaRPr lang="en-US" sz="1200" dirty="0"/>
          </a:p>
        </p:txBody>
      </p:sp>
      <p:sp>
        <p:nvSpPr>
          <p:cNvPr id="29" name="Text 27"/>
          <p:cNvSpPr/>
          <p:nvPr/>
        </p:nvSpPr>
        <p:spPr>
          <a:xfrm>
            <a:off x="812800" y="3725962"/>
            <a:ext cx="10883392"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E2A26"/>
                </a:solidFill>
                <a:latin typeface="Arial" pitchFamily="34" charset="0"/>
                <a:ea typeface="Arial" pitchFamily="34" charset="-122"/>
                <a:cs typeface="Arial" pitchFamily="34" charset="-120"/>
              </a:rPr>
              <a:t>Werkzeuge</a:t>
            </a:r>
            <a:endParaRPr lang="en-US" sz="1600" dirty="0"/>
          </a:p>
        </p:txBody>
      </p:sp>
      <p:sp>
        <p:nvSpPr>
          <p:cNvPr id="30" name="Text 28"/>
          <p:cNvSpPr/>
          <p:nvPr/>
        </p:nvSpPr>
        <p:spPr>
          <a:xfrm>
            <a:off x="812800" y="4071342"/>
            <a:ext cx="1558032" cy="383480"/>
          </a:xfrm>
          <a:prstGeom prst="roundRect">
            <a:avLst>
              <a:gd name="adj" fmla="val 50000"/>
            </a:avLst>
          </a:prstGeom>
          <a:solidFill>
            <a:srgbClr val="E3E9E5"/>
          </a:solidFill>
          <a:ln/>
        </p:spPr>
        <p:txBody>
          <a:bodyPr wrap="none" lIns="0" tIns="0" rIns="0" bIns="0" rtlCol="0" anchor="ctr">
            <a:normAutofit/>
          </a:bodyPr>
          <a:lstStyle/>
          <a:p>
            <a:pPr marL="0" indent="0" algn="ctr">
              <a:lnSpc>
                <a:spcPts val="1820"/>
              </a:lnSpc>
              <a:buNone/>
            </a:pPr>
            <a:r>
              <a:rPr lang="en-US" sz="1300" dirty="0">
                <a:solidFill>
                  <a:srgbClr val="1E2A26"/>
                </a:solidFill>
                <a:latin typeface="Arial" pitchFamily="34" charset="0"/>
                <a:ea typeface="Arial" pitchFamily="34" charset="-122"/>
                <a:cs typeface="Arial" pitchFamily="34" charset="-120"/>
              </a:rPr>
              <a:t>Python · pandas</a:t>
            </a:r>
            <a:endParaRPr lang="en-US" sz="1300" dirty="0"/>
          </a:p>
        </p:txBody>
      </p:sp>
      <p:sp>
        <p:nvSpPr>
          <p:cNvPr id="31" name="Text 29"/>
          <p:cNvSpPr/>
          <p:nvPr/>
        </p:nvSpPr>
        <p:spPr>
          <a:xfrm>
            <a:off x="2472432" y="4071342"/>
            <a:ext cx="1438275" cy="383480"/>
          </a:xfrm>
          <a:prstGeom prst="roundRect">
            <a:avLst>
              <a:gd name="adj" fmla="val 50000"/>
            </a:avLst>
          </a:prstGeom>
          <a:solidFill>
            <a:srgbClr val="E3E9E5"/>
          </a:solidFill>
          <a:ln/>
        </p:spPr>
        <p:txBody>
          <a:bodyPr wrap="none" lIns="0" tIns="0" rIns="0" bIns="0" rtlCol="0" anchor="ctr">
            <a:normAutofit/>
          </a:bodyPr>
          <a:lstStyle/>
          <a:p>
            <a:pPr marL="0" indent="0" algn="ctr">
              <a:lnSpc>
                <a:spcPts val="1820"/>
              </a:lnSpc>
              <a:buNone/>
            </a:pPr>
            <a:r>
              <a:rPr lang="en-US" sz="1300" dirty="0">
                <a:solidFill>
                  <a:srgbClr val="1E2A26"/>
                </a:solidFill>
                <a:latin typeface="Arial" pitchFamily="34" charset="0"/>
                <a:ea typeface="Arial" pitchFamily="34" charset="-122"/>
                <a:cs typeface="Arial" pitchFamily="34" charset="-120"/>
              </a:rPr>
              <a:t>DuckDB · SQL</a:t>
            </a:r>
            <a:endParaRPr lang="en-US" sz="1300" dirty="0"/>
          </a:p>
        </p:txBody>
      </p:sp>
      <p:sp>
        <p:nvSpPr>
          <p:cNvPr id="32" name="Text 30"/>
          <p:cNvSpPr/>
          <p:nvPr/>
        </p:nvSpPr>
        <p:spPr>
          <a:xfrm>
            <a:off x="4012307" y="4071342"/>
            <a:ext cx="1318816" cy="383480"/>
          </a:xfrm>
          <a:prstGeom prst="roundRect">
            <a:avLst>
              <a:gd name="adj" fmla="val 50000"/>
            </a:avLst>
          </a:prstGeom>
          <a:solidFill>
            <a:srgbClr val="E3E9E5"/>
          </a:solidFill>
          <a:ln/>
        </p:spPr>
        <p:txBody>
          <a:bodyPr wrap="none" lIns="0" tIns="0" rIns="0" bIns="0" rtlCol="0" anchor="ctr">
            <a:normAutofit/>
          </a:bodyPr>
          <a:lstStyle/>
          <a:p>
            <a:pPr marL="0" indent="0" algn="ctr">
              <a:lnSpc>
                <a:spcPts val="1820"/>
              </a:lnSpc>
              <a:buNone/>
            </a:pPr>
            <a:r>
              <a:rPr lang="en-US" sz="1300" dirty="0">
                <a:solidFill>
                  <a:srgbClr val="1E2A26"/>
                </a:solidFill>
                <a:latin typeface="Arial" pitchFamily="34" charset="0"/>
                <a:ea typeface="Arial" pitchFamily="34" charset="-122"/>
                <a:cs typeface="Arial" pitchFamily="34" charset="-120"/>
              </a:rPr>
              <a:t>SciPy (Tests)</a:t>
            </a:r>
            <a:endParaRPr lang="en-US" sz="1300" dirty="0"/>
          </a:p>
        </p:txBody>
      </p:sp>
      <p:sp>
        <p:nvSpPr>
          <p:cNvPr id="33" name="Text 31"/>
          <p:cNvSpPr/>
          <p:nvPr/>
        </p:nvSpPr>
        <p:spPr>
          <a:xfrm>
            <a:off x="5432723" y="4071342"/>
            <a:ext cx="1732260" cy="383480"/>
          </a:xfrm>
          <a:prstGeom prst="roundRect">
            <a:avLst>
              <a:gd name="adj" fmla="val 50000"/>
            </a:avLst>
          </a:prstGeom>
          <a:solidFill>
            <a:srgbClr val="E3E9E5"/>
          </a:solidFill>
          <a:ln/>
        </p:spPr>
        <p:txBody>
          <a:bodyPr wrap="none" lIns="0" tIns="0" rIns="0" bIns="0" rtlCol="0" anchor="ctr">
            <a:normAutofit/>
          </a:bodyPr>
          <a:lstStyle/>
          <a:p>
            <a:pPr marL="0" indent="0" algn="ctr">
              <a:lnSpc>
                <a:spcPts val="1820"/>
              </a:lnSpc>
              <a:buNone/>
            </a:pPr>
            <a:r>
              <a:rPr lang="en-US" sz="1300" dirty="0">
                <a:solidFill>
                  <a:srgbClr val="1E2A26"/>
                </a:solidFill>
                <a:latin typeface="Arial" pitchFamily="34" charset="0"/>
                <a:ea typeface="Arial" pitchFamily="34" charset="-122"/>
                <a:cs typeface="Arial" pitchFamily="34" charset="-120"/>
              </a:rPr>
              <a:t>Jupyter Notebooks</a:t>
            </a:r>
            <a:endParaRPr lang="en-US" sz="1300" dirty="0"/>
          </a:p>
        </p:txBody>
      </p:sp>
      <p:sp>
        <p:nvSpPr>
          <p:cNvPr id="34" name="Text 32"/>
          <p:cNvSpPr/>
          <p:nvPr/>
        </p:nvSpPr>
        <p:spPr>
          <a:xfrm>
            <a:off x="7266583" y="4071342"/>
            <a:ext cx="2172593" cy="383480"/>
          </a:xfrm>
          <a:prstGeom prst="roundRect">
            <a:avLst>
              <a:gd name="adj" fmla="val 50000"/>
            </a:avLst>
          </a:prstGeom>
          <a:solidFill>
            <a:srgbClr val="E3E9E5"/>
          </a:solidFill>
          <a:ln/>
        </p:spPr>
        <p:txBody>
          <a:bodyPr wrap="none" lIns="0" tIns="0" rIns="0" bIns="0" rtlCol="0" anchor="ctr">
            <a:normAutofit/>
          </a:bodyPr>
          <a:lstStyle/>
          <a:p>
            <a:pPr marL="0" indent="0" algn="ctr">
              <a:lnSpc>
                <a:spcPts val="1820"/>
              </a:lnSpc>
              <a:buNone/>
            </a:pPr>
            <a:r>
              <a:rPr lang="en-US" sz="1300" dirty="0">
                <a:solidFill>
                  <a:srgbClr val="1E2A26"/>
                </a:solidFill>
                <a:latin typeface="Arial" pitchFamily="34" charset="0"/>
                <a:ea typeface="Arial" pitchFamily="34" charset="-122"/>
                <a:cs typeface="Arial" pitchFamily="34" charset="-120"/>
              </a:rPr>
              <a:t>GitHub (Abgabe-Branch)</a:t>
            </a:r>
            <a:endParaRPr lang="en-US" sz="1300" dirty="0"/>
          </a:p>
        </p:txBody>
      </p:sp>
      <p:sp>
        <p:nvSpPr>
          <p:cNvPr id="35" name="Text 33"/>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660"/>
                </a:solidFill>
                <a:latin typeface="Arial" pitchFamily="34" charset="0"/>
                <a:ea typeface="Arial" pitchFamily="34" charset="-122"/>
                <a:cs typeface="Arial" pitchFamily="34" charset="-120"/>
              </a:rPr>
              <a:t>Schritte 1–4: Teil 1 · Schritt 5: Teil 2 · 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4501A"/>
                </a:solidFill>
                <a:latin typeface="Arial" pitchFamily="34" charset="0"/>
                <a:ea typeface="Arial" pitchFamily="34" charset="-122"/>
                <a:cs typeface="Arial" pitchFamily="34" charset="-120"/>
              </a:rPr>
              <a:t>ENTWURF DATA-ENGINEERING-LEBENSZYKLUS</a:t>
            </a:r>
            <a:endParaRPr lang="en-US" sz="1200" dirty="0"/>
          </a:p>
        </p:txBody>
      </p:sp>
      <p:sp>
        <p:nvSpPr>
          <p:cNvPr id="3" name="Text 1"/>
          <p:cNvSpPr>
            <a:spLocks noGrp="1"/>
          </p:cNvSpPr>
          <p:nvPr>
            <p:ph type="title"/>
          </p:nvPr>
        </p:nvSpPr>
        <p:spPr>
          <a:xfrm>
            <a:off x="812800" y="11277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E2A26"/>
                </a:solidFill>
                <a:latin typeface="Arial" pitchFamily="34" charset="0"/>
                <a:ea typeface="Arial" pitchFamily="34" charset="-122"/>
                <a:cs typeface="Arial" pitchFamily="34" charset="-120"/>
              </a:rPr>
              <a:t>Fünf Phasen, getragen von sechs Unterströmungen</a:t>
            </a:r>
            <a:endParaRPr lang="en-US" sz="3200" dirty="0"/>
          </a:p>
        </p:txBody>
      </p:sp>
      <p:sp>
        <p:nvSpPr>
          <p:cNvPr id="4" name="Shape 2"/>
          <p:cNvSpPr/>
          <p:nvPr/>
        </p:nvSpPr>
        <p:spPr>
          <a:xfrm>
            <a:off x="819150" y="1784251"/>
            <a:ext cx="1775420" cy="1183382"/>
          </a:xfrm>
          <a:prstGeom prst="roundRect">
            <a:avLst>
              <a:gd name="adj" fmla="val 5903"/>
            </a:avLst>
          </a:prstGeom>
          <a:solidFill>
            <a:srgbClr val="FFFFFF"/>
          </a:solidFill>
          <a:ln w="12700">
            <a:solidFill>
              <a:srgbClr val="1E2A26"/>
            </a:solidFill>
            <a:prstDash val="solid"/>
          </a:ln>
        </p:spPr>
        <p:txBody>
          <a:bodyPr/>
          <a:lstStyle/>
          <a:p>
            <a:endParaRPr lang="de-CH"/>
          </a:p>
        </p:txBody>
      </p:sp>
      <p:sp>
        <p:nvSpPr>
          <p:cNvPr id="5" name="Text 3"/>
          <p:cNvSpPr/>
          <p:nvPr/>
        </p:nvSpPr>
        <p:spPr>
          <a:xfrm>
            <a:off x="977900" y="1943001"/>
            <a:ext cx="1508720" cy="223441"/>
          </a:xfrm>
          <a:prstGeom prst="rect">
            <a:avLst/>
          </a:prstGeom>
          <a:noFill/>
          <a:ln/>
        </p:spPr>
        <p:txBody>
          <a:bodyPr wrap="square" lIns="0" tIns="0" rIns="0" bIns="0" rtlCol="0" anchor="t">
            <a:normAutofit/>
          </a:bodyPr>
          <a:lstStyle/>
          <a:p>
            <a:pPr marL="0" indent="0" algn="l">
              <a:lnSpc>
                <a:spcPts val="1560"/>
              </a:lnSpc>
              <a:buNone/>
            </a:pPr>
            <a:r>
              <a:rPr lang="en-US" sz="1300" b="1" dirty="0">
                <a:solidFill>
                  <a:srgbClr val="1E2A26"/>
                </a:solidFill>
                <a:latin typeface="Arial" pitchFamily="34" charset="0"/>
                <a:ea typeface="Arial" pitchFamily="34" charset="-122"/>
                <a:cs typeface="Arial" pitchFamily="34" charset="-120"/>
              </a:rPr>
              <a:t>Generation</a:t>
            </a:r>
            <a:endParaRPr lang="en-US" sz="1300" dirty="0"/>
          </a:p>
        </p:txBody>
      </p:sp>
      <p:sp>
        <p:nvSpPr>
          <p:cNvPr id="6" name="Text 4"/>
          <p:cNvSpPr/>
          <p:nvPr/>
        </p:nvSpPr>
        <p:spPr>
          <a:xfrm>
            <a:off x="977900" y="2191841"/>
            <a:ext cx="1508720" cy="64244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E4A45"/>
                </a:solidFill>
                <a:latin typeface="Arial" pitchFamily="34" charset="0"/>
                <a:ea typeface="Arial" pitchFamily="34" charset="-122"/>
                <a:cs typeface="Arial" pitchFamily="34" charset="-120"/>
              </a:rPr>
              <a:t>Hersteller und Freiwillige erfassen Produkte</a:t>
            </a:r>
            <a:endParaRPr lang="en-US" sz="1200" dirty="0"/>
          </a:p>
        </p:txBody>
      </p:sp>
      <p:sp>
        <p:nvSpPr>
          <p:cNvPr id="7" name="Text 5"/>
          <p:cNvSpPr/>
          <p:nvPr/>
        </p:nvSpPr>
        <p:spPr>
          <a:xfrm>
            <a:off x="2677120" y="2198092"/>
            <a:ext cx="304800"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B4501A"/>
                </a:solidFill>
                <a:latin typeface="Arial" pitchFamily="34" charset="0"/>
                <a:ea typeface="Arial" pitchFamily="34" charset="-122"/>
                <a:cs typeface="Arial" pitchFamily="34" charset="-120"/>
              </a:rPr>
              <a:t>→</a:t>
            </a:r>
            <a:endParaRPr lang="en-US" sz="2000" dirty="0"/>
          </a:p>
        </p:txBody>
      </p:sp>
      <p:sp>
        <p:nvSpPr>
          <p:cNvPr id="8" name="Shape 6"/>
          <p:cNvSpPr/>
          <p:nvPr/>
        </p:nvSpPr>
        <p:spPr>
          <a:xfrm>
            <a:off x="3013670" y="1784251"/>
            <a:ext cx="1775520" cy="1183382"/>
          </a:xfrm>
          <a:prstGeom prst="roundRect">
            <a:avLst>
              <a:gd name="adj" fmla="val 5903"/>
            </a:avLst>
          </a:prstGeom>
          <a:solidFill>
            <a:srgbClr val="FFFFFF"/>
          </a:solidFill>
          <a:ln w="12700">
            <a:solidFill>
              <a:srgbClr val="1E2A26"/>
            </a:solidFill>
            <a:prstDash val="solid"/>
          </a:ln>
        </p:spPr>
        <p:txBody>
          <a:bodyPr/>
          <a:lstStyle/>
          <a:p>
            <a:endParaRPr lang="de-CH"/>
          </a:p>
        </p:txBody>
      </p:sp>
      <p:sp>
        <p:nvSpPr>
          <p:cNvPr id="9" name="Text 7"/>
          <p:cNvSpPr/>
          <p:nvPr/>
        </p:nvSpPr>
        <p:spPr>
          <a:xfrm>
            <a:off x="3172420" y="1943001"/>
            <a:ext cx="1508820" cy="223441"/>
          </a:xfrm>
          <a:prstGeom prst="rect">
            <a:avLst/>
          </a:prstGeom>
          <a:noFill/>
          <a:ln/>
        </p:spPr>
        <p:txBody>
          <a:bodyPr wrap="square" lIns="0" tIns="0" rIns="0" bIns="0" rtlCol="0" anchor="t">
            <a:normAutofit/>
          </a:bodyPr>
          <a:lstStyle/>
          <a:p>
            <a:pPr marL="0" indent="0" algn="l">
              <a:lnSpc>
                <a:spcPts val="1560"/>
              </a:lnSpc>
              <a:buNone/>
            </a:pPr>
            <a:r>
              <a:rPr lang="en-US" sz="1300" b="1" dirty="0">
                <a:solidFill>
                  <a:srgbClr val="1E2A26"/>
                </a:solidFill>
                <a:latin typeface="Arial" pitchFamily="34" charset="0"/>
                <a:ea typeface="Arial" pitchFamily="34" charset="-122"/>
                <a:cs typeface="Arial" pitchFamily="34" charset="-120"/>
              </a:rPr>
              <a:t>Ingestion</a:t>
            </a:r>
            <a:endParaRPr lang="en-US" sz="1300" dirty="0"/>
          </a:p>
        </p:txBody>
      </p:sp>
      <p:sp>
        <p:nvSpPr>
          <p:cNvPr id="10" name="Text 8"/>
          <p:cNvSpPr/>
          <p:nvPr/>
        </p:nvSpPr>
        <p:spPr>
          <a:xfrm>
            <a:off x="3172420" y="2191841"/>
            <a:ext cx="1508820" cy="43676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E4A45"/>
                </a:solidFill>
                <a:latin typeface="Arial" pitchFamily="34" charset="0"/>
                <a:ea typeface="Arial" pitchFamily="34" charset="-122"/>
                <a:cs typeface="Arial" pitchFamily="34" charset="-120"/>
              </a:rPr>
              <a:t>Nächtlicher Bulk-Export, Batch</a:t>
            </a:r>
            <a:endParaRPr lang="en-US" sz="1200" dirty="0"/>
          </a:p>
        </p:txBody>
      </p:sp>
      <p:sp>
        <p:nvSpPr>
          <p:cNvPr id="11" name="Text 9"/>
          <p:cNvSpPr/>
          <p:nvPr/>
        </p:nvSpPr>
        <p:spPr>
          <a:xfrm>
            <a:off x="4871740" y="2198092"/>
            <a:ext cx="304800"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B4501A"/>
                </a:solidFill>
                <a:latin typeface="Arial" pitchFamily="34" charset="0"/>
                <a:ea typeface="Arial" pitchFamily="34" charset="-122"/>
                <a:cs typeface="Arial" pitchFamily="34" charset="-120"/>
              </a:rPr>
              <a:t>→</a:t>
            </a:r>
            <a:endParaRPr lang="en-US" sz="2000" dirty="0"/>
          </a:p>
        </p:txBody>
      </p:sp>
      <p:sp>
        <p:nvSpPr>
          <p:cNvPr id="12" name="Shape 10"/>
          <p:cNvSpPr/>
          <p:nvPr/>
        </p:nvSpPr>
        <p:spPr>
          <a:xfrm>
            <a:off x="5208290" y="1784251"/>
            <a:ext cx="1775420" cy="1183382"/>
          </a:xfrm>
          <a:prstGeom prst="roundRect">
            <a:avLst>
              <a:gd name="adj" fmla="val 5903"/>
            </a:avLst>
          </a:prstGeom>
          <a:solidFill>
            <a:srgbClr val="FFFFFF"/>
          </a:solidFill>
          <a:ln w="12700">
            <a:solidFill>
              <a:srgbClr val="1E2A26"/>
            </a:solidFill>
            <a:prstDash val="solid"/>
          </a:ln>
        </p:spPr>
        <p:txBody>
          <a:bodyPr/>
          <a:lstStyle/>
          <a:p>
            <a:endParaRPr lang="de-CH"/>
          </a:p>
        </p:txBody>
      </p:sp>
      <p:sp>
        <p:nvSpPr>
          <p:cNvPr id="13" name="Text 11"/>
          <p:cNvSpPr/>
          <p:nvPr/>
        </p:nvSpPr>
        <p:spPr>
          <a:xfrm>
            <a:off x="5367040" y="1943001"/>
            <a:ext cx="1508720" cy="223441"/>
          </a:xfrm>
          <a:prstGeom prst="rect">
            <a:avLst/>
          </a:prstGeom>
          <a:noFill/>
          <a:ln/>
        </p:spPr>
        <p:txBody>
          <a:bodyPr wrap="square" lIns="0" tIns="0" rIns="0" bIns="0" rtlCol="0" anchor="t">
            <a:normAutofit/>
          </a:bodyPr>
          <a:lstStyle/>
          <a:p>
            <a:pPr marL="0" indent="0" algn="l">
              <a:lnSpc>
                <a:spcPts val="1560"/>
              </a:lnSpc>
              <a:buNone/>
            </a:pPr>
            <a:r>
              <a:rPr lang="en-US" sz="1300" b="1" dirty="0">
                <a:solidFill>
                  <a:srgbClr val="1E2A26"/>
                </a:solidFill>
                <a:latin typeface="Arial" pitchFamily="34" charset="0"/>
                <a:ea typeface="Arial" pitchFamily="34" charset="-122"/>
                <a:cs typeface="Arial" pitchFamily="34" charset="-120"/>
              </a:rPr>
              <a:t>Storage</a:t>
            </a:r>
            <a:endParaRPr lang="en-US" sz="1300" dirty="0"/>
          </a:p>
        </p:txBody>
      </p:sp>
      <p:sp>
        <p:nvSpPr>
          <p:cNvPr id="14" name="Text 12"/>
          <p:cNvSpPr/>
          <p:nvPr/>
        </p:nvSpPr>
        <p:spPr>
          <a:xfrm>
            <a:off x="5367040" y="2191841"/>
            <a:ext cx="1508720" cy="43676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E4A45"/>
                </a:solidFill>
                <a:latin typeface="Arial" pitchFamily="34" charset="0"/>
                <a:ea typeface="Arial" pitchFamily="34" charset="-122"/>
                <a:cs typeface="Arial" pitchFamily="34" charset="-120"/>
              </a:rPr>
              <a:t>Parquet und DuckDB in drei Stufen</a:t>
            </a:r>
            <a:endParaRPr lang="en-US" sz="1200" dirty="0"/>
          </a:p>
        </p:txBody>
      </p:sp>
      <p:sp>
        <p:nvSpPr>
          <p:cNvPr id="15" name="Text 13"/>
          <p:cNvSpPr/>
          <p:nvPr/>
        </p:nvSpPr>
        <p:spPr>
          <a:xfrm>
            <a:off x="7066260" y="2198092"/>
            <a:ext cx="304800"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B4501A"/>
                </a:solidFill>
                <a:latin typeface="Arial" pitchFamily="34" charset="0"/>
                <a:ea typeface="Arial" pitchFamily="34" charset="-122"/>
                <a:cs typeface="Arial" pitchFamily="34" charset="-120"/>
              </a:rPr>
              <a:t>→</a:t>
            </a:r>
            <a:endParaRPr lang="en-US" sz="2000" dirty="0"/>
          </a:p>
        </p:txBody>
      </p:sp>
      <p:sp>
        <p:nvSpPr>
          <p:cNvPr id="16" name="Shape 14"/>
          <p:cNvSpPr/>
          <p:nvPr/>
        </p:nvSpPr>
        <p:spPr>
          <a:xfrm>
            <a:off x="7402810" y="1784251"/>
            <a:ext cx="1775520" cy="1183382"/>
          </a:xfrm>
          <a:prstGeom prst="roundRect">
            <a:avLst>
              <a:gd name="adj" fmla="val 5903"/>
            </a:avLst>
          </a:prstGeom>
          <a:solidFill>
            <a:srgbClr val="FFFFFF"/>
          </a:solidFill>
          <a:ln w="12700">
            <a:solidFill>
              <a:srgbClr val="1E2A26"/>
            </a:solidFill>
            <a:prstDash val="solid"/>
          </a:ln>
        </p:spPr>
        <p:txBody>
          <a:bodyPr/>
          <a:lstStyle/>
          <a:p>
            <a:endParaRPr lang="de-CH"/>
          </a:p>
        </p:txBody>
      </p:sp>
      <p:sp>
        <p:nvSpPr>
          <p:cNvPr id="17" name="Text 15"/>
          <p:cNvSpPr/>
          <p:nvPr/>
        </p:nvSpPr>
        <p:spPr>
          <a:xfrm>
            <a:off x="7561560" y="1943001"/>
            <a:ext cx="1508820" cy="223441"/>
          </a:xfrm>
          <a:prstGeom prst="rect">
            <a:avLst/>
          </a:prstGeom>
          <a:noFill/>
          <a:ln/>
        </p:spPr>
        <p:txBody>
          <a:bodyPr wrap="square" lIns="0" tIns="0" rIns="0" bIns="0" rtlCol="0" anchor="t">
            <a:normAutofit/>
          </a:bodyPr>
          <a:lstStyle/>
          <a:p>
            <a:pPr marL="0" indent="0" algn="l">
              <a:lnSpc>
                <a:spcPts val="1560"/>
              </a:lnSpc>
              <a:buNone/>
            </a:pPr>
            <a:r>
              <a:rPr lang="en-US" sz="1300" b="1" dirty="0">
                <a:solidFill>
                  <a:srgbClr val="1E2A26"/>
                </a:solidFill>
                <a:latin typeface="Arial" pitchFamily="34" charset="0"/>
                <a:ea typeface="Arial" pitchFamily="34" charset="-122"/>
                <a:cs typeface="Arial" pitchFamily="34" charset="-120"/>
              </a:rPr>
              <a:t>Transformation</a:t>
            </a:r>
            <a:endParaRPr lang="en-US" sz="1300" dirty="0"/>
          </a:p>
        </p:txBody>
      </p:sp>
      <p:sp>
        <p:nvSpPr>
          <p:cNvPr id="18" name="Text 16"/>
          <p:cNvSpPr/>
          <p:nvPr/>
        </p:nvSpPr>
        <p:spPr>
          <a:xfrm>
            <a:off x="7561560" y="2191841"/>
            <a:ext cx="1508820" cy="64244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E4A45"/>
                </a:solidFill>
                <a:latin typeface="Arial" pitchFamily="34" charset="0"/>
                <a:ea typeface="Arial" pitchFamily="34" charset="-122"/>
                <a:cs typeface="Arial" pitchFamily="34" charset="-120"/>
              </a:rPr>
              <a:t>Bereinigen, Merkmale bilden, testen</a:t>
            </a:r>
            <a:endParaRPr lang="en-US" sz="1200" dirty="0"/>
          </a:p>
        </p:txBody>
      </p:sp>
      <p:sp>
        <p:nvSpPr>
          <p:cNvPr id="19" name="Text 17"/>
          <p:cNvSpPr/>
          <p:nvPr/>
        </p:nvSpPr>
        <p:spPr>
          <a:xfrm>
            <a:off x="9260880" y="2198092"/>
            <a:ext cx="304800"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B4501A"/>
                </a:solidFill>
                <a:latin typeface="Arial" pitchFamily="34" charset="0"/>
                <a:ea typeface="Arial" pitchFamily="34" charset="-122"/>
                <a:cs typeface="Arial" pitchFamily="34" charset="-120"/>
              </a:rPr>
              <a:t>→</a:t>
            </a:r>
            <a:endParaRPr lang="en-US" sz="2000" dirty="0"/>
          </a:p>
        </p:txBody>
      </p:sp>
      <p:sp>
        <p:nvSpPr>
          <p:cNvPr id="20" name="Shape 18"/>
          <p:cNvSpPr/>
          <p:nvPr/>
        </p:nvSpPr>
        <p:spPr>
          <a:xfrm>
            <a:off x="9597430" y="1784251"/>
            <a:ext cx="1775420" cy="1183382"/>
          </a:xfrm>
          <a:prstGeom prst="roundRect">
            <a:avLst>
              <a:gd name="adj" fmla="val 5903"/>
            </a:avLst>
          </a:prstGeom>
          <a:solidFill>
            <a:srgbClr val="ECEAE3"/>
          </a:solidFill>
          <a:ln w="12700">
            <a:solidFill>
              <a:srgbClr val="2F5F7A"/>
            </a:solidFill>
            <a:prstDash val="dash"/>
          </a:ln>
        </p:spPr>
        <p:txBody>
          <a:bodyPr/>
          <a:lstStyle/>
          <a:p>
            <a:endParaRPr lang="de-CH"/>
          </a:p>
        </p:txBody>
      </p:sp>
      <p:sp>
        <p:nvSpPr>
          <p:cNvPr id="21" name="Text 19"/>
          <p:cNvSpPr/>
          <p:nvPr/>
        </p:nvSpPr>
        <p:spPr>
          <a:xfrm>
            <a:off x="9756180" y="1943001"/>
            <a:ext cx="1508720" cy="223441"/>
          </a:xfrm>
          <a:prstGeom prst="rect">
            <a:avLst/>
          </a:prstGeom>
          <a:noFill/>
          <a:ln/>
        </p:spPr>
        <p:txBody>
          <a:bodyPr wrap="square" lIns="0" tIns="0" rIns="0" bIns="0" rtlCol="0" anchor="t">
            <a:normAutofit/>
          </a:bodyPr>
          <a:lstStyle/>
          <a:p>
            <a:pPr marL="0" indent="0" algn="l">
              <a:lnSpc>
                <a:spcPts val="1560"/>
              </a:lnSpc>
              <a:buNone/>
            </a:pPr>
            <a:r>
              <a:rPr lang="en-US" sz="1300" b="1" dirty="0">
                <a:solidFill>
                  <a:srgbClr val="1E2A26"/>
                </a:solidFill>
                <a:latin typeface="Arial" pitchFamily="34" charset="0"/>
                <a:ea typeface="Arial" pitchFamily="34" charset="-122"/>
                <a:cs typeface="Arial" pitchFamily="34" charset="-120"/>
              </a:rPr>
              <a:t>Serving</a:t>
            </a:r>
            <a:endParaRPr lang="en-US" sz="1300" dirty="0"/>
          </a:p>
        </p:txBody>
      </p:sp>
      <p:sp>
        <p:nvSpPr>
          <p:cNvPr id="22" name="Text 20"/>
          <p:cNvSpPr/>
          <p:nvPr/>
        </p:nvSpPr>
        <p:spPr>
          <a:xfrm>
            <a:off x="9756180" y="2191841"/>
            <a:ext cx="1508720" cy="43676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E4A45"/>
                </a:solidFill>
                <a:latin typeface="Arial" pitchFamily="34" charset="0"/>
                <a:ea typeface="Arial" pitchFamily="34" charset="-122"/>
                <a:cs typeface="Arial" pitchFamily="34" charset="-120"/>
              </a:rPr>
              <a:t>Teil 2: Modell oder KI-App</a:t>
            </a:r>
            <a:endParaRPr lang="en-US" sz="1200" dirty="0"/>
          </a:p>
        </p:txBody>
      </p:sp>
      <p:sp>
        <p:nvSpPr>
          <p:cNvPr id="23" name="Shape 21"/>
          <p:cNvSpPr/>
          <p:nvPr/>
        </p:nvSpPr>
        <p:spPr>
          <a:xfrm>
            <a:off x="812800" y="3177183"/>
            <a:ext cx="10566400" cy="1493242"/>
          </a:xfrm>
          <a:prstGeom prst="roundRect">
            <a:avLst>
              <a:gd name="adj" fmla="val 6804"/>
            </a:avLst>
          </a:prstGeom>
          <a:solidFill>
            <a:srgbClr val="E3E9E5"/>
          </a:solidFill>
          <a:ln/>
        </p:spPr>
        <p:txBody>
          <a:bodyPr/>
          <a:lstStyle/>
          <a:p>
            <a:endParaRPr lang="de-CH"/>
          </a:p>
        </p:txBody>
      </p:sp>
      <p:sp>
        <p:nvSpPr>
          <p:cNvPr id="24" name="Text 22"/>
          <p:cNvSpPr/>
          <p:nvPr/>
        </p:nvSpPr>
        <p:spPr>
          <a:xfrm>
            <a:off x="1016000" y="3354983"/>
            <a:ext cx="10464800"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E2A26"/>
                </a:solidFill>
                <a:latin typeface="Arial" pitchFamily="34" charset="0"/>
                <a:ea typeface="Arial" pitchFamily="34" charset="-122"/>
                <a:cs typeface="Arial" pitchFamily="34" charset="-120"/>
              </a:rPr>
              <a:t>Unterströmungen</a:t>
            </a:r>
            <a:endParaRPr lang="en-US" sz="1400" dirty="0"/>
          </a:p>
        </p:txBody>
      </p:sp>
      <p:sp>
        <p:nvSpPr>
          <p:cNvPr id="25" name="Text 23"/>
          <p:cNvSpPr/>
          <p:nvPr/>
        </p:nvSpPr>
        <p:spPr>
          <a:xfrm>
            <a:off x="1016000" y="3669903"/>
            <a:ext cx="3488233" cy="436761"/>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1E2A26"/>
                </a:solidFill>
                <a:latin typeface="Arial" pitchFamily="34" charset="0"/>
                <a:ea typeface="Arial" pitchFamily="34" charset="-122"/>
                <a:cs typeface="Arial" pitchFamily="34" charset="-120"/>
              </a:rPr>
              <a:t>Security:</a:t>
            </a:r>
            <a:r>
              <a:rPr lang="en-US" sz="1200" dirty="0">
                <a:solidFill>
                  <a:srgbClr val="1E2A26"/>
                </a:solidFill>
                <a:latin typeface="Arial" pitchFamily="34" charset="0"/>
                <a:ea typeface="Arial" pitchFamily="34" charset="-122"/>
                <a:cs typeface="Arial" pitchFamily="34" charset="-120"/>
              </a:rPr>
              <a:t> keine Personendaten, Lizenz (ODbL) beachten</a:t>
            </a:r>
            <a:endParaRPr lang="en-US" sz="1200" dirty="0"/>
          </a:p>
        </p:txBody>
      </p:sp>
      <p:sp>
        <p:nvSpPr>
          <p:cNvPr id="26" name="Text 24"/>
          <p:cNvSpPr/>
          <p:nvPr/>
        </p:nvSpPr>
        <p:spPr>
          <a:xfrm>
            <a:off x="4402634" y="3669903"/>
            <a:ext cx="3488233" cy="436761"/>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1E2A26"/>
                </a:solidFill>
                <a:latin typeface="Arial" pitchFamily="34" charset="0"/>
                <a:ea typeface="Arial" pitchFamily="34" charset="-122"/>
                <a:cs typeface="Arial" pitchFamily="34" charset="-120"/>
              </a:rPr>
              <a:t>Data Management:</a:t>
            </a:r>
            <a:r>
              <a:rPr lang="en-US" sz="1200" dirty="0">
                <a:solidFill>
                  <a:srgbClr val="1E2A26"/>
                </a:solidFill>
                <a:latin typeface="Arial" pitchFamily="34" charset="0"/>
                <a:ea typeface="Arial" pitchFamily="34" charset="-122"/>
                <a:cs typeface="Arial" pitchFamily="34" charset="-120"/>
              </a:rPr>
              <a:t> Data Dictionary, Snapshot-Datum</a:t>
            </a:r>
            <a:endParaRPr lang="en-US" sz="1200" dirty="0"/>
          </a:p>
        </p:txBody>
      </p:sp>
      <p:sp>
        <p:nvSpPr>
          <p:cNvPr id="27" name="Text 25"/>
          <p:cNvSpPr/>
          <p:nvPr/>
        </p:nvSpPr>
        <p:spPr>
          <a:xfrm>
            <a:off x="7789267" y="3669903"/>
            <a:ext cx="3488233" cy="436761"/>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1E2A26"/>
                </a:solidFill>
                <a:latin typeface="Arial" pitchFamily="34" charset="0"/>
                <a:ea typeface="Arial" pitchFamily="34" charset="-122"/>
                <a:cs typeface="Arial" pitchFamily="34" charset="-120"/>
              </a:rPr>
              <a:t>DataOps:</a:t>
            </a:r>
            <a:r>
              <a:rPr lang="en-US" sz="1200" dirty="0">
                <a:solidFill>
                  <a:srgbClr val="1E2A26"/>
                </a:solidFill>
                <a:latin typeface="Arial" pitchFamily="34" charset="0"/>
                <a:ea typeface="Arial" pitchFamily="34" charset="-122"/>
                <a:cs typeface="Arial" pitchFamily="34" charset="-120"/>
              </a:rPr>
              <a:t> Qualitätschecks mit Protokoll</a:t>
            </a:r>
            <a:endParaRPr lang="en-US" sz="1200" dirty="0"/>
          </a:p>
        </p:txBody>
      </p:sp>
      <p:sp>
        <p:nvSpPr>
          <p:cNvPr id="28" name="Text 26"/>
          <p:cNvSpPr/>
          <p:nvPr/>
        </p:nvSpPr>
        <p:spPr>
          <a:xfrm>
            <a:off x="1016000" y="4081264"/>
            <a:ext cx="3488233" cy="436761"/>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1E2A26"/>
                </a:solidFill>
                <a:latin typeface="Arial" pitchFamily="34" charset="0"/>
                <a:ea typeface="Arial" pitchFamily="34" charset="-122"/>
                <a:cs typeface="Arial" pitchFamily="34" charset="-120"/>
              </a:rPr>
              <a:t>Architektur:</a:t>
            </a:r>
            <a:r>
              <a:rPr lang="en-US" sz="1200" dirty="0">
                <a:solidFill>
                  <a:srgbClr val="1E2A26"/>
                </a:solidFill>
                <a:latin typeface="Arial" pitchFamily="34" charset="0"/>
                <a:ea typeface="Arial" pitchFamily="34" charset="-122"/>
                <a:cs typeface="Arial" pitchFamily="34" charset="-120"/>
              </a:rPr>
              <a:t> lokal, schlank, umkehrbare Entscheide</a:t>
            </a:r>
            <a:endParaRPr lang="en-US" sz="1200" dirty="0"/>
          </a:p>
        </p:txBody>
      </p:sp>
      <p:sp>
        <p:nvSpPr>
          <p:cNvPr id="29" name="Text 27"/>
          <p:cNvSpPr/>
          <p:nvPr/>
        </p:nvSpPr>
        <p:spPr>
          <a:xfrm>
            <a:off x="4402634" y="4081264"/>
            <a:ext cx="3488233" cy="436761"/>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1E2A26"/>
                </a:solidFill>
                <a:latin typeface="Arial" pitchFamily="34" charset="0"/>
                <a:ea typeface="Arial" pitchFamily="34" charset="-122"/>
                <a:cs typeface="Arial" pitchFamily="34" charset="-120"/>
              </a:rPr>
              <a:t>Orchestrierung:</a:t>
            </a:r>
            <a:r>
              <a:rPr lang="en-US" sz="1200" dirty="0">
                <a:solidFill>
                  <a:srgbClr val="1E2A26"/>
                </a:solidFill>
                <a:latin typeface="Arial" pitchFamily="34" charset="0"/>
                <a:ea typeface="Arial" pitchFamily="34" charset="-122"/>
                <a:cs typeface="Arial" pitchFamily="34" charset="-120"/>
              </a:rPr>
              <a:t> ein Skript pro Schritt, feste Reihenfolge</a:t>
            </a:r>
            <a:endParaRPr lang="en-US" sz="1200" dirty="0"/>
          </a:p>
        </p:txBody>
      </p:sp>
      <p:sp>
        <p:nvSpPr>
          <p:cNvPr id="30" name="Text 28"/>
          <p:cNvSpPr/>
          <p:nvPr/>
        </p:nvSpPr>
        <p:spPr>
          <a:xfrm>
            <a:off x="7789267" y="4081264"/>
            <a:ext cx="3589933" cy="436761"/>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1E2A26"/>
                </a:solidFill>
                <a:latin typeface="Arial" pitchFamily="34" charset="0"/>
                <a:ea typeface="Arial" pitchFamily="34" charset="-122"/>
                <a:cs typeface="Arial" pitchFamily="34" charset="-120"/>
              </a:rPr>
              <a:t>Software Engineering:</a:t>
            </a:r>
            <a:r>
              <a:rPr lang="en-US" sz="1200" dirty="0">
                <a:solidFill>
                  <a:srgbClr val="1E2A26"/>
                </a:solidFill>
                <a:latin typeface="Arial" pitchFamily="34" charset="0"/>
                <a:ea typeface="Arial" pitchFamily="34" charset="-122"/>
                <a:cs typeface="Arial" pitchFamily="34" charset="-120"/>
              </a:rPr>
              <a:t> Git, kommentierter Code</a:t>
            </a:r>
            <a:endParaRPr lang="en-US" sz="1200" dirty="0"/>
          </a:p>
        </p:txBody>
      </p:sp>
      <p:sp>
        <p:nvSpPr>
          <p:cNvPr id="31" name="Text 29"/>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660"/>
                </a:solidFill>
                <a:latin typeface="Arial" pitchFamily="34" charset="0"/>
                <a:ea typeface="Arial" pitchFamily="34" charset="-122"/>
                <a:cs typeface="Arial" pitchFamily="34" charset="-120"/>
              </a:rPr>
              <a:t>Modell nach Reis &amp; Housley (2022) · 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F7A"/>
                </a:solidFill>
                <a:latin typeface="Arial" pitchFamily="34" charset="0"/>
                <a:ea typeface="Arial" pitchFamily="34" charset="-122"/>
                <a:cs typeface="Arial" pitchFamily="34" charset="-120"/>
              </a:rPr>
              <a:t>INGESTION · DATENQUELLEN</a:t>
            </a:r>
            <a:endParaRPr lang="en-US" sz="1200" dirty="0"/>
          </a:p>
        </p:txBody>
      </p:sp>
      <p:sp>
        <p:nvSpPr>
          <p:cNvPr id="3" name="Text 1"/>
          <p:cNvSpPr>
            <a:spLocks noGrp="1"/>
          </p:cNvSpPr>
          <p:nvPr>
            <p:ph type="title"/>
          </p:nvPr>
        </p:nvSpPr>
        <p:spPr>
          <a:xfrm>
            <a:off x="812800" y="11277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E2A26"/>
                </a:solidFill>
                <a:latin typeface="Arial" pitchFamily="34" charset="0"/>
                <a:ea typeface="Arial" pitchFamily="34" charset="-122"/>
                <a:cs typeface="Arial" pitchFamily="34" charset="-120"/>
              </a:rPr>
              <a:t>Eine Hauptquelle, zwei Referenzen</a:t>
            </a:r>
            <a:endParaRPr lang="en-US" sz="3200" dirty="0"/>
          </a:p>
        </p:txBody>
      </p:sp>
      <p:sp>
        <p:nvSpPr>
          <p:cNvPr id="4" name="Shape 2"/>
          <p:cNvSpPr/>
          <p:nvPr/>
        </p:nvSpPr>
        <p:spPr>
          <a:xfrm>
            <a:off x="812800" y="1828701"/>
            <a:ext cx="7518400" cy="2143026"/>
          </a:xfrm>
          <a:prstGeom prst="roundRect">
            <a:avLst>
              <a:gd name="adj" fmla="val 3556"/>
            </a:avLst>
          </a:prstGeom>
          <a:solidFill>
            <a:srgbClr val="FFFFFF"/>
          </a:solidFill>
          <a:ln/>
        </p:spPr>
        <p:txBody>
          <a:bodyPr/>
          <a:lstStyle/>
          <a:p>
            <a:endParaRPr lang="de-CH"/>
          </a:p>
        </p:txBody>
      </p:sp>
      <p:sp>
        <p:nvSpPr>
          <p:cNvPr id="5" name="Shape 3"/>
          <p:cNvSpPr/>
          <p:nvPr/>
        </p:nvSpPr>
        <p:spPr>
          <a:xfrm>
            <a:off x="812800" y="1828701"/>
            <a:ext cx="7518400" cy="2143026"/>
          </a:xfrm>
          <a:custGeom>
            <a:avLst/>
            <a:gdLst/>
            <a:ahLst/>
            <a:cxnLst/>
            <a:rect l="l" t="t" r="r" b="b"/>
            <a:pathLst>
              <a:path w="7518400" h="2143026">
                <a:moveTo>
                  <a:pt x="76200" y="2143026"/>
                </a:moveTo>
                <a:lnTo>
                  <a:pt x="76200" y="2143026"/>
                </a:lnTo>
                <a:arcTo wR="76200" hR="76200" stAng="5400000" swAng="5400000"/>
                <a:lnTo>
                  <a:pt x="0" y="76200"/>
                </a:lnTo>
                <a:arcTo wR="76200" hR="76200" stAng="10800000" swAng="5400000"/>
                <a:lnTo>
                  <a:pt x="7442200" y="0"/>
                </a:lnTo>
                <a:arcTo wR="76200" hR="76200" stAng="16200000" swAng="5400000"/>
                <a:lnTo>
                  <a:pt x="7518400" y="76200"/>
                </a:lnTo>
                <a:arcTo wR="76200" hR="63500" stAng="0" swAng="-5400000"/>
                <a:lnTo>
                  <a:pt x="76200" y="12700"/>
                </a:lnTo>
                <a:arcTo wR="63500" hR="63500" stAng="16200000" swAng="-5400000"/>
                <a:lnTo>
                  <a:pt x="12700" y="2066826"/>
                </a:lnTo>
                <a:arcTo wR="63500" hR="76200" stAng="10800000" swAng="-5400000"/>
                <a:close/>
              </a:path>
            </a:pathLst>
          </a:custGeom>
          <a:solidFill>
            <a:srgbClr val="141413">
              <a:alpha val="22000"/>
            </a:srgbClr>
          </a:solidFill>
          <a:ln/>
        </p:spPr>
        <p:txBody>
          <a:bodyPr/>
          <a:lstStyle/>
          <a:p>
            <a:endParaRPr lang="de-CH"/>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1841401"/>
          <a:ext cx="7505700" cy="2130327"/>
        </p:xfrm>
        <a:graphic>
          <a:graphicData uri="http://schemas.openxmlformats.org/drawingml/2006/table">
            <a:tbl>
              <a:tblPr/>
              <a:tblGrid>
                <a:gridCol w="2101596">
                  <a:extLst>
                    <a:ext uri="{9D8B030D-6E8A-4147-A177-3AD203B41FA5}">
                      <a16:colId xmlns:a16="http://schemas.microsoft.com/office/drawing/2014/main" val="20000"/>
                    </a:ext>
                  </a:extLst>
                </a:gridCol>
                <a:gridCol w="3152394">
                  <a:extLst>
                    <a:ext uri="{9D8B030D-6E8A-4147-A177-3AD203B41FA5}">
                      <a16:colId xmlns:a16="http://schemas.microsoft.com/office/drawing/2014/main" val="20001"/>
                    </a:ext>
                  </a:extLst>
                </a:gridCol>
                <a:gridCol w="2251710">
                  <a:extLst>
                    <a:ext uri="{9D8B030D-6E8A-4147-A177-3AD203B41FA5}">
                      <a16:colId xmlns:a16="http://schemas.microsoft.com/office/drawing/2014/main" val="20002"/>
                    </a:ext>
                  </a:extLst>
                </a:gridCol>
              </a:tblGrid>
              <a:tr h="359271">
                <a:tc>
                  <a:txBody>
                    <a:bodyPr/>
                    <a:lstStyle/>
                    <a:p>
                      <a:pPr marL="0" indent="0">
                        <a:lnSpc>
                          <a:spcPts val="1820"/>
                        </a:lnSpc>
                        <a:buNone/>
                      </a:pPr>
                      <a:r>
                        <a:rPr lang="en-US" sz="1300" b="1" dirty="0">
                          <a:solidFill>
                            <a:srgbClr val="F3F0E8"/>
                          </a:solidFill>
                          <a:latin typeface="Arial" pitchFamily="34" charset="0"/>
                          <a:ea typeface="Arial" pitchFamily="34" charset="-122"/>
                          <a:cs typeface="Arial" pitchFamily="34" charset="-120"/>
                        </a:rPr>
                        <a:t>Quelle</a:t>
                      </a:r>
                      <a:endParaRPr lang="en-US" sz="1300" dirty="0">
                        <a:latin typeface="Arial" charset="0"/>
                        <a:ea typeface="Arial" charset="0"/>
                        <a:cs typeface="Arial" charset="0"/>
                      </a:endParaRPr>
                    </a:p>
                  </a:txBody>
                  <a:tcPr marL="57785" marR="57785" marT="57785" marB="57785">
                    <a:lnL w="0" cap="flat" cmpd="sng" algn="ctr">
                      <a:noFill/>
                    </a:lnL>
                    <a:lnR w="12700" cap="flat" cmpd="sng" algn="ctr">
                      <a:solidFill>
                        <a:srgbClr val="1C2522"/>
                      </a:solidFill>
                      <a:prstDash val="solid"/>
                      <a:round/>
                      <a:headEnd type="none" w="med" len="med"/>
                      <a:tailEnd type="none" w="med" len="med"/>
                    </a:lnR>
                    <a:lnT w="0" cap="flat" cmpd="sng" algn="ctr">
                      <a:noFill/>
                    </a:lnT>
                    <a:lnB w="12700" cap="flat" cmpd="sng" algn="ctr">
                      <a:solidFill>
                        <a:srgbClr val="1C2522"/>
                      </a:solidFill>
                      <a:prstDash val="solid"/>
                      <a:round/>
                      <a:headEnd type="none" w="med" len="med"/>
                      <a:tailEnd type="none" w="med" len="med"/>
                    </a:lnB>
                    <a:solidFill>
                      <a:srgbClr val="1E2A26"/>
                    </a:solidFill>
                  </a:tcPr>
                </a:tc>
                <a:tc>
                  <a:txBody>
                    <a:bodyPr/>
                    <a:lstStyle/>
                    <a:p>
                      <a:pPr marL="0" indent="0">
                        <a:lnSpc>
                          <a:spcPts val="1820"/>
                        </a:lnSpc>
                        <a:buNone/>
                      </a:pPr>
                      <a:r>
                        <a:rPr lang="en-US" sz="1300" b="1" dirty="0">
                          <a:solidFill>
                            <a:srgbClr val="F3F0E8"/>
                          </a:solidFill>
                          <a:latin typeface="Arial" pitchFamily="34" charset="0"/>
                          <a:ea typeface="Arial" pitchFamily="34" charset="-122"/>
                          <a:cs typeface="Arial" pitchFamily="34" charset="-120"/>
                        </a:rPr>
                        <a:t>Inhalt</a:t>
                      </a:r>
                      <a:endParaRPr lang="en-US" sz="1300" dirty="0">
                        <a:latin typeface="Arial" charset="0"/>
                        <a:ea typeface="Arial" charset="0"/>
                        <a:cs typeface="Arial" charset="0"/>
                      </a:endParaRPr>
                    </a:p>
                  </a:txBody>
                  <a:tcPr marL="57785" marR="57785" marT="57785" marB="57785">
                    <a:lnL w="12700" cap="flat" cmpd="sng" algn="ctr">
                      <a:solidFill>
                        <a:srgbClr val="1C2522"/>
                      </a:solidFill>
                      <a:prstDash val="solid"/>
                      <a:round/>
                      <a:headEnd type="none" w="med" len="med"/>
                      <a:tailEnd type="none" w="med" len="med"/>
                    </a:lnL>
                    <a:lnR w="12700" cap="flat" cmpd="sng" algn="ctr">
                      <a:solidFill>
                        <a:srgbClr val="1C2522"/>
                      </a:solidFill>
                      <a:prstDash val="solid"/>
                      <a:round/>
                      <a:headEnd type="none" w="med" len="med"/>
                      <a:tailEnd type="none" w="med" len="med"/>
                    </a:lnR>
                    <a:lnT w="0" cap="flat" cmpd="sng" algn="ctr">
                      <a:noFill/>
                    </a:lnT>
                    <a:lnB w="12700" cap="flat" cmpd="sng" algn="ctr">
                      <a:solidFill>
                        <a:srgbClr val="1C2522"/>
                      </a:solidFill>
                      <a:prstDash val="solid"/>
                      <a:round/>
                      <a:headEnd type="none" w="med" len="med"/>
                      <a:tailEnd type="none" w="med" len="med"/>
                    </a:lnB>
                    <a:solidFill>
                      <a:srgbClr val="1E2A26"/>
                    </a:solidFill>
                  </a:tcPr>
                </a:tc>
                <a:tc>
                  <a:txBody>
                    <a:bodyPr/>
                    <a:lstStyle/>
                    <a:p>
                      <a:pPr marL="0" indent="0">
                        <a:lnSpc>
                          <a:spcPts val="1820"/>
                        </a:lnSpc>
                        <a:buNone/>
                      </a:pPr>
                      <a:r>
                        <a:rPr lang="en-US" sz="1300" b="1" dirty="0">
                          <a:solidFill>
                            <a:srgbClr val="F3F0E8"/>
                          </a:solidFill>
                          <a:latin typeface="Arial" pitchFamily="34" charset="0"/>
                          <a:ea typeface="Arial" pitchFamily="34" charset="-122"/>
                          <a:cs typeface="Arial" pitchFamily="34" charset="-120"/>
                        </a:rPr>
                        <a:t>Rolle</a:t>
                      </a:r>
                      <a:endParaRPr lang="en-US" sz="1300" dirty="0">
                        <a:latin typeface="Arial" charset="0"/>
                        <a:ea typeface="Arial" charset="0"/>
                        <a:cs typeface="Arial" charset="0"/>
                      </a:endParaRPr>
                    </a:p>
                  </a:txBody>
                  <a:tcPr marL="57785" marR="57785" marT="57785" marB="57785">
                    <a:lnL w="12700" cap="flat" cmpd="sng" algn="ctr">
                      <a:solidFill>
                        <a:srgbClr val="1C2522"/>
                      </a:solidFill>
                      <a:prstDash val="solid"/>
                      <a:round/>
                      <a:headEnd type="none" w="med" len="med"/>
                      <a:tailEnd type="none" w="med" len="med"/>
                    </a:lnL>
                    <a:lnR w="12700" cap="flat" cmpd="sng" algn="ctr">
                      <a:solidFill>
                        <a:srgbClr val="1C2522"/>
                      </a:solidFill>
                      <a:prstDash val="solid"/>
                      <a:round/>
                      <a:headEnd type="none" w="med" len="med"/>
                      <a:tailEnd type="none" w="med" len="med"/>
                    </a:lnR>
                    <a:lnT w="0" cap="flat" cmpd="sng" algn="ctr">
                      <a:noFill/>
                    </a:lnT>
                    <a:lnB w="12700" cap="flat" cmpd="sng" algn="ctr">
                      <a:solidFill>
                        <a:srgbClr val="1C2522"/>
                      </a:solidFill>
                      <a:prstDash val="solid"/>
                      <a:round/>
                      <a:headEnd type="none" w="med" len="med"/>
                      <a:tailEnd type="none" w="med" len="med"/>
                    </a:lnB>
                    <a:solidFill>
                      <a:srgbClr val="1E2A26"/>
                    </a:solidFill>
                  </a:tcPr>
                </a:tc>
                <a:extLst>
                  <a:ext uri="{0D108BD9-81ED-4DB2-BD59-A6C34878D82A}">
                    <a16:rowId xmlns:a16="http://schemas.microsoft.com/office/drawing/2014/main" val="10000"/>
                  </a:ext>
                </a:extLst>
              </a:tr>
              <a:tr h="590352">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Open Food Facts</a:t>
                      </a:r>
                      <a:endParaRPr lang="en-US" sz="1300" dirty="0">
                        <a:latin typeface="Arial" charset="0"/>
                        <a:ea typeface="Arial" charset="0"/>
                        <a:cs typeface="Arial" charset="0"/>
                      </a:endParaRPr>
                    </a:p>
                  </a:txBody>
                  <a:tcPr marL="57785" marR="57785" marT="57785" marB="57785">
                    <a:lnL w="0" cap="flat" cmpd="sng" algn="ctr">
                      <a:noFill/>
                    </a:lnL>
                    <a:lnR w="12700" cap="flat" cmpd="sng" algn="ctr">
                      <a:solidFill>
                        <a:srgbClr val="CBCBCB"/>
                      </a:solidFill>
                      <a:prstDash val="solid"/>
                      <a:round/>
                      <a:headEnd type="none" w="med" len="med"/>
                      <a:tailEnd type="none" w="med" len="med"/>
                    </a:lnR>
                    <a:lnT w="12700" cap="flat" cmpd="sng" algn="ctr">
                      <a:solidFill>
                        <a:srgbClr val="1C252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Nährwerte, Nutri-Score, NOVA, Zusatzstoffe, Kategorien</a:t>
                      </a:r>
                      <a:endParaRPr lang="en-US" sz="1300" dirty="0">
                        <a:latin typeface="Arial" charset="0"/>
                        <a:ea typeface="Arial" charset="0"/>
                        <a:cs typeface="Arial"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C252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Hauptquelle</a:t>
                      </a:r>
                      <a:endParaRPr lang="en-US" sz="1300" dirty="0">
                        <a:latin typeface="Arial" charset="0"/>
                        <a:ea typeface="Arial" charset="0"/>
                        <a:cs typeface="Arial"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C252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1"/>
                  </a:ext>
                </a:extLst>
              </a:tr>
              <a:tr h="590352">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UK Food Standards Agency</a:t>
                      </a:r>
                      <a:endParaRPr lang="en-US" sz="1300" dirty="0">
                        <a:latin typeface="Arial" charset="0"/>
                        <a:ea typeface="Arial" charset="0"/>
                        <a:cs typeface="Arial" charset="0"/>
                      </a:endParaRPr>
                    </a:p>
                  </a:txBody>
                  <a:tcPr marL="57785" marR="57785" marT="57785" marB="57785">
                    <a:lnL w="0" cap="flat" cmpd="sng" algn="ctr">
                      <a:noFill/>
                    </a:lnL>
                    <a:lnR w="12700" cap="flat" cmpd="sng" algn="ctr">
                      <a:solidFill>
                        <a:srgbClr val="C4C3B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Ampel-Grenzwerte für Zucker, Fett, Salz</a:t>
                      </a:r>
                      <a:endParaRPr lang="en-US" sz="1300" dirty="0">
                        <a:latin typeface="Arial" charset="0"/>
                        <a:ea typeface="Arial" charset="0"/>
                        <a:cs typeface="Arial"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Referenz für H3</a:t>
                      </a:r>
                      <a:endParaRPr lang="en-US" sz="1300" dirty="0">
                        <a:latin typeface="Arial" charset="0"/>
                        <a:ea typeface="Arial" charset="0"/>
                        <a:cs typeface="Arial"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extLst>
                  <a:ext uri="{0D108BD9-81ED-4DB2-BD59-A6C34878D82A}">
                    <a16:rowId xmlns:a16="http://schemas.microsoft.com/office/drawing/2014/main" val="10002"/>
                  </a:ext>
                </a:extLst>
              </a:tr>
              <a:tr h="590352">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BLV</a:t>
                      </a:r>
                      <a:endParaRPr lang="en-US" sz="1300" dirty="0">
                        <a:latin typeface="Arial" charset="0"/>
                        <a:ea typeface="Arial" charset="0"/>
                        <a:cs typeface="Arial" charset="0"/>
                      </a:endParaRPr>
                    </a:p>
                  </a:txBody>
                  <a:tcPr marL="57785" marR="57785" marT="57785" marB="57785">
                    <a:lnL w="0" cap="flat" cmpd="sng" algn="ctr">
                      <a:noFill/>
                    </a:lnL>
                    <a:lnR w="12700" cap="flat" cmpd="sng" algn="ctr">
                      <a:solidFill>
                        <a:srgbClr val="CBCBC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Liste der Nutri-Score-Marken in der Schweiz</a:t>
                      </a:r>
                      <a:endParaRPr lang="en-US" sz="1300" dirty="0">
                        <a:latin typeface="Arial" charset="0"/>
                        <a:ea typeface="Arial" charset="0"/>
                        <a:cs typeface="Arial"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Kontext</a:t>
                      </a:r>
                      <a:endParaRPr lang="en-US" sz="1300" dirty="0">
                        <a:latin typeface="Arial" charset="0"/>
                        <a:ea typeface="Arial" charset="0"/>
                        <a:cs typeface="Arial"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Shape 4"/>
          <p:cNvSpPr/>
          <p:nvPr/>
        </p:nvSpPr>
        <p:spPr>
          <a:xfrm>
            <a:off x="8585200" y="1828701"/>
            <a:ext cx="2794000" cy="1879402"/>
          </a:xfrm>
          <a:prstGeom prst="roundRect">
            <a:avLst>
              <a:gd name="adj" fmla="val 5406"/>
            </a:avLst>
          </a:prstGeom>
          <a:solidFill>
            <a:srgbClr val="1E2A26"/>
          </a:solidFill>
          <a:ln/>
        </p:spPr>
        <p:txBody>
          <a:bodyPr/>
          <a:lstStyle/>
          <a:p>
            <a:endParaRPr lang="de-CH"/>
          </a:p>
        </p:txBody>
      </p:sp>
      <p:sp>
        <p:nvSpPr>
          <p:cNvPr id="8" name="Text 5"/>
          <p:cNvSpPr/>
          <p:nvPr/>
        </p:nvSpPr>
        <p:spPr>
          <a:xfrm>
            <a:off x="8839200" y="2082701"/>
            <a:ext cx="2354580" cy="533400"/>
          </a:xfrm>
          <a:prstGeom prst="rect">
            <a:avLst/>
          </a:prstGeom>
          <a:noFill/>
          <a:ln/>
        </p:spPr>
        <p:txBody>
          <a:bodyPr wrap="square" lIns="0" tIns="0" rIns="0" bIns="0" rtlCol="0" anchor="t">
            <a:normAutofit/>
          </a:bodyPr>
          <a:lstStyle/>
          <a:p>
            <a:pPr marL="0" indent="0" algn="l">
              <a:lnSpc>
                <a:spcPts val="4000"/>
              </a:lnSpc>
              <a:buNone/>
            </a:pPr>
            <a:r>
              <a:rPr lang="en-US" sz="4000" b="1" dirty="0">
                <a:solidFill>
                  <a:srgbClr val="F0A56B"/>
                </a:solidFill>
                <a:latin typeface="Arial" pitchFamily="34" charset="0"/>
                <a:ea typeface="Arial" pitchFamily="34" charset="-122"/>
                <a:cs typeface="Arial" pitchFamily="34" charset="-120"/>
              </a:rPr>
              <a:t>105'693</a:t>
            </a:r>
            <a:endParaRPr lang="en-US" sz="4000" dirty="0"/>
          </a:p>
        </p:txBody>
      </p:sp>
      <p:sp>
        <p:nvSpPr>
          <p:cNvPr id="9" name="Text 6"/>
          <p:cNvSpPr/>
          <p:nvPr/>
        </p:nvSpPr>
        <p:spPr>
          <a:xfrm>
            <a:off x="8839200" y="2666901"/>
            <a:ext cx="2354580"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F3F0E8"/>
                </a:solidFill>
                <a:latin typeface="Arial" pitchFamily="34" charset="0"/>
                <a:ea typeface="Arial" pitchFamily="34" charset="-122"/>
                <a:cs typeface="Arial" pitchFamily="34" charset="-120"/>
              </a:rPr>
              <a:t>Produkte mit Bezug Schweiz in Open Food Facts</a:t>
            </a:r>
            <a:endParaRPr lang="en-US" sz="1400" dirty="0"/>
          </a:p>
        </p:txBody>
      </p:sp>
      <p:sp>
        <p:nvSpPr>
          <p:cNvPr id="10" name="Text 7"/>
          <p:cNvSpPr/>
          <p:nvPr/>
        </p:nvSpPr>
        <p:spPr>
          <a:xfrm>
            <a:off x="8839200" y="3240782"/>
            <a:ext cx="23545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3CC"/>
                </a:solidFill>
                <a:latin typeface="Arial" pitchFamily="34" charset="0"/>
                <a:ea typeface="Arial" pitchFamily="34" charset="-122"/>
                <a:cs typeface="Arial" pitchFamily="34" charset="-120"/>
              </a:rPr>
              <a:t>Snapshot 6.10.2026</a:t>
            </a:r>
            <a:endParaRPr lang="en-US" sz="1200" dirty="0"/>
          </a:p>
        </p:txBody>
      </p:sp>
      <p:sp>
        <p:nvSpPr>
          <p:cNvPr id="11" name="Text 8"/>
          <p:cNvSpPr/>
          <p:nvPr/>
        </p:nvSpPr>
        <p:spPr>
          <a:xfrm>
            <a:off x="812800" y="4225727"/>
            <a:ext cx="5337048" cy="540941"/>
          </a:xfrm>
          <a:prstGeom prst="rect">
            <a:avLst/>
          </a:prstGeom>
          <a:noFill/>
          <a:ln/>
        </p:spPr>
        <p:txBody>
          <a:bodyPr wrap="square" lIns="0" tIns="0" rIns="0" bIns="0" rtlCol="0" anchor="t">
            <a:normAutofit/>
          </a:bodyPr>
          <a:lstStyle/>
          <a:p>
            <a:pPr marL="0" indent="0" algn="l">
              <a:lnSpc>
                <a:spcPts val="2030"/>
              </a:lnSpc>
              <a:buNone/>
            </a:pPr>
            <a:r>
              <a:rPr lang="en-US" sz="1400" b="1" dirty="0">
                <a:solidFill>
                  <a:srgbClr val="1E2A26"/>
                </a:solidFill>
                <a:latin typeface="Arial" pitchFamily="34" charset="0"/>
                <a:ea typeface="Arial" pitchFamily="34" charset="-122"/>
                <a:cs typeface="Arial" pitchFamily="34" charset="-120"/>
              </a:rPr>
              <a:t>Offene Daten:</a:t>
            </a:r>
            <a:r>
              <a:rPr lang="en-US" sz="1400" dirty="0">
                <a:solidFill>
                  <a:srgbClr val="3E4A45"/>
                </a:solidFill>
                <a:latin typeface="Arial" pitchFamily="34" charset="0"/>
                <a:ea typeface="Arial" pitchFamily="34" charset="-122"/>
                <a:cs typeface="Arial" pitchFamily="34" charset="-120"/>
              </a:rPr>
              <a:t> Lizenz ODbL, frei nutzbar mit Quellenangabe.</a:t>
            </a:r>
            <a:endParaRPr lang="en-US" sz="1400" dirty="0"/>
          </a:p>
        </p:txBody>
      </p:sp>
      <p:sp>
        <p:nvSpPr>
          <p:cNvPr id="12" name="Text 9"/>
          <p:cNvSpPr/>
          <p:nvPr/>
        </p:nvSpPr>
        <p:spPr>
          <a:xfrm>
            <a:off x="6197600" y="4225727"/>
            <a:ext cx="5337048" cy="540941"/>
          </a:xfrm>
          <a:prstGeom prst="rect">
            <a:avLst/>
          </a:prstGeom>
          <a:noFill/>
          <a:ln/>
        </p:spPr>
        <p:txBody>
          <a:bodyPr wrap="square" lIns="0" tIns="0" rIns="0" bIns="0" rtlCol="0" anchor="t">
            <a:normAutofit/>
          </a:bodyPr>
          <a:lstStyle/>
          <a:p>
            <a:pPr marL="0" indent="0" algn="l">
              <a:lnSpc>
                <a:spcPts val="2030"/>
              </a:lnSpc>
              <a:buNone/>
            </a:pPr>
            <a:r>
              <a:rPr lang="en-US" sz="1400" b="1" dirty="0">
                <a:solidFill>
                  <a:srgbClr val="1E2A26"/>
                </a:solidFill>
                <a:latin typeface="Arial" pitchFamily="34" charset="0"/>
                <a:ea typeface="Arial" pitchFamily="34" charset="-122"/>
                <a:cs typeface="Arial" pitchFamily="34" charset="-120"/>
              </a:rPr>
              <a:t>Achtung:</a:t>
            </a:r>
            <a:r>
              <a:rPr lang="en-US" sz="1400" dirty="0">
                <a:solidFill>
                  <a:srgbClr val="3E4A45"/>
                </a:solidFill>
                <a:latin typeface="Arial" pitchFamily="34" charset="0"/>
                <a:ea typeface="Arial" pitchFamily="34" charset="-122"/>
                <a:cs typeface="Arial" pitchFamily="34" charset="-120"/>
              </a:rPr>
              <a:t> Daten von Freiwilligen erfasst, also lückenhaft und fehleranfällig.</a:t>
            </a:r>
            <a:endParaRPr lang="en-US" sz="14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660"/>
                </a:solidFill>
                <a:latin typeface="Arial" pitchFamily="34" charset="0"/>
                <a:ea typeface="Arial" pitchFamily="34" charset="-122"/>
                <a:cs typeface="Arial" pitchFamily="34" charset="-120"/>
              </a:rPr>
              <a:t>Quellen: Open Food Facts (2026); BLV (2025) · 09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F7A"/>
                </a:solidFill>
                <a:latin typeface="Arial" pitchFamily="34" charset="0"/>
                <a:ea typeface="Arial" pitchFamily="34" charset="-122"/>
                <a:cs typeface="Arial" pitchFamily="34" charset="-120"/>
              </a:rPr>
              <a:t>INGESTION · DATENBESCHAFFUNG</a:t>
            </a:r>
            <a:endParaRPr lang="en-US" sz="1200" dirty="0"/>
          </a:p>
        </p:txBody>
      </p:sp>
      <p:sp>
        <p:nvSpPr>
          <p:cNvPr id="3" name="Text 1"/>
          <p:cNvSpPr>
            <a:spLocks noGrp="1"/>
          </p:cNvSpPr>
          <p:nvPr>
            <p:ph type="title"/>
          </p:nvPr>
        </p:nvSpPr>
        <p:spPr>
          <a:xfrm>
            <a:off x="812800" y="11277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E2A26"/>
                </a:solidFill>
                <a:latin typeface="Arial" pitchFamily="34" charset="0"/>
                <a:ea typeface="Arial" pitchFamily="34" charset="-122"/>
                <a:cs typeface="Arial" pitchFamily="34" charset="-120"/>
              </a:rPr>
              <a:t>Batch-Import aus dem nächtlichen Export</a:t>
            </a:r>
            <a:endParaRPr lang="en-US" sz="3200" dirty="0"/>
          </a:p>
        </p:txBody>
      </p:sp>
      <p:sp>
        <p:nvSpPr>
          <p:cNvPr id="4" name="Shape 2"/>
          <p:cNvSpPr/>
          <p:nvPr/>
        </p:nvSpPr>
        <p:spPr>
          <a:xfrm>
            <a:off x="819150" y="1885851"/>
            <a:ext cx="2311400" cy="1059061"/>
          </a:xfrm>
          <a:prstGeom prst="roundRect">
            <a:avLst>
              <a:gd name="adj" fmla="val 6595"/>
            </a:avLst>
          </a:prstGeom>
          <a:solidFill>
            <a:srgbClr val="FFFFFF"/>
          </a:solidFill>
          <a:ln w="12700">
            <a:solidFill>
              <a:srgbClr val="1E2A26"/>
            </a:solidFill>
            <a:prstDash val="solid"/>
          </a:ln>
        </p:spPr>
        <p:txBody>
          <a:bodyPr/>
          <a:lstStyle/>
          <a:p>
            <a:endParaRPr lang="de-CH"/>
          </a:p>
        </p:txBody>
      </p:sp>
      <p:sp>
        <p:nvSpPr>
          <p:cNvPr id="5" name="Text 3"/>
          <p:cNvSpPr/>
          <p:nvPr/>
        </p:nvSpPr>
        <p:spPr>
          <a:xfrm>
            <a:off x="1003300" y="2070001"/>
            <a:ext cx="2001393"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E2A26"/>
                </a:solidFill>
                <a:latin typeface="Arial" pitchFamily="34" charset="0"/>
                <a:ea typeface="Arial" pitchFamily="34" charset="-122"/>
                <a:cs typeface="Arial" pitchFamily="34" charset="-120"/>
              </a:rPr>
              <a:t>Export laden</a:t>
            </a:r>
            <a:endParaRPr lang="en-US" sz="1400" dirty="0"/>
          </a:p>
        </p:txBody>
      </p:sp>
      <p:sp>
        <p:nvSpPr>
          <p:cNvPr id="6" name="Text 4"/>
          <p:cNvSpPr/>
          <p:nvPr/>
        </p:nvSpPr>
        <p:spPr>
          <a:xfrm>
            <a:off x="1003300" y="2334121"/>
            <a:ext cx="2001393"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45"/>
                </a:solidFill>
                <a:latin typeface="Arial" pitchFamily="34" charset="0"/>
                <a:ea typeface="Arial" pitchFamily="34" charset="-122"/>
                <a:cs typeface="Arial" pitchFamily="34" charset="-120"/>
              </a:rPr>
              <a:t>Parquet-Datei von Hugging Face</a:t>
            </a:r>
            <a:endParaRPr lang="en-US" sz="1200" dirty="0"/>
          </a:p>
        </p:txBody>
      </p:sp>
      <p:sp>
        <p:nvSpPr>
          <p:cNvPr id="7" name="Text 5"/>
          <p:cNvSpPr/>
          <p:nvPr/>
        </p:nvSpPr>
        <p:spPr>
          <a:xfrm>
            <a:off x="3213100" y="2219821"/>
            <a:ext cx="335280"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2F5F7A"/>
                </a:solidFill>
                <a:latin typeface="Arial" pitchFamily="34" charset="0"/>
                <a:ea typeface="Arial" pitchFamily="34" charset="-122"/>
                <a:cs typeface="Arial" pitchFamily="34" charset="-120"/>
              </a:rPr>
              <a:t>→</a:t>
            </a:r>
            <a:endParaRPr lang="en-US" sz="2200" dirty="0"/>
          </a:p>
        </p:txBody>
      </p:sp>
      <p:sp>
        <p:nvSpPr>
          <p:cNvPr id="8" name="Shape 6"/>
          <p:cNvSpPr/>
          <p:nvPr/>
        </p:nvSpPr>
        <p:spPr>
          <a:xfrm>
            <a:off x="3575050" y="1885851"/>
            <a:ext cx="2311400" cy="1059061"/>
          </a:xfrm>
          <a:prstGeom prst="roundRect">
            <a:avLst>
              <a:gd name="adj" fmla="val 6595"/>
            </a:avLst>
          </a:prstGeom>
          <a:solidFill>
            <a:srgbClr val="FFFFFF"/>
          </a:solidFill>
          <a:ln w="12700">
            <a:solidFill>
              <a:srgbClr val="1E2A26"/>
            </a:solidFill>
            <a:prstDash val="solid"/>
          </a:ln>
        </p:spPr>
        <p:txBody>
          <a:bodyPr/>
          <a:lstStyle/>
          <a:p>
            <a:endParaRPr lang="de-CH"/>
          </a:p>
        </p:txBody>
      </p:sp>
      <p:sp>
        <p:nvSpPr>
          <p:cNvPr id="9" name="Text 7"/>
          <p:cNvSpPr/>
          <p:nvPr/>
        </p:nvSpPr>
        <p:spPr>
          <a:xfrm>
            <a:off x="3759200" y="2070001"/>
            <a:ext cx="2001393"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E2A26"/>
                </a:solidFill>
                <a:latin typeface="Arial" pitchFamily="34" charset="0"/>
                <a:ea typeface="Arial" pitchFamily="34" charset="-122"/>
                <a:cs typeface="Arial" pitchFamily="34" charset="-120"/>
              </a:rPr>
              <a:t>Filtern</a:t>
            </a:r>
            <a:endParaRPr lang="en-US" sz="1400" dirty="0"/>
          </a:p>
        </p:txBody>
      </p:sp>
      <p:sp>
        <p:nvSpPr>
          <p:cNvPr id="10" name="Text 8"/>
          <p:cNvSpPr/>
          <p:nvPr/>
        </p:nvSpPr>
        <p:spPr>
          <a:xfrm>
            <a:off x="3759200" y="2334121"/>
            <a:ext cx="2001393"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45"/>
                </a:solidFill>
                <a:latin typeface="Arial" pitchFamily="34" charset="0"/>
                <a:ea typeface="Arial" pitchFamily="34" charset="-122"/>
                <a:cs typeface="Arial" pitchFamily="34" charset="-120"/>
              </a:rPr>
              <a:t>Nur Produkte mit Land Schweiz</a:t>
            </a:r>
            <a:endParaRPr lang="en-US" sz="1200" dirty="0"/>
          </a:p>
        </p:txBody>
      </p:sp>
      <p:sp>
        <p:nvSpPr>
          <p:cNvPr id="11" name="Text 9"/>
          <p:cNvSpPr/>
          <p:nvPr/>
        </p:nvSpPr>
        <p:spPr>
          <a:xfrm>
            <a:off x="5969000" y="2219821"/>
            <a:ext cx="335280"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2F5F7A"/>
                </a:solidFill>
                <a:latin typeface="Arial" pitchFamily="34" charset="0"/>
                <a:ea typeface="Arial" pitchFamily="34" charset="-122"/>
                <a:cs typeface="Arial" pitchFamily="34" charset="-120"/>
              </a:rPr>
              <a:t>→</a:t>
            </a:r>
            <a:endParaRPr lang="en-US" sz="2200" dirty="0"/>
          </a:p>
        </p:txBody>
      </p:sp>
      <p:sp>
        <p:nvSpPr>
          <p:cNvPr id="12" name="Shape 10"/>
          <p:cNvSpPr/>
          <p:nvPr/>
        </p:nvSpPr>
        <p:spPr>
          <a:xfrm>
            <a:off x="6330950" y="1885851"/>
            <a:ext cx="2311400" cy="1059061"/>
          </a:xfrm>
          <a:prstGeom prst="roundRect">
            <a:avLst>
              <a:gd name="adj" fmla="val 6595"/>
            </a:avLst>
          </a:prstGeom>
          <a:solidFill>
            <a:srgbClr val="FFFFFF"/>
          </a:solidFill>
          <a:ln w="12700">
            <a:solidFill>
              <a:srgbClr val="1E2A26"/>
            </a:solidFill>
            <a:prstDash val="solid"/>
          </a:ln>
        </p:spPr>
        <p:txBody>
          <a:bodyPr/>
          <a:lstStyle/>
          <a:p>
            <a:endParaRPr lang="de-CH"/>
          </a:p>
        </p:txBody>
      </p:sp>
      <p:sp>
        <p:nvSpPr>
          <p:cNvPr id="13" name="Text 11"/>
          <p:cNvSpPr/>
          <p:nvPr/>
        </p:nvSpPr>
        <p:spPr>
          <a:xfrm>
            <a:off x="6515100" y="2070001"/>
            <a:ext cx="2001393"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E2A26"/>
                </a:solidFill>
                <a:latin typeface="Arial" pitchFamily="34" charset="0"/>
                <a:ea typeface="Arial" pitchFamily="34" charset="-122"/>
                <a:cs typeface="Arial" pitchFamily="34" charset="-120"/>
              </a:rPr>
              <a:t>Auswählen</a:t>
            </a:r>
            <a:endParaRPr lang="en-US" sz="1400" dirty="0"/>
          </a:p>
        </p:txBody>
      </p:sp>
      <p:sp>
        <p:nvSpPr>
          <p:cNvPr id="14" name="Text 12"/>
          <p:cNvSpPr/>
          <p:nvPr/>
        </p:nvSpPr>
        <p:spPr>
          <a:xfrm>
            <a:off x="6515100" y="2334121"/>
            <a:ext cx="2001393"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45"/>
                </a:solidFill>
                <a:latin typeface="Arial" pitchFamily="34" charset="0"/>
                <a:ea typeface="Arial" pitchFamily="34" charset="-122"/>
                <a:cs typeface="Arial" pitchFamily="34" charset="-120"/>
              </a:rPr>
              <a:t>15 relevante Spalten, Nährwerte entpackt</a:t>
            </a:r>
            <a:endParaRPr lang="en-US" sz="1200" dirty="0"/>
          </a:p>
        </p:txBody>
      </p:sp>
      <p:sp>
        <p:nvSpPr>
          <p:cNvPr id="15" name="Text 13"/>
          <p:cNvSpPr/>
          <p:nvPr/>
        </p:nvSpPr>
        <p:spPr>
          <a:xfrm>
            <a:off x="8724900" y="2219821"/>
            <a:ext cx="335280"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2F5F7A"/>
                </a:solidFill>
                <a:latin typeface="Arial" pitchFamily="34" charset="0"/>
                <a:ea typeface="Arial" pitchFamily="34" charset="-122"/>
                <a:cs typeface="Arial" pitchFamily="34" charset="-120"/>
              </a:rPr>
              <a:t>→</a:t>
            </a:r>
            <a:endParaRPr lang="en-US" sz="2200" dirty="0"/>
          </a:p>
        </p:txBody>
      </p:sp>
      <p:sp>
        <p:nvSpPr>
          <p:cNvPr id="16" name="Shape 14"/>
          <p:cNvSpPr/>
          <p:nvPr/>
        </p:nvSpPr>
        <p:spPr>
          <a:xfrm>
            <a:off x="9080500" y="1879501"/>
            <a:ext cx="2298700" cy="1071761"/>
          </a:xfrm>
          <a:prstGeom prst="roundRect">
            <a:avLst>
              <a:gd name="adj" fmla="val 7110"/>
            </a:avLst>
          </a:prstGeom>
          <a:solidFill>
            <a:srgbClr val="1E2A26"/>
          </a:solidFill>
          <a:ln/>
        </p:spPr>
        <p:txBody>
          <a:bodyPr/>
          <a:lstStyle/>
          <a:p>
            <a:endParaRPr lang="de-CH"/>
          </a:p>
        </p:txBody>
      </p:sp>
      <p:sp>
        <p:nvSpPr>
          <p:cNvPr id="17" name="Text 15"/>
          <p:cNvSpPr/>
          <p:nvPr/>
        </p:nvSpPr>
        <p:spPr>
          <a:xfrm>
            <a:off x="9258300" y="2057301"/>
            <a:ext cx="2001393"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F3F0E8"/>
                </a:solidFill>
                <a:latin typeface="Arial" pitchFamily="34" charset="0"/>
                <a:ea typeface="Arial" pitchFamily="34" charset="-122"/>
                <a:cs typeface="Arial" pitchFamily="34" charset="-120"/>
              </a:rPr>
              <a:t>Ablegen</a:t>
            </a:r>
            <a:endParaRPr lang="en-US" sz="1400" dirty="0"/>
          </a:p>
        </p:txBody>
      </p:sp>
      <p:sp>
        <p:nvSpPr>
          <p:cNvPr id="18" name="Text 16"/>
          <p:cNvSpPr/>
          <p:nvPr/>
        </p:nvSpPr>
        <p:spPr>
          <a:xfrm>
            <a:off x="9258300" y="2321421"/>
            <a:ext cx="2001393"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3CC"/>
                </a:solidFill>
                <a:latin typeface="Arial" pitchFamily="34" charset="0"/>
                <a:ea typeface="Arial" pitchFamily="34" charset="-122"/>
                <a:cs typeface="Arial" pitchFamily="34" charset="-120"/>
              </a:rPr>
              <a:t>Bronze-Stufe, mit Datum im Namen</a:t>
            </a:r>
            <a:endParaRPr lang="en-US" sz="1200" dirty="0"/>
          </a:p>
        </p:txBody>
      </p:sp>
      <p:sp>
        <p:nvSpPr>
          <p:cNvPr id="19" name="Shape 17"/>
          <p:cNvSpPr/>
          <p:nvPr/>
        </p:nvSpPr>
        <p:spPr>
          <a:xfrm>
            <a:off x="815975" y="3259237"/>
            <a:ext cx="5175250" cy="1262162"/>
          </a:xfrm>
          <a:prstGeom prst="roundRect">
            <a:avLst>
              <a:gd name="adj" fmla="val 7798"/>
            </a:avLst>
          </a:prstGeom>
          <a:solidFill>
            <a:srgbClr val="FFFFFF"/>
          </a:solidFill>
          <a:ln w="6350">
            <a:solidFill>
              <a:srgbClr val="DDD8CC"/>
            </a:solidFill>
            <a:prstDash val="solid"/>
          </a:ln>
        </p:spPr>
        <p:txBody>
          <a:bodyPr/>
          <a:lstStyle/>
          <a:p>
            <a:endParaRPr lang="de-CH"/>
          </a:p>
        </p:txBody>
      </p:sp>
      <p:sp>
        <p:nvSpPr>
          <p:cNvPr id="20" name="Text 18"/>
          <p:cNvSpPr/>
          <p:nvPr/>
        </p:nvSpPr>
        <p:spPr>
          <a:xfrm>
            <a:off x="1047750" y="3491012"/>
            <a:ext cx="485305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E2A26"/>
                </a:solidFill>
                <a:latin typeface="Arial" pitchFamily="34" charset="0"/>
                <a:ea typeface="Arial" pitchFamily="34" charset="-122"/>
                <a:cs typeface="Arial" pitchFamily="34" charset="-120"/>
              </a:rPr>
              <a:t>Warum Batch statt Streaming?</a:t>
            </a:r>
            <a:endParaRPr lang="en-US" sz="1600" dirty="0"/>
          </a:p>
        </p:txBody>
      </p:sp>
      <p:sp>
        <p:nvSpPr>
          <p:cNvPr id="21" name="Text 19"/>
          <p:cNvSpPr/>
          <p:nvPr/>
        </p:nvSpPr>
        <p:spPr>
          <a:xfrm>
            <a:off x="1047750" y="3810992"/>
            <a:ext cx="4853051" cy="504031"/>
          </a:xfrm>
          <a:prstGeom prst="rect">
            <a:avLst/>
          </a:prstGeom>
          <a:noFill/>
          <a:ln/>
        </p:spPr>
        <p:txBody>
          <a:bodyPr wrap="square" lIns="0" tIns="0" rIns="0" bIns="0" rtlCol="0" anchor="t">
            <a:normAutofit/>
          </a:bodyPr>
          <a:lstStyle/>
          <a:p>
            <a:pPr marL="0" indent="0" algn="l">
              <a:lnSpc>
                <a:spcPts val="1885"/>
              </a:lnSpc>
              <a:buNone/>
            </a:pPr>
            <a:r>
              <a:rPr lang="en-US" sz="1300" dirty="0">
                <a:solidFill>
                  <a:srgbClr val="3E4A45"/>
                </a:solidFill>
                <a:latin typeface="Arial" pitchFamily="34" charset="0"/>
                <a:ea typeface="Arial" pitchFamily="34" charset="-122"/>
                <a:cs typeface="Arial" pitchFamily="34" charset="-120"/>
              </a:rPr>
              <a:t>Die Quelle aktualisiert nur einmal pro Nacht, und unsere Analyse ist nicht zeitkritisch.</a:t>
            </a:r>
            <a:endParaRPr lang="en-US" sz="1300" dirty="0"/>
          </a:p>
        </p:txBody>
      </p:sp>
      <p:sp>
        <p:nvSpPr>
          <p:cNvPr id="22" name="Shape 20"/>
          <p:cNvSpPr/>
          <p:nvPr/>
        </p:nvSpPr>
        <p:spPr>
          <a:xfrm>
            <a:off x="6200775" y="3259237"/>
            <a:ext cx="5175250" cy="1262162"/>
          </a:xfrm>
          <a:prstGeom prst="roundRect">
            <a:avLst>
              <a:gd name="adj" fmla="val 7798"/>
            </a:avLst>
          </a:prstGeom>
          <a:solidFill>
            <a:srgbClr val="FFFFFF"/>
          </a:solidFill>
          <a:ln w="6350">
            <a:solidFill>
              <a:srgbClr val="DDD8CC"/>
            </a:solidFill>
            <a:prstDash val="solid"/>
          </a:ln>
        </p:spPr>
        <p:txBody>
          <a:bodyPr/>
          <a:lstStyle/>
          <a:p>
            <a:endParaRPr lang="de-CH"/>
          </a:p>
        </p:txBody>
      </p:sp>
      <p:sp>
        <p:nvSpPr>
          <p:cNvPr id="23" name="Text 21"/>
          <p:cNvSpPr/>
          <p:nvPr/>
        </p:nvSpPr>
        <p:spPr>
          <a:xfrm>
            <a:off x="6432550" y="3491012"/>
            <a:ext cx="485305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E2A26"/>
                </a:solidFill>
                <a:latin typeface="Arial" pitchFamily="34" charset="0"/>
                <a:ea typeface="Arial" pitchFamily="34" charset="-122"/>
                <a:cs typeface="Arial" pitchFamily="34" charset="-120"/>
              </a:rPr>
              <a:t>Warum Export statt API?</a:t>
            </a:r>
            <a:endParaRPr lang="en-US" sz="1600" dirty="0"/>
          </a:p>
        </p:txBody>
      </p:sp>
      <p:sp>
        <p:nvSpPr>
          <p:cNvPr id="24" name="Text 22"/>
          <p:cNvSpPr/>
          <p:nvPr/>
        </p:nvSpPr>
        <p:spPr>
          <a:xfrm>
            <a:off x="6432550" y="3810992"/>
            <a:ext cx="4853051" cy="504031"/>
          </a:xfrm>
          <a:prstGeom prst="rect">
            <a:avLst/>
          </a:prstGeom>
          <a:noFill/>
          <a:ln/>
        </p:spPr>
        <p:txBody>
          <a:bodyPr wrap="square" lIns="0" tIns="0" rIns="0" bIns="0" rtlCol="0" anchor="t">
            <a:normAutofit/>
          </a:bodyPr>
          <a:lstStyle/>
          <a:p>
            <a:pPr marL="0" indent="0" algn="l">
              <a:lnSpc>
                <a:spcPts val="1885"/>
              </a:lnSpc>
              <a:buNone/>
            </a:pPr>
            <a:r>
              <a:rPr lang="en-US" sz="1300" dirty="0">
                <a:solidFill>
                  <a:srgbClr val="3E4A45"/>
                </a:solidFill>
                <a:latin typeface="Arial" pitchFamily="34" charset="0"/>
                <a:ea typeface="Arial" pitchFamily="34" charset="-122"/>
                <a:cs typeface="Arial" pitchFamily="34" charset="-120"/>
              </a:rPr>
              <a:t>Die API ist für Einzelabfragen gedacht. Massenabfragen werden blockiert, der Export ist der vorgesehene Weg.</a:t>
            </a:r>
            <a:endParaRPr lang="en-US" sz="1300" dirty="0"/>
          </a:p>
        </p:txBody>
      </p:sp>
      <p:sp>
        <p:nvSpPr>
          <p:cNvPr id="25" name="Text 23"/>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660"/>
                </a:solidFill>
                <a:latin typeface="Arial" pitchFamily="34" charset="0"/>
                <a:ea typeface="Arial" pitchFamily="34" charset="-122"/>
                <a:cs typeface="Arial" pitchFamily="34" charset="-120"/>
              </a:rPr>
              <a:t>Gesamtdatenbank als CSV: ca. 0,9 GB komprimiert, ca. 9 GB entpackt (Open Food Facts, 2026) ·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F7A"/>
                </a:solidFill>
                <a:latin typeface="Arial" pitchFamily="34" charset="0"/>
                <a:ea typeface="Arial" pitchFamily="34" charset="-122"/>
                <a:cs typeface="Arial" pitchFamily="34" charset="-120"/>
              </a:rPr>
              <a:t>STORAGE · EVALUATION</a:t>
            </a:r>
            <a:endParaRPr lang="en-US" sz="1200" dirty="0"/>
          </a:p>
        </p:txBody>
      </p:sp>
      <p:sp>
        <p:nvSpPr>
          <p:cNvPr id="3" name="Text 1"/>
          <p:cNvSpPr>
            <a:spLocks noGrp="1"/>
          </p:cNvSpPr>
          <p:nvPr>
            <p:ph type="title"/>
          </p:nvPr>
        </p:nvSpPr>
        <p:spPr>
          <a:xfrm>
            <a:off x="812800" y="11277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E2A26"/>
                </a:solidFill>
                <a:latin typeface="Arial" pitchFamily="34" charset="0"/>
                <a:ea typeface="Arial" pitchFamily="34" charset="-122"/>
                <a:cs typeface="Arial" pitchFamily="34" charset="-120"/>
              </a:rPr>
              <a:t>Drei Optionen im Vergleich</a:t>
            </a:r>
            <a:endParaRPr lang="en-US" sz="3200" dirty="0"/>
          </a:p>
        </p:txBody>
      </p:sp>
      <p:sp>
        <p:nvSpPr>
          <p:cNvPr id="4" name="Shape 2"/>
          <p:cNvSpPr/>
          <p:nvPr/>
        </p:nvSpPr>
        <p:spPr>
          <a:xfrm>
            <a:off x="812800" y="1828701"/>
            <a:ext cx="10566400" cy="2168327"/>
          </a:xfrm>
          <a:prstGeom prst="roundRect">
            <a:avLst>
              <a:gd name="adj" fmla="val 3514"/>
            </a:avLst>
          </a:prstGeom>
          <a:solidFill>
            <a:srgbClr val="FFFFFF"/>
          </a:solidFill>
          <a:ln/>
        </p:spPr>
        <p:txBody>
          <a:bodyPr/>
          <a:lstStyle/>
          <a:p>
            <a:endParaRPr lang="de-CH"/>
          </a:p>
        </p:txBody>
      </p:sp>
      <p:sp>
        <p:nvSpPr>
          <p:cNvPr id="5" name="Shape 3"/>
          <p:cNvSpPr/>
          <p:nvPr/>
        </p:nvSpPr>
        <p:spPr>
          <a:xfrm>
            <a:off x="812800" y="1828701"/>
            <a:ext cx="10566400" cy="2168327"/>
          </a:xfrm>
          <a:custGeom>
            <a:avLst/>
            <a:gdLst/>
            <a:ahLst/>
            <a:cxnLst/>
            <a:rect l="l" t="t" r="r" b="b"/>
            <a:pathLst>
              <a:path w="10566400" h="2168327">
                <a:moveTo>
                  <a:pt x="76200" y="2168327"/>
                </a:moveTo>
                <a:lnTo>
                  <a:pt x="76200" y="2168327"/>
                </a:lnTo>
                <a:arcTo wR="76200" hR="76200" stAng="5400000" swAng="5400000"/>
                <a:lnTo>
                  <a:pt x="0" y="76200"/>
                </a:lnTo>
                <a:arcTo wR="76200" hR="76200" stAng="10800000" swAng="5400000"/>
                <a:lnTo>
                  <a:pt x="10490200" y="0"/>
                </a:lnTo>
                <a:arcTo wR="76200" hR="76200" stAng="16200000" swAng="5400000"/>
                <a:lnTo>
                  <a:pt x="10566400" y="76200"/>
                </a:lnTo>
                <a:arcTo wR="76200" hR="63500" stAng="0" swAng="-5400000"/>
                <a:lnTo>
                  <a:pt x="76200" y="12700"/>
                </a:lnTo>
                <a:arcTo wR="63500" hR="63500" stAng="16200000" swAng="-5400000"/>
                <a:lnTo>
                  <a:pt x="12700" y="2092127"/>
                </a:lnTo>
                <a:arcTo wR="63500" hR="76200" stAng="10800000" swAng="-5400000"/>
                <a:close/>
              </a:path>
            </a:pathLst>
          </a:custGeom>
          <a:solidFill>
            <a:srgbClr val="141413">
              <a:alpha val="22000"/>
            </a:srgbClr>
          </a:solidFill>
          <a:ln/>
        </p:spPr>
        <p:txBody>
          <a:bodyPr/>
          <a:lstStyle/>
          <a:p>
            <a:endParaRPr lang="de-CH"/>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1841401"/>
          <a:ext cx="10553700" cy="2155626"/>
        </p:xfrm>
        <a:graphic>
          <a:graphicData uri="http://schemas.openxmlformats.org/drawingml/2006/table">
            <a:tbl>
              <a:tblPr/>
              <a:tblGrid>
                <a:gridCol w="3271647">
                  <a:extLst>
                    <a:ext uri="{9D8B030D-6E8A-4147-A177-3AD203B41FA5}">
                      <a16:colId xmlns:a16="http://schemas.microsoft.com/office/drawing/2014/main" val="20000"/>
                    </a:ext>
                  </a:extLst>
                </a:gridCol>
                <a:gridCol w="2321814">
                  <a:extLst>
                    <a:ext uri="{9D8B030D-6E8A-4147-A177-3AD203B41FA5}">
                      <a16:colId xmlns:a16="http://schemas.microsoft.com/office/drawing/2014/main" val="20001"/>
                    </a:ext>
                  </a:extLst>
                </a:gridCol>
                <a:gridCol w="2321814">
                  <a:extLst>
                    <a:ext uri="{9D8B030D-6E8A-4147-A177-3AD203B41FA5}">
                      <a16:colId xmlns:a16="http://schemas.microsoft.com/office/drawing/2014/main" val="20002"/>
                    </a:ext>
                  </a:extLst>
                </a:gridCol>
                <a:gridCol w="2638425">
                  <a:extLst>
                    <a:ext uri="{9D8B030D-6E8A-4147-A177-3AD203B41FA5}">
                      <a16:colId xmlns:a16="http://schemas.microsoft.com/office/drawing/2014/main" val="20003"/>
                    </a:ext>
                  </a:extLst>
                </a:gridCol>
              </a:tblGrid>
              <a:tr h="359271">
                <a:tc>
                  <a:txBody>
                    <a:bodyPr/>
                    <a:lstStyle/>
                    <a:p>
                      <a:pPr marL="0" indent="0">
                        <a:lnSpc>
                          <a:spcPts val="1820"/>
                        </a:lnSpc>
                        <a:buNone/>
                      </a:pPr>
                      <a:r>
                        <a:rPr lang="en-US" sz="1300" b="1" dirty="0">
                          <a:solidFill>
                            <a:srgbClr val="F3F0E8"/>
                          </a:solidFill>
                          <a:latin typeface="Arial" pitchFamily="34" charset="0"/>
                          <a:ea typeface="Arial" pitchFamily="34" charset="-122"/>
                          <a:cs typeface="Arial" pitchFamily="34" charset="-120"/>
                        </a:rPr>
                        <a:t>Kriterium</a:t>
                      </a:r>
                      <a:endParaRPr lang="en-US" sz="1300" dirty="0">
                        <a:latin typeface="Arial" charset="0"/>
                        <a:ea typeface="Arial" charset="0"/>
                        <a:cs typeface="Arial" charset="0"/>
                      </a:endParaRPr>
                    </a:p>
                  </a:txBody>
                  <a:tcPr marL="57785" marR="57785" marT="57785" marB="57785">
                    <a:lnL w="0" cap="flat" cmpd="sng" algn="ctr">
                      <a:noFill/>
                    </a:lnL>
                    <a:lnR w="12700" cap="flat" cmpd="sng" algn="ctr">
                      <a:solidFill>
                        <a:srgbClr val="1C2522"/>
                      </a:solidFill>
                      <a:prstDash val="solid"/>
                      <a:round/>
                      <a:headEnd type="none" w="med" len="med"/>
                      <a:tailEnd type="none" w="med" len="med"/>
                    </a:lnR>
                    <a:lnT w="0" cap="flat" cmpd="sng" algn="ctr">
                      <a:noFill/>
                    </a:lnT>
                    <a:lnB w="12700" cap="flat" cmpd="sng" algn="ctr">
                      <a:solidFill>
                        <a:srgbClr val="1C2522"/>
                      </a:solidFill>
                      <a:prstDash val="solid"/>
                      <a:round/>
                      <a:headEnd type="none" w="med" len="med"/>
                      <a:tailEnd type="none" w="med" len="med"/>
                    </a:lnB>
                    <a:solidFill>
                      <a:srgbClr val="1E2A26"/>
                    </a:solidFill>
                  </a:tcPr>
                </a:tc>
                <a:tc>
                  <a:txBody>
                    <a:bodyPr/>
                    <a:lstStyle/>
                    <a:p>
                      <a:pPr marL="0" indent="0">
                        <a:lnSpc>
                          <a:spcPts val="1820"/>
                        </a:lnSpc>
                        <a:buNone/>
                      </a:pPr>
                      <a:r>
                        <a:rPr lang="en-US" sz="1300" b="1" dirty="0">
                          <a:solidFill>
                            <a:srgbClr val="F3F0E8"/>
                          </a:solidFill>
                          <a:latin typeface="Arial" pitchFamily="34" charset="0"/>
                          <a:ea typeface="Arial" pitchFamily="34" charset="-122"/>
                          <a:cs typeface="Arial" pitchFamily="34" charset="-120"/>
                        </a:rPr>
                        <a:t>PostgreSQL</a:t>
                      </a:r>
                      <a:endParaRPr lang="en-US" sz="1300" dirty="0">
                        <a:latin typeface="Arial" charset="0"/>
                        <a:ea typeface="Arial" charset="0"/>
                        <a:cs typeface="Arial" charset="0"/>
                      </a:endParaRPr>
                    </a:p>
                  </a:txBody>
                  <a:tcPr marL="57785" marR="57785" marT="57785" marB="57785">
                    <a:lnL w="12700" cap="flat" cmpd="sng" algn="ctr">
                      <a:solidFill>
                        <a:srgbClr val="1C2522"/>
                      </a:solidFill>
                      <a:prstDash val="solid"/>
                      <a:round/>
                      <a:headEnd type="none" w="med" len="med"/>
                      <a:tailEnd type="none" w="med" len="med"/>
                    </a:lnL>
                    <a:lnR w="12700" cap="flat" cmpd="sng" algn="ctr">
                      <a:solidFill>
                        <a:srgbClr val="1C2522"/>
                      </a:solidFill>
                      <a:prstDash val="solid"/>
                      <a:round/>
                      <a:headEnd type="none" w="med" len="med"/>
                      <a:tailEnd type="none" w="med" len="med"/>
                    </a:lnR>
                    <a:lnT w="0" cap="flat" cmpd="sng" algn="ctr">
                      <a:noFill/>
                    </a:lnT>
                    <a:lnB w="12700" cap="flat" cmpd="sng" algn="ctr">
                      <a:solidFill>
                        <a:srgbClr val="1C2522"/>
                      </a:solidFill>
                      <a:prstDash val="solid"/>
                      <a:round/>
                      <a:headEnd type="none" w="med" len="med"/>
                      <a:tailEnd type="none" w="med" len="med"/>
                    </a:lnB>
                    <a:solidFill>
                      <a:srgbClr val="1E2A26"/>
                    </a:solidFill>
                  </a:tcPr>
                </a:tc>
                <a:tc>
                  <a:txBody>
                    <a:bodyPr/>
                    <a:lstStyle/>
                    <a:p>
                      <a:pPr marL="0" indent="0">
                        <a:lnSpc>
                          <a:spcPts val="1820"/>
                        </a:lnSpc>
                        <a:buNone/>
                      </a:pPr>
                      <a:r>
                        <a:rPr lang="en-US" sz="1300" b="1" dirty="0">
                          <a:solidFill>
                            <a:srgbClr val="F3F0E8"/>
                          </a:solidFill>
                          <a:latin typeface="Arial" pitchFamily="34" charset="0"/>
                          <a:ea typeface="Arial" pitchFamily="34" charset="-122"/>
                          <a:cs typeface="Arial" pitchFamily="34" charset="-120"/>
                        </a:rPr>
                        <a:t>MongoDB</a:t>
                      </a:r>
                      <a:endParaRPr lang="en-US" sz="1300" dirty="0">
                        <a:latin typeface="Arial" charset="0"/>
                        <a:ea typeface="Arial" charset="0"/>
                        <a:cs typeface="Arial" charset="0"/>
                      </a:endParaRPr>
                    </a:p>
                  </a:txBody>
                  <a:tcPr marL="57785" marR="57785" marT="57785" marB="57785">
                    <a:lnL w="12700" cap="flat" cmpd="sng" algn="ctr">
                      <a:solidFill>
                        <a:srgbClr val="1C2522"/>
                      </a:solidFill>
                      <a:prstDash val="solid"/>
                      <a:round/>
                      <a:headEnd type="none" w="med" len="med"/>
                      <a:tailEnd type="none" w="med" len="med"/>
                    </a:lnL>
                    <a:lnR w="12700" cap="flat" cmpd="sng" algn="ctr">
                      <a:solidFill>
                        <a:srgbClr val="1C2522"/>
                      </a:solidFill>
                      <a:prstDash val="solid"/>
                      <a:round/>
                      <a:headEnd type="none" w="med" len="med"/>
                      <a:tailEnd type="none" w="med" len="med"/>
                    </a:lnR>
                    <a:lnT w="0" cap="flat" cmpd="sng" algn="ctr">
                      <a:noFill/>
                    </a:lnT>
                    <a:lnB w="12700" cap="flat" cmpd="sng" algn="ctr">
                      <a:solidFill>
                        <a:srgbClr val="1C2522"/>
                      </a:solidFill>
                      <a:prstDash val="solid"/>
                      <a:round/>
                      <a:headEnd type="none" w="med" len="med"/>
                      <a:tailEnd type="none" w="med" len="med"/>
                    </a:lnB>
                    <a:solidFill>
                      <a:srgbClr val="1E2A26"/>
                    </a:solidFill>
                  </a:tcPr>
                </a:tc>
                <a:tc>
                  <a:txBody>
                    <a:bodyPr/>
                    <a:lstStyle/>
                    <a:p>
                      <a:pPr marL="0" indent="0">
                        <a:lnSpc>
                          <a:spcPts val="1820"/>
                        </a:lnSpc>
                        <a:buNone/>
                      </a:pPr>
                      <a:r>
                        <a:rPr lang="en-US" sz="1300" b="1" dirty="0">
                          <a:solidFill>
                            <a:srgbClr val="F3F0E8"/>
                          </a:solidFill>
                          <a:latin typeface="Arial" pitchFamily="34" charset="0"/>
                          <a:ea typeface="Arial" pitchFamily="34" charset="-122"/>
                          <a:cs typeface="Arial" pitchFamily="34" charset="-120"/>
                        </a:rPr>
                        <a:t>DuckDB + Parquet</a:t>
                      </a:r>
                      <a:endParaRPr lang="en-US" sz="1300" dirty="0">
                        <a:latin typeface="Arial" charset="0"/>
                        <a:ea typeface="Arial" charset="0"/>
                        <a:cs typeface="Arial" charset="0"/>
                      </a:endParaRPr>
                    </a:p>
                  </a:txBody>
                  <a:tcPr marL="57785" marR="57785" marT="57785" marB="57785">
                    <a:lnL w="12700" cap="flat" cmpd="sng" algn="ctr">
                      <a:solidFill>
                        <a:srgbClr val="1C2522"/>
                      </a:solidFill>
                      <a:prstDash val="solid"/>
                      <a:round/>
                      <a:headEnd type="none" w="med" len="med"/>
                      <a:tailEnd type="none" w="med" len="med"/>
                    </a:lnL>
                    <a:lnR w="12700" cap="flat" cmpd="sng" algn="ctr">
                      <a:solidFill>
                        <a:srgbClr val="1C2522"/>
                      </a:solidFill>
                      <a:prstDash val="solid"/>
                      <a:round/>
                      <a:headEnd type="none" w="med" len="med"/>
                      <a:tailEnd type="none" w="med" len="med"/>
                    </a:lnR>
                    <a:lnT w="0" cap="flat" cmpd="sng" algn="ctr">
                      <a:noFill/>
                    </a:lnT>
                    <a:lnB w="12700" cap="flat" cmpd="sng" algn="ctr">
                      <a:solidFill>
                        <a:srgbClr val="1C2522"/>
                      </a:solidFill>
                      <a:prstDash val="solid"/>
                      <a:round/>
                      <a:headEnd type="none" w="med" len="med"/>
                      <a:tailEnd type="none" w="med" len="med"/>
                    </a:lnB>
                    <a:solidFill>
                      <a:srgbClr val="1E2A26"/>
                    </a:solidFill>
                  </a:tcPr>
                </a:tc>
                <a:extLst>
                  <a:ext uri="{0D108BD9-81ED-4DB2-BD59-A6C34878D82A}">
                    <a16:rowId xmlns:a16="http://schemas.microsoft.com/office/drawing/2014/main" val="10000"/>
                  </a:ext>
                </a:extLst>
              </a:tr>
              <a:tr h="359271">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Verschachtelte Felder</a:t>
                      </a:r>
                      <a:endParaRPr lang="en-US" sz="1300" dirty="0">
                        <a:latin typeface="Arial" charset="0"/>
                        <a:ea typeface="Arial" charset="0"/>
                        <a:cs typeface="Arial" charset="0"/>
                      </a:endParaRPr>
                    </a:p>
                  </a:txBody>
                  <a:tcPr marL="57785" marR="57785" marT="57785" marB="57785">
                    <a:lnL w="0" cap="flat" cmpd="sng" algn="ctr">
                      <a:noFill/>
                    </a:lnL>
                    <a:lnR w="12700" cap="flat" cmpd="sng" algn="ctr">
                      <a:solidFill>
                        <a:srgbClr val="CBCBCB"/>
                      </a:solidFill>
                      <a:prstDash val="solid"/>
                      <a:round/>
                      <a:headEnd type="none" w="med" len="med"/>
                      <a:tailEnd type="none" w="med" len="med"/>
                    </a:lnR>
                    <a:lnT w="12700" cap="flat" cmpd="sng" algn="ctr">
                      <a:solidFill>
                        <a:srgbClr val="1C252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mittel (JSONB)</a:t>
                      </a:r>
                      <a:endParaRPr lang="en-US" sz="1300" dirty="0">
                        <a:latin typeface="Arial" charset="0"/>
                        <a:ea typeface="Arial" charset="0"/>
                        <a:cs typeface="Arial"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C252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gut</a:t>
                      </a:r>
                      <a:endParaRPr lang="en-US" sz="1300" dirty="0">
                        <a:latin typeface="Arial" charset="0"/>
                        <a:ea typeface="Arial" charset="0"/>
                        <a:cs typeface="Arial"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C252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gut (Struct, List)</a:t>
                      </a:r>
                      <a:endParaRPr lang="en-US" sz="1300" dirty="0">
                        <a:latin typeface="Arial" charset="0"/>
                        <a:ea typeface="Arial" charset="0"/>
                        <a:cs typeface="Arial"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C252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1"/>
                  </a:ext>
                </a:extLst>
              </a:tr>
              <a:tr h="359271">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Analytische Abfragen</a:t>
                      </a:r>
                      <a:endParaRPr lang="en-US" sz="1300" dirty="0">
                        <a:latin typeface="Arial" charset="0"/>
                        <a:ea typeface="Arial" charset="0"/>
                        <a:cs typeface="Arial" charset="0"/>
                      </a:endParaRPr>
                    </a:p>
                  </a:txBody>
                  <a:tcPr marL="57785" marR="57785" marT="57785" marB="57785">
                    <a:lnL w="0" cap="flat" cmpd="sng" algn="ctr">
                      <a:noFill/>
                    </a:lnL>
                    <a:lnR w="12700" cap="flat" cmpd="sng" algn="ctr">
                      <a:solidFill>
                        <a:srgbClr val="C4C3B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mittel</a:t>
                      </a:r>
                      <a:endParaRPr lang="en-US" sz="1300" dirty="0">
                        <a:latin typeface="Arial" charset="0"/>
                        <a:ea typeface="Arial" charset="0"/>
                        <a:cs typeface="Arial"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schwach</a:t>
                      </a:r>
                      <a:endParaRPr lang="en-US" sz="1300" dirty="0">
                        <a:latin typeface="Arial" charset="0"/>
                        <a:ea typeface="Arial" charset="0"/>
                        <a:cs typeface="Arial"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gut (spaltenbasiert)</a:t>
                      </a:r>
                      <a:endParaRPr lang="en-US" sz="1300" dirty="0">
                        <a:latin typeface="Arial" charset="0"/>
                        <a:ea typeface="Arial" charset="0"/>
                        <a:cs typeface="Arial"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extLst>
                  <a:ext uri="{0D108BD9-81ED-4DB2-BD59-A6C34878D82A}">
                    <a16:rowId xmlns:a16="http://schemas.microsoft.com/office/drawing/2014/main" val="10002"/>
                  </a:ext>
                </a:extLst>
              </a:tr>
              <a:tr h="359271">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Einrichtung</a:t>
                      </a:r>
                      <a:endParaRPr lang="en-US" sz="1300" dirty="0">
                        <a:latin typeface="Arial" charset="0"/>
                        <a:ea typeface="Arial" charset="0"/>
                        <a:cs typeface="Arial" charset="0"/>
                      </a:endParaRPr>
                    </a:p>
                  </a:txBody>
                  <a:tcPr marL="57785" marR="57785" marT="57785" marB="57785">
                    <a:lnL w="0" cap="flat" cmpd="sng" algn="ctr">
                      <a:noFill/>
                    </a:lnL>
                    <a:lnR w="12700" cap="flat" cmpd="sng" algn="ctr">
                      <a:solidFill>
                        <a:srgbClr val="CBCBC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Server nötig</a:t>
                      </a:r>
                      <a:endParaRPr lang="en-US" sz="1300" dirty="0">
                        <a:latin typeface="Arial" charset="0"/>
                        <a:ea typeface="Arial" charset="0"/>
                        <a:cs typeface="Arial"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Server nötig</a:t>
                      </a:r>
                      <a:endParaRPr lang="en-US" sz="1300" dirty="0">
                        <a:latin typeface="Arial" charset="0"/>
                        <a:ea typeface="Arial" charset="0"/>
                        <a:cs typeface="Arial"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eingebettet, ohne Server</a:t>
                      </a:r>
                      <a:endParaRPr lang="en-US" sz="1300" dirty="0">
                        <a:latin typeface="Arial" charset="0"/>
                        <a:ea typeface="Arial" charset="0"/>
                        <a:cs typeface="Arial"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Datenmenge lokal</a:t>
                      </a:r>
                      <a:endParaRPr lang="en-US" sz="1300" dirty="0">
                        <a:latin typeface="Arial" charset="0"/>
                        <a:ea typeface="Arial" charset="0"/>
                        <a:cs typeface="Arial" charset="0"/>
                      </a:endParaRPr>
                    </a:p>
                  </a:txBody>
                  <a:tcPr marL="57785" marR="57785" marT="57785" marB="57785">
                    <a:lnL w="0" cap="flat" cmpd="sng" algn="ctr">
                      <a:noFill/>
                    </a:lnL>
                    <a:lnR w="12700" cap="flat" cmpd="sng" algn="ctr">
                      <a:solidFill>
                        <a:srgbClr val="C4C3B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gut</a:t>
                      </a:r>
                      <a:endParaRPr lang="en-US" sz="1300" dirty="0">
                        <a:latin typeface="Arial" charset="0"/>
                        <a:ea typeface="Arial" charset="0"/>
                        <a:cs typeface="Arial"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gut</a:t>
                      </a:r>
                      <a:endParaRPr lang="en-US" sz="1300" dirty="0">
                        <a:latin typeface="Arial" charset="0"/>
                        <a:ea typeface="Arial" charset="0"/>
                        <a:cs typeface="Arial"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gut, liest nur benötigte Spalten</a:t>
                      </a:r>
                      <a:endParaRPr lang="en-US" sz="1300" dirty="0">
                        <a:latin typeface="Arial" charset="0"/>
                        <a:ea typeface="Arial" charset="0"/>
                        <a:cs typeface="Arial"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extLst>
                  <a:ext uri="{0D108BD9-81ED-4DB2-BD59-A6C34878D82A}">
                    <a16:rowId xmlns:a16="http://schemas.microsoft.com/office/drawing/2014/main" val="10004"/>
                  </a:ext>
                </a:extLst>
              </a:tr>
              <a:tr h="359271">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Viele Nutzer gleichzeitig</a:t>
                      </a:r>
                      <a:endParaRPr lang="en-US" sz="1300" dirty="0">
                        <a:latin typeface="Arial" charset="0"/>
                        <a:ea typeface="Arial" charset="0"/>
                        <a:cs typeface="Arial" charset="0"/>
                      </a:endParaRPr>
                    </a:p>
                  </a:txBody>
                  <a:tcPr marL="57785" marR="57785" marT="57785" marB="57785">
                    <a:lnL w="0" cap="flat" cmpd="sng" algn="ctr">
                      <a:noFill/>
                    </a:lnL>
                    <a:lnR w="12700" cap="flat" cmpd="sng" algn="ctr">
                      <a:solidFill>
                        <a:srgbClr val="CBCBC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gut</a:t>
                      </a:r>
                      <a:endParaRPr lang="en-US" sz="1300" dirty="0">
                        <a:latin typeface="Arial" charset="0"/>
                        <a:ea typeface="Arial" charset="0"/>
                        <a:cs typeface="Arial"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gut</a:t>
                      </a:r>
                      <a:endParaRPr lang="en-US" sz="1300" dirty="0">
                        <a:latin typeface="Arial" charset="0"/>
                        <a:ea typeface="Arial" charset="0"/>
                        <a:cs typeface="Arial"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E2A26"/>
                          </a:solidFill>
                          <a:latin typeface="Arial" pitchFamily="34" charset="0"/>
                          <a:ea typeface="Arial" pitchFamily="34" charset="-122"/>
                          <a:cs typeface="Arial" pitchFamily="34" charset="-120"/>
                        </a:rPr>
                        <a:t>schwach</a:t>
                      </a:r>
                      <a:endParaRPr lang="en-US" sz="1300" dirty="0">
                        <a:latin typeface="Arial" charset="0"/>
                        <a:ea typeface="Arial" charset="0"/>
                        <a:cs typeface="Arial"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7" name="Shape 4"/>
          <p:cNvSpPr/>
          <p:nvPr/>
        </p:nvSpPr>
        <p:spPr>
          <a:xfrm>
            <a:off x="812800" y="4251027"/>
            <a:ext cx="10566400" cy="604441"/>
          </a:xfrm>
          <a:prstGeom prst="roundRect">
            <a:avLst>
              <a:gd name="adj" fmla="val 16809"/>
            </a:avLst>
          </a:prstGeom>
          <a:solidFill>
            <a:srgbClr val="1E2A26"/>
          </a:solidFill>
          <a:ln/>
        </p:spPr>
        <p:txBody>
          <a:bodyPr/>
          <a:lstStyle/>
          <a:p>
            <a:endParaRPr lang="de-CH"/>
          </a:p>
        </p:txBody>
      </p:sp>
      <p:sp>
        <p:nvSpPr>
          <p:cNvPr id="8" name="Text 5"/>
          <p:cNvSpPr/>
          <p:nvPr/>
        </p:nvSpPr>
        <p:spPr>
          <a:xfrm>
            <a:off x="1066800" y="4428827"/>
            <a:ext cx="959743" cy="274241"/>
          </a:xfrm>
          <a:prstGeom prst="rect">
            <a:avLst/>
          </a:prstGeom>
          <a:noFill/>
          <a:ln/>
        </p:spPr>
        <p:txBody>
          <a:bodyPr wrap="none" lIns="0" tIns="0" rIns="0" bIns="0" rtlCol="0" anchor="t">
            <a:normAutofit/>
          </a:bodyPr>
          <a:lstStyle/>
          <a:p>
            <a:pPr marL="0" indent="0" algn="l">
              <a:lnSpc>
                <a:spcPts val="1960"/>
              </a:lnSpc>
              <a:buNone/>
            </a:pPr>
            <a:r>
              <a:rPr lang="en-US" sz="1400" b="1" dirty="0">
                <a:solidFill>
                  <a:srgbClr val="F0A56B"/>
                </a:solidFill>
                <a:latin typeface="Arial" pitchFamily="34" charset="0"/>
                <a:ea typeface="Arial" pitchFamily="34" charset="-122"/>
                <a:cs typeface="Arial" pitchFamily="34" charset="-120"/>
              </a:rPr>
              <a:t>Entscheid:</a:t>
            </a:r>
            <a:endParaRPr lang="en-US" sz="1400" dirty="0"/>
          </a:p>
        </p:txBody>
      </p:sp>
      <p:sp>
        <p:nvSpPr>
          <p:cNvPr id="9" name="Text 6"/>
          <p:cNvSpPr/>
          <p:nvPr/>
        </p:nvSpPr>
        <p:spPr>
          <a:xfrm>
            <a:off x="2128143" y="4428827"/>
            <a:ext cx="9266969"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F3F0E8"/>
                </a:solidFill>
                <a:latin typeface="Arial" pitchFamily="34" charset="0"/>
                <a:ea typeface="Arial" pitchFamily="34" charset="-122"/>
                <a:cs typeface="Arial" pitchFamily="34" charset="-120"/>
              </a:rPr>
              <a:t>DuckDB + Parquet. Unser Fall ist Analyse durch zwei Personen, kein Mehrbenutzerbetrieb.</a:t>
            </a:r>
            <a:endParaRPr lang="en-US" sz="1400" dirty="0"/>
          </a:p>
        </p:txBody>
      </p:sp>
      <p:sp>
        <p:nvSpPr>
          <p:cNvPr id="10" name="Text 7"/>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660"/>
                </a:solidFill>
                <a:latin typeface="Arial" pitchFamily="34" charset="0"/>
                <a:ea typeface="Arial" pitchFamily="34" charset="-122"/>
                <a:cs typeface="Arial" pitchFamily="34" charset="-120"/>
              </a:rPr>
              <a:t>Bewertung der Gruppe · Trade-off: für Serving in Teil 2 evtl. PostgreSQL ergänzen · 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F7A"/>
                </a:solidFill>
                <a:latin typeface="Arial" pitchFamily="34" charset="0"/>
                <a:ea typeface="Arial" pitchFamily="34" charset="-122"/>
                <a:cs typeface="Arial" pitchFamily="34" charset="-120"/>
              </a:rPr>
              <a:t>STORAGE · IMPLEMENTIERUNG</a:t>
            </a:r>
            <a:endParaRPr lang="en-US" sz="1200" dirty="0"/>
          </a:p>
        </p:txBody>
      </p:sp>
      <p:sp>
        <p:nvSpPr>
          <p:cNvPr id="3" name="Text 1"/>
          <p:cNvSpPr>
            <a:spLocks noGrp="1"/>
          </p:cNvSpPr>
          <p:nvPr>
            <p:ph type="title"/>
          </p:nvPr>
        </p:nvSpPr>
        <p:spPr>
          <a:xfrm>
            <a:off x="812800" y="11277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E2A26"/>
                </a:solidFill>
                <a:latin typeface="Arial" pitchFamily="34" charset="0"/>
                <a:ea typeface="Arial" pitchFamily="34" charset="-122"/>
                <a:cs typeface="Arial" pitchFamily="34" charset="-120"/>
              </a:rPr>
              <a:t>Drei Stufen von roh bis auswertbar</a:t>
            </a:r>
            <a:endParaRPr lang="en-US" sz="3200" dirty="0"/>
          </a:p>
        </p:txBody>
      </p:sp>
      <p:sp>
        <p:nvSpPr>
          <p:cNvPr id="4" name="Shape 2"/>
          <p:cNvSpPr/>
          <p:nvPr/>
        </p:nvSpPr>
        <p:spPr>
          <a:xfrm>
            <a:off x="812800" y="1828701"/>
            <a:ext cx="3234234" cy="1286272"/>
          </a:xfrm>
          <a:prstGeom prst="roundRect">
            <a:avLst>
              <a:gd name="adj" fmla="val 5924"/>
            </a:avLst>
          </a:prstGeom>
          <a:solidFill>
            <a:srgbClr val="FFFFFF"/>
          </a:solidFill>
          <a:ln/>
        </p:spPr>
        <p:txBody>
          <a:bodyPr/>
          <a:lstStyle/>
          <a:p>
            <a:endParaRPr lang="de-CH"/>
          </a:p>
        </p:txBody>
      </p:sp>
      <p:sp>
        <p:nvSpPr>
          <p:cNvPr id="5" name="Shape 3"/>
          <p:cNvSpPr/>
          <p:nvPr/>
        </p:nvSpPr>
        <p:spPr>
          <a:xfrm>
            <a:off x="812800" y="1828701"/>
            <a:ext cx="3234234" cy="1286272"/>
          </a:xfrm>
          <a:custGeom>
            <a:avLst/>
            <a:gdLst/>
            <a:ahLst/>
            <a:cxnLst/>
            <a:rect l="l" t="t" r="r" b="b"/>
            <a:pathLst>
              <a:path w="3234234" h="1286272">
                <a:moveTo>
                  <a:pt x="0" y="76200"/>
                </a:moveTo>
                <a:lnTo>
                  <a:pt x="0" y="76200"/>
                </a:lnTo>
                <a:arcTo wR="76200" hR="76200" stAng="10800000" swAng="5400000"/>
                <a:lnTo>
                  <a:pt x="3158034" y="0"/>
                </a:lnTo>
                <a:arcTo wR="76200" hR="76200" stAng="16200000" swAng="5400000"/>
                <a:lnTo>
                  <a:pt x="3234234" y="76200"/>
                </a:lnTo>
                <a:arcTo wR="76200" hR="25400" stAng="0" swAng="-5400000"/>
                <a:lnTo>
                  <a:pt x="76200" y="50800"/>
                </a:lnTo>
                <a:arcTo wR="76200" hR="25400" stAng="16200000" swAng="-5400000"/>
                <a:close/>
              </a:path>
            </a:pathLst>
          </a:custGeom>
          <a:solidFill>
            <a:srgbClr val="A86B3C"/>
          </a:solidFill>
          <a:ln/>
        </p:spPr>
        <p:txBody>
          <a:bodyPr/>
          <a:lstStyle/>
          <a:p>
            <a:endParaRPr lang="de-CH"/>
          </a:p>
        </p:txBody>
      </p:sp>
      <p:sp>
        <p:nvSpPr>
          <p:cNvPr id="6" name="Text 4"/>
          <p:cNvSpPr/>
          <p:nvPr/>
        </p:nvSpPr>
        <p:spPr>
          <a:xfrm>
            <a:off x="1016000" y="2082701"/>
            <a:ext cx="2912669"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E2A26"/>
                </a:solidFill>
                <a:latin typeface="Arial" pitchFamily="34" charset="0"/>
                <a:ea typeface="Arial" pitchFamily="34" charset="-122"/>
                <a:cs typeface="Arial" pitchFamily="34" charset="-120"/>
              </a:rPr>
              <a:t>Bronze</a:t>
            </a:r>
            <a:endParaRPr lang="en-US" sz="1800" dirty="0"/>
          </a:p>
        </p:txBody>
      </p:sp>
      <p:sp>
        <p:nvSpPr>
          <p:cNvPr id="7" name="Text 5"/>
          <p:cNvSpPr/>
          <p:nvPr/>
        </p:nvSpPr>
        <p:spPr>
          <a:xfrm>
            <a:off x="1016000" y="2433141"/>
            <a:ext cx="2912669" cy="504031"/>
          </a:xfrm>
          <a:prstGeom prst="rect">
            <a:avLst/>
          </a:prstGeom>
          <a:noFill/>
          <a:ln/>
        </p:spPr>
        <p:txBody>
          <a:bodyPr wrap="square" lIns="0" tIns="0" rIns="0" bIns="0" rtlCol="0" anchor="t">
            <a:normAutofit/>
          </a:bodyPr>
          <a:lstStyle/>
          <a:p>
            <a:pPr marL="0" indent="0" algn="l">
              <a:lnSpc>
                <a:spcPts val="1885"/>
              </a:lnSpc>
              <a:buNone/>
            </a:pPr>
            <a:r>
              <a:rPr lang="en-US" sz="1300" dirty="0">
                <a:solidFill>
                  <a:srgbClr val="3E4A45"/>
                </a:solidFill>
                <a:latin typeface="Arial" pitchFamily="34" charset="0"/>
                <a:ea typeface="Arial" pitchFamily="34" charset="-122"/>
                <a:cs typeface="Arial" pitchFamily="34" charset="-120"/>
              </a:rPr>
              <a:t>Rohdaten als Parquet, unverändert, mit Snapshot-Datum</a:t>
            </a:r>
            <a:endParaRPr lang="en-US" sz="1300" dirty="0"/>
          </a:p>
        </p:txBody>
      </p:sp>
      <p:sp>
        <p:nvSpPr>
          <p:cNvPr id="8" name="Text 6"/>
          <p:cNvSpPr/>
          <p:nvPr/>
        </p:nvSpPr>
        <p:spPr>
          <a:xfrm>
            <a:off x="4123234" y="2276277"/>
            <a:ext cx="335280"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2F5F7A"/>
                </a:solidFill>
                <a:latin typeface="Arial" pitchFamily="34" charset="0"/>
                <a:ea typeface="Arial" pitchFamily="34" charset="-122"/>
                <a:cs typeface="Arial" pitchFamily="34" charset="-120"/>
              </a:rPr>
              <a:t>→</a:t>
            </a:r>
            <a:endParaRPr lang="en-US" sz="2200" dirty="0"/>
          </a:p>
        </p:txBody>
      </p:sp>
      <p:sp>
        <p:nvSpPr>
          <p:cNvPr id="9" name="Shape 7"/>
          <p:cNvSpPr/>
          <p:nvPr/>
        </p:nvSpPr>
        <p:spPr>
          <a:xfrm>
            <a:off x="4478834" y="1828701"/>
            <a:ext cx="3234333" cy="1286272"/>
          </a:xfrm>
          <a:prstGeom prst="roundRect">
            <a:avLst>
              <a:gd name="adj" fmla="val 5924"/>
            </a:avLst>
          </a:prstGeom>
          <a:solidFill>
            <a:srgbClr val="FFFFFF"/>
          </a:solidFill>
          <a:ln/>
        </p:spPr>
        <p:txBody>
          <a:bodyPr/>
          <a:lstStyle/>
          <a:p>
            <a:endParaRPr lang="de-CH"/>
          </a:p>
        </p:txBody>
      </p:sp>
      <p:sp>
        <p:nvSpPr>
          <p:cNvPr id="10" name="Shape 8"/>
          <p:cNvSpPr/>
          <p:nvPr/>
        </p:nvSpPr>
        <p:spPr>
          <a:xfrm>
            <a:off x="4478834" y="1828701"/>
            <a:ext cx="3234333" cy="1286272"/>
          </a:xfrm>
          <a:custGeom>
            <a:avLst/>
            <a:gdLst/>
            <a:ahLst/>
            <a:cxnLst/>
            <a:rect l="l" t="t" r="r" b="b"/>
            <a:pathLst>
              <a:path w="3234333" h="1286272">
                <a:moveTo>
                  <a:pt x="0" y="76200"/>
                </a:moveTo>
                <a:lnTo>
                  <a:pt x="0" y="76200"/>
                </a:lnTo>
                <a:arcTo wR="76200" hR="76200" stAng="10800000" swAng="5400000"/>
                <a:lnTo>
                  <a:pt x="3158133" y="0"/>
                </a:lnTo>
                <a:arcTo wR="76200" hR="76200" stAng="16200000" swAng="5400000"/>
                <a:lnTo>
                  <a:pt x="3234333" y="76200"/>
                </a:lnTo>
                <a:arcTo wR="76200" hR="25400" stAng="0" swAng="-5400000"/>
                <a:lnTo>
                  <a:pt x="76200" y="50800"/>
                </a:lnTo>
                <a:arcTo wR="76200" hR="25400" stAng="16200000" swAng="-5400000"/>
                <a:close/>
              </a:path>
            </a:pathLst>
          </a:custGeom>
          <a:solidFill>
            <a:srgbClr val="8A9199"/>
          </a:solidFill>
          <a:ln/>
        </p:spPr>
        <p:txBody>
          <a:bodyPr/>
          <a:lstStyle/>
          <a:p>
            <a:endParaRPr lang="de-CH"/>
          </a:p>
        </p:txBody>
      </p:sp>
      <p:sp>
        <p:nvSpPr>
          <p:cNvPr id="11" name="Text 9"/>
          <p:cNvSpPr/>
          <p:nvPr/>
        </p:nvSpPr>
        <p:spPr>
          <a:xfrm>
            <a:off x="4682034" y="2082701"/>
            <a:ext cx="2912771"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E2A26"/>
                </a:solidFill>
                <a:latin typeface="Arial" pitchFamily="34" charset="0"/>
                <a:ea typeface="Arial" pitchFamily="34" charset="-122"/>
                <a:cs typeface="Arial" pitchFamily="34" charset="-120"/>
              </a:rPr>
              <a:t>Silver</a:t>
            </a:r>
            <a:endParaRPr lang="en-US" sz="1800" dirty="0"/>
          </a:p>
        </p:txBody>
      </p:sp>
      <p:sp>
        <p:nvSpPr>
          <p:cNvPr id="12" name="Text 10"/>
          <p:cNvSpPr/>
          <p:nvPr/>
        </p:nvSpPr>
        <p:spPr>
          <a:xfrm>
            <a:off x="4682034" y="2433141"/>
            <a:ext cx="2912771" cy="504031"/>
          </a:xfrm>
          <a:prstGeom prst="rect">
            <a:avLst/>
          </a:prstGeom>
          <a:noFill/>
          <a:ln/>
        </p:spPr>
        <p:txBody>
          <a:bodyPr wrap="square" lIns="0" tIns="0" rIns="0" bIns="0" rtlCol="0" anchor="t">
            <a:normAutofit/>
          </a:bodyPr>
          <a:lstStyle/>
          <a:p>
            <a:pPr marL="0" indent="0" algn="l">
              <a:lnSpc>
                <a:spcPts val="1885"/>
              </a:lnSpc>
              <a:buNone/>
            </a:pPr>
            <a:r>
              <a:rPr lang="en-US" sz="1300" dirty="0">
                <a:solidFill>
                  <a:srgbClr val="3E4A45"/>
                </a:solidFill>
                <a:latin typeface="Arial" pitchFamily="34" charset="0"/>
                <a:ea typeface="Arial" pitchFamily="34" charset="-122"/>
                <a:cs typeface="Arial" pitchFamily="34" charset="-120"/>
              </a:rPr>
              <a:t>DuckDB-Tabelle: bereinigt, typisiert, ohne Duplikate</a:t>
            </a:r>
            <a:endParaRPr lang="en-US" sz="1300" dirty="0"/>
          </a:p>
        </p:txBody>
      </p:sp>
      <p:sp>
        <p:nvSpPr>
          <p:cNvPr id="13" name="Text 11"/>
          <p:cNvSpPr/>
          <p:nvPr/>
        </p:nvSpPr>
        <p:spPr>
          <a:xfrm>
            <a:off x="7789366" y="2276277"/>
            <a:ext cx="335280"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2F5F7A"/>
                </a:solidFill>
                <a:latin typeface="Arial" pitchFamily="34" charset="0"/>
                <a:ea typeface="Arial" pitchFamily="34" charset="-122"/>
                <a:cs typeface="Arial" pitchFamily="34" charset="-120"/>
              </a:rPr>
              <a:t>→</a:t>
            </a:r>
            <a:endParaRPr lang="en-US" sz="2200" dirty="0"/>
          </a:p>
        </p:txBody>
      </p:sp>
      <p:sp>
        <p:nvSpPr>
          <p:cNvPr id="14" name="Shape 12"/>
          <p:cNvSpPr/>
          <p:nvPr/>
        </p:nvSpPr>
        <p:spPr>
          <a:xfrm>
            <a:off x="8144966" y="1828701"/>
            <a:ext cx="3234234" cy="1286272"/>
          </a:xfrm>
          <a:prstGeom prst="roundRect">
            <a:avLst>
              <a:gd name="adj" fmla="val 5924"/>
            </a:avLst>
          </a:prstGeom>
          <a:solidFill>
            <a:srgbClr val="FFFFFF"/>
          </a:solidFill>
          <a:ln/>
        </p:spPr>
        <p:txBody>
          <a:bodyPr/>
          <a:lstStyle/>
          <a:p>
            <a:endParaRPr lang="de-CH"/>
          </a:p>
        </p:txBody>
      </p:sp>
      <p:sp>
        <p:nvSpPr>
          <p:cNvPr id="15" name="Shape 13"/>
          <p:cNvSpPr/>
          <p:nvPr/>
        </p:nvSpPr>
        <p:spPr>
          <a:xfrm>
            <a:off x="8144966" y="1828701"/>
            <a:ext cx="3234234" cy="1286272"/>
          </a:xfrm>
          <a:custGeom>
            <a:avLst/>
            <a:gdLst/>
            <a:ahLst/>
            <a:cxnLst/>
            <a:rect l="l" t="t" r="r" b="b"/>
            <a:pathLst>
              <a:path w="3234234" h="1286272">
                <a:moveTo>
                  <a:pt x="0" y="76200"/>
                </a:moveTo>
                <a:lnTo>
                  <a:pt x="0" y="76200"/>
                </a:lnTo>
                <a:arcTo wR="76200" hR="76200" stAng="10800000" swAng="5400000"/>
                <a:lnTo>
                  <a:pt x="3158034" y="0"/>
                </a:lnTo>
                <a:arcTo wR="76200" hR="76200" stAng="16200000" swAng="5400000"/>
                <a:lnTo>
                  <a:pt x="3234234" y="76200"/>
                </a:lnTo>
                <a:arcTo wR="76200" hR="25400" stAng="0" swAng="-5400000"/>
                <a:lnTo>
                  <a:pt x="76200" y="50800"/>
                </a:lnTo>
                <a:arcTo wR="76200" hR="25400" stAng="16200000" swAng="-5400000"/>
                <a:close/>
              </a:path>
            </a:pathLst>
          </a:custGeom>
          <a:solidFill>
            <a:srgbClr val="C9A227"/>
          </a:solidFill>
          <a:ln/>
        </p:spPr>
        <p:txBody>
          <a:bodyPr/>
          <a:lstStyle/>
          <a:p>
            <a:endParaRPr lang="de-CH"/>
          </a:p>
        </p:txBody>
      </p:sp>
      <p:sp>
        <p:nvSpPr>
          <p:cNvPr id="16" name="Text 14"/>
          <p:cNvSpPr/>
          <p:nvPr/>
        </p:nvSpPr>
        <p:spPr>
          <a:xfrm>
            <a:off x="8348166" y="2082701"/>
            <a:ext cx="2912669"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E2A26"/>
                </a:solidFill>
                <a:latin typeface="Arial" pitchFamily="34" charset="0"/>
                <a:ea typeface="Arial" pitchFamily="34" charset="-122"/>
                <a:cs typeface="Arial" pitchFamily="34" charset="-120"/>
              </a:rPr>
              <a:t>Gold</a:t>
            </a:r>
            <a:endParaRPr lang="en-US" sz="1800" dirty="0"/>
          </a:p>
        </p:txBody>
      </p:sp>
      <p:sp>
        <p:nvSpPr>
          <p:cNvPr id="17" name="Text 15"/>
          <p:cNvSpPr/>
          <p:nvPr/>
        </p:nvSpPr>
        <p:spPr>
          <a:xfrm>
            <a:off x="8348166" y="2433141"/>
            <a:ext cx="2912669" cy="504031"/>
          </a:xfrm>
          <a:prstGeom prst="rect">
            <a:avLst/>
          </a:prstGeom>
          <a:noFill/>
          <a:ln/>
        </p:spPr>
        <p:txBody>
          <a:bodyPr wrap="square" lIns="0" tIns="0" rIns="0" bIns="0" rtlCol="0" anchor="t">
            <a:normAutofit/>
          </a:bodyPr>
          <a:lstStyle/>
          <a:p>
            <a:pPr marL="0" indent="0" algn="l">
              <a:lnSpc>
                <a:spcPts val="1885"/>
              </a:lnSpc>
              <a:buNone/>
            </a:pPr>
            <a:r>
              <a:rPr lang="en-US" sz="1300" dirty="0">
                <a:solidFill>
                  <a:srgbClr val="3E4A45"/>
                </a:solidFill>
                <a:latin typeface="Arial" pitchFamily="34" charset="0"/>
                <a:ea typeface="Arial" pitchFamily="34" charset="-122"/>
                <a:cs typeface="Arial" pitchFamily="34" charset="-120"/>
              </a:rPr>
              <a:t>Auswertungstabellen pro Hypothese, z. B. Nutri-Score × NOVA</a:t>
            </a:r>
            <a:endParaRPr lang="en-US" sz="1300" dirty="0"/>
          </a:p>
        </p:txBody>
      </p:sp>
      <p:sp>
        <p:nvSpPr>
          <p:cNvPr id="18" name="Shape 16"/>
          <p:cNvSpPr/>
          <p:nvPr/>
        </p:nvSpPr>
        <p:spPr>
          <a:xfrm>
            <a:off x="812800" y="3368973"/>
            <a:ext cx="10566400" cy="1661120"/>
          </a:xfrm>
          <a:prstGeom prst="roundRect">
            <a:avLst>
              <a:gd name="adj" fmla="val 6116"/>
            </a:avLst>
          </a:prstGeom>
          <a:solidFill>
            <a:srgbClr val="1E2A26"/>
          </a:solidFill>
          <a:ln/>
        </p:spPr>
        <p:txBody>
          <a:bodyPr/>
          <a:lstStyle/>
          <a:p>
            <a:endParaRPr lang="de-CH"/>
          </a:p>
        </p:txBody>
      </p:sp>
      <p:sp>
        <p:nvSpPr>
          <p:cNvPr id="19" name="Text 17"/>
          <p:cNvSpPr/>
          <p:nvPr/>
        </p:nvSpPr>
        <p:spPr>
          <a:xfrm>
            <a:off x="1066800" y="3572173"/>
            <a:ext cx="1036015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3CC"/>
                </a:solidFill>
                <a:latin typeface="Arial" pitchFamily="34" charset="0"/>
                <a:ea typeface="Arial" pitchFamily="34" charset="-122"/>
                <a:cs typeface="Arial" pitchFamily="34" charset="-120"/>
              </a:rPr>
              <a:t>Beispiel: Silver-Tabelle aus Bronze erzeugen</a:t>
            </a:r>
            <a:endParaRPr lang="en-US" sz="1200" dirty="0"/>
          </a:p>
        </p:txBody>
      </p:sp>
      <p:sp>
        <p:nvSpPr>
          <p:cNvPr id="20" name="Text 18"/>
          <p:cNvSpPr/>
          <p:nvPr/>
        </p:nvSpPr>
        <p:spPr>
          <a:xfrm>
            <a:off x="1066800" y="3836293"/>
            <a:ext cx="10360152" cy="1016000"/>
          </a:xfrm>
          <a:prstGeom prst="rect">
            <a:avLst/>
          </a:prstGeom>
          <a:noFill/>
          <a:ln/>
        </p:spPr>
        <p:txBody>
          <a:bodyPr wrap="square" lIns="0" tIns="0" rIns="0" bIns="0" rtlCol="0" anchor="t">
            <a:normAutofit/>
          </a:bodyPr>
          <a:lstStyle/>
          <a:p>
            <a:pPr marL="0" indent="0" algn="l">
              <a:lnSpc>
                <a:spcPts val="1950"/>
              </a:lnSpc>
              <a:buNone/>
            </a:pPr>
            <a:r>
              <a:rPr lang="en-US" sz="1300" dirty="0">
                <a:solidFill>
                  <a:srgbClr val="F3F0E8"/>
                </a:solidFill>
                <a:latin typeface="Courier New" pitchFamily="49" charset="0"/>
                <a:ea typeface="Courier New" pitchFamily="49" charset="-122"/>
                <a:cs typeface="Courier New" pitchFamily="49" charset="-120"/>
              </a:rPr>
              <a:t>CREATE TABLE silver_products AS</a:t>
            </a:r>
            <a:endParaRPr lang="en-US" sz="1300" dirty="0"/>
          </a:p>
          <a:p>
            <a:pPr marL="0" indent="0" algn="l">
              <a:lnSpc>
                <a:spcPts val="1950"/>
              </a:lnSpc>
              <a:buNone/>
            </a:pPr>
            <a:r>
              <a:rPr lang="en-US" sz="1300" dirty="0">
                <a:solidFill>
                  <a:srgbClr val="F3F0E8"/>
                </a:solidFill>
                <a:latin typeface="Courier New" pitchFamily="49" charset="0"/>
                <a:ea typeface="Courier New" pitchFamily="49" charset="-122"/>
                <a:cs typeface="Courier New" pitchFamily="49" charset="-120"/>
              </a:rPr>
              <a:t>SELECT * EXCLUDE (f_duplikat, f_unmoeglich, …)</a:t>
            </a:r>
            <a:endParaRPr lang="en-US" sz="1300" dirty="0"/>
          </a:p>
          <a:p>
            <a:pPr marL="0" indent="0" algn="l">
              <a:lnSpc>
                <a:spcPts val="1950"/>
              </a:lnSpc>
              <a:buNone/>
            </a:pPr>
            <a:r>
              <a:rPr lang="en-US" sz="1300" dirty="0">
                <a:solidFill>
                  <a:srgbClr val="F3F0E8"/>
                </a:solidFill>
                <a:latin typeface="Courier New" pitchFamily="49" charset="0"/>
                <a:ea typeface="Courier New" pitchFamily="49" charset="-122"/>
                <a:cs typeface="Courier New" pitchFamily="49" charset="-120"/>
              </a:rPr>
              <a:t>FROM silver_flagged -- Bronze + ein Flag pro Regel</a:t>
            </a:r>
            <a:endParaRPr lang="en-US" sz="1300" dirty="0"/>
          </a:p>
          <a:p>
            <a:pPr marL="0" indent="0" algn="l">
              <a:lnSpc>
                <a:spcPts val="1950"/>
              </a:lnSpc>
              <a:buNone/>
            </a:pPr>
            <a:r>
              <a:rPr lang="en-US" sz="1300" dirty="0">
                <a:solidFill>
                  <a:srgbClr val="F3F0E8"/>
                </a:solidFill>
                <a:latin typeface="Courier New" pitchFamily="49" charset="0"/>
                <a:ea typeface="Courier New" pitchFamily="49" charset="-122"/>
                <a:cs typeface="Courier New" pitchFamily="49" charset="-120"/>
              </a:rPr>
              <a:t>WHERE NOT (f_duplikat OR f_unmoeglich OR …)</a:t>
            </a:r>
            <a:endParaRPr lang="en-US" sz="1300" dirty="0"/>
          </a:p>
        </p:txBody>
      </p:sp>
      <p:sp>
        <p:nvSpPr>
          <p:cNvPr id="21" name="Text 19"/>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660"/>
                </a:solidFill>
                <a:latin typeface="Arial" pitchFamily="34" charset="0"/>
                <a:ea typeface="Arial" pitchFamily="34" charset="-122"/>
                <a:cs typeface="Arial" pitchFamily="34" charset="-120"/>
              </a:rPr>
              <a:t>Medallion-Architektur · Code: nutri_score_teil1.ipynb, Abschnitte 3, 4 und 6 · 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F7A"/>
                </a:solidFill>
                <a:latin typeface="Arial" pitchFamily="34" charset="0"/>
                <a:ea typeface="Arial" pitchFamily="34" charset="-122"/>
                <a:cs typeface="Arial" pitchFamily="34" charset="-120"/>
              </a:rPr>
              <a:t>TRANSFORMATION 1 · INITIALE BEREINIGUNG</a:t>
            </a:r>
            <a:endParaRPr lang="en-US" sz="1200" dirty="0"/>
          </a:p>
        </p:txBody>
      </p:sp>
      <p:sp>
        <p:nvSpPr>
          <p:cNvPr id="3" name="Text 1"/>
          <p:cNvSpPr>
            <a:spLocks noGrp="1"/>
          </p:cNvSpPr>
          <p:nvPr>
            <p:ph type="title"/>
          </p:nvPr>
        </p:nvSpPr>
        <p:spPr>
          <a:xfrm>
            <a:off x="812800" y="11277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E2A26"/>
                </a:solidFill>
                <a:latin typeface="Arial" pitchFamily="34" charset="0"/>
                <a:ea typeface="Arial" pitchFamily="34" charset="-122"/>
                <a:cs typeface="Arial" pitchFamily="34" charset="-120"/>
              </a:rPr>
              <a:t>Nur jedes fünfte Produkt ist auswertbar</a:t>
            </a:r>
            <a:endParaRPr lang="en-US" sz="3200" dirty="0"/>
          </a:p>
        </p:txBody>
      </p:sp>
      <p:sp>
        <p:nvSpPr>
          <p:cNvPr id="4" name="Shape 2"/>
          <p:cNvSpPr/>
          <p:nvPr/>
        </p:nvSpPr>
        <p:spPr>
          <a:xfrm>
            <a:off x="812800" y="1828701"/>
            <a:ext cx="7772400" cy="2340769"/>
          </a:xfrm>
          <a:prstGeom prst="roundRect">
            <a:avLst>
              <a:gd name="adj" fmla="val 3255"/>
            </a:avLst>
          </a:prstGeom>
          <a:solidFill>
            <a:srgbClr val="FFFFFF"/>
          </a:solidFill>
          <a:ln/>
        </p:spPr>
        <p:txBody>
          <a:bodyPr/>
          <a:lstStyle/>
          <a:p>
            <a:endParaRPr lang="de-CH"/>
          </a:p>
        </p:txBody>
      </p:sp>
      <p:sp>
        <p:nvSpPr>
          <p:cNvPr id="5" name="Shape 3"/>
          <p:cNvSpPr/>
          <p:nvPr/>
        </p:nvSpPr>
        <p:spPr>
          <a:xfrm>
            <a:off x="812800" y="1828701"/>
            <a:ext cx="7772400" cy="2340769"/>
          </a:xfrm>
          <a:custGeom>
            <a:avLst/>
            <a:gdLst/>
            <a:ahLst/>
            <a:cxnLst/>
            <a:rect l="l" t="t" r="r" b="b"/>
            <a:pathLst>
              <a:path w="7772400" h="2340769">
                <a:moveTo>
                  <a:pt x="76200" y="2340769"/>
                </a:moveTo>
                <a:lnTo>
                  <a:pt x="76200" y="2340769"/>
                </a:lnTo>
                <a:arcTo wR="76200" hR="76200" stAng="5400000" swAng="5400000"/>
                <a:lnTo>
                  <a:pt x="0" y="76200"/>
                </a:lnTo>
                <a:arcTo wR="76200" hR="76200" stAng="10800000" swAng="5400000"/>
                <a:lnTo>
                  <a:pt x="7696200" y="0"/>
                </a:lnTo>
                <a:arcTo wR="76200" hR="76200" stAng="16200000" swAng="5400000"/>
                <a:lnTo>
                  <a:pt x="7772400" y="76200"/>
                </a:lnTo>
                <a:arcTo wR="76200" hR="63500" stAng="0" swAng="-5400000"/>
                <a:lnTo>
                  <a:pt x="76200" y="12700"/>
                </a:lnTo>
                <a:arcTo wR="63500" hR="63500" stAng="16200000" swAng="-5400000"/>
                <a:lnTo>
                  <a:pt x="12700" y="2264569"/>
                </a:lnTo>
                <a:arcTo wR="63500" hR="76200" stAng="10800000" swAng="-5400000"/>
                <a:close/>
              </a:path>
            </a:pathLst>
          </a:custGeom>
          <a:solidFill>
            <a:srgbClr val="141413">
              <a:alpha val="22000"/>
            </a:srgbClr>
          </a:solidFill>
          <a:ln/>
        </p:spPr>
        <p:txBody>
          <a:bodyPr/>
          <a:lstStyle/>
          <a:p>
            <a:endParaRPr lang="de-CH"/>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1841401"/>
          <a:ext cx="7759700" cy="2328067"/>
        </p:xfrm>
        <a:graphic>
          <a:graphicData uri="http://schemas.openxmlformats.org/drawingml/2006/table">
            <a:tbl>
              <a:tblPr/>
              <a:tblGrid>
                <a:gridCol w="2172716">
                  <a:extLst>
                    <a:ext uri="{9D8B030D-6E8A-4147-A177-3AD203B41FA5}">
                      <a16:colId xmlns:a16="http://schemas.microsoft.com/office/drawing/2014/main" val="20000"/>
                    </a:ext>
                  </a:extLst>
                </a:gridCol>
                <a:gridCol w="4035044">
                  <a:extLst>
                    <a:ext uri="{9D8B030D-6E8A-4147-A177-3AD203B41FA5}">
                      <a16:colId xmlns:a16="http://schemas.microsoft.com/office/drawing/2014/main" val="20001"/>
                    </a:ext>
                  </a:extLst>
                </a:gridCol>
                <a:gridCol w="1551940">
                  <a:extLst>
                    <a:ext uri="{9D8B030D-6E8A-4147-A177-3AD203B41FA5}">
                      <a16:colId xmlns:a16="http://schemas.microsoft.com/office/drawing/2014/main" val="20002"/>
                    </a:ext>
                  </a:extLst>
                </a:gridCol>
              </a:tblGrid>
              <a:tr h="332581">
                <a:tc>
                  <a:txBody>
                    <a:bodyPr/>
                    <a:lstStyle/>
                    <a:p>
                      <a:pPr marL="0" indent="0">
                        <a:lnSpc>
                          <a:spcPts val="1680"/>
                        </a:lnSpc>
                        <a:buNone/>
                      </a:pPr>
                      <a:r>
                        <a:rPr lang="en-US" sz="1200" b="1" dirty="0">
                          <a:solidFill>
                            <a:srgbClr val="F3F0E8"/>
                          </a:solidFill>
                          <a:latin typeface="Arial" pitchFamily="34" charset="0"/>
                          <a:ea typeface="Arial" pitchFamily="34" charset="-122"/>
                          <a:cs typeface="Arial" pitchFamily="34" charset="-120"/>
                        </a:rPr>
                        <a:t>Regel</a:t>
                      </a:r>
                      <a:endParaRPr lang="en-US" sz="1200" dirty="0">
                        <a:latin typeface="Arial" charset="0"/>
                        <a:ea typeface="Arial" charset="0"/>
                        <a:cs typeface="Arial" charset="0"/>
                      </a:endParaRPr>
                    </a:p>
                  </a:txBody>
                  <a:tcPr marL="53340" marR="53340" marT="53340" marB="53340">
                    <a:lnL w="0" cap="flat" cmpd="sng" algn="ctr">
                      <a:noFill/>
                    </a:lnL>
                    <a:lnR w="12700" cap="flat" cmpd="sng" algn="ctr">
                      <a:solidFill>
                        <a:srgbClr val="1C2522"/>
                      </a:solidFill>
                      <a:prstDash val="solid"/>
                      <a:round/>
                      <a:headEnd type="none" w="med" len="med"/>
                      <a:tailEnd type="none" w="med" len="med"/>
                    </a:lnR>
                    <a:lnT w="0" cap="flat" cmpd="sng" algn="ctr">
                      <a:noFill/>
                    </a:lnT>
                    <a:lnB w="12700" cap="flat" cmpd="sng" algn="ctr">
                      <a:solidFill>
                        <a:srgbClr val="1C2522"/>
                      </a:solidFill>
                      <a:prstDash val="solid"/>
                      <a:round/>
                      <a:headEnd type="none" w="med" len="med"/>
                      <a:tailEnd type="none" w="med" len="med"/>
                    </a:lnB>
                    <a:solidFill>
                      <a:srgbClr val="1E2A26"/>
                    </a:solidFill>
                  </a:tcPr>
                </a:tc>
                <a:tc>
                  <a:txBody>
                    <a:bodyPr/>
                    <a:lstStyle/>
                    <a:p>
                      <a:pPr marL="0" indent="0">
                        <a:lnSpc>
                          <a:spcPts val="1680"/>
                        </a:lnSpc>
                        <a:buNone/>
                      </a:pPr>
                      <a:r>
                        <a:rPr lang="en-US" sz="1200" b="1" dirty="0">
                          <a:solidFill>
                            <a:srgbClr val="F3F0E8"/>
                          </a:solidFill>
                          <a:latin typeface="Arial" pitchFamily="34" charset="0"/>
                          <a:ea typeface="Arial" pitchFamily="34" charset="-122"/>
                          <a:cs typeface="Arial" pitchFamily="34" charset="-120"/>
                        </a:rPr>
                        <a:t>Prüfung</a:t>
                      </a:r>
                      <a:endParaRPr lang="en-US" sz="1200" dirty="0">
                        <a:latin typeface="Arial" charset="0"/>
                        <a:ea typeface="Arial" charset="0"/>
                        <a:cs typeface="Arial" charset="0"/>
                      </a:endParaRPr>
                    </a:p>
                  </a:txBody>
                  <a:tcPr marL="53340" marR="53340" marT="53340" marB="53340">
                    <a:lnL w="12700" cap="flat" cmpd="sng" algn="ctr">
                      <a:solidFill>
                        <a:srgbClr val="1C2522"/>
                      </a:solidFill>
                      <a:prstDash val="solid"/>
                      <a:round/>
                      <a:headEnd type="none" w="med" len="med"/>
                      <a:tailEnd type="none" w="med" len="med"/>
                    </a:lnL>
                    <a:lnR w="12700" cap="flat" cmpd="sng" algn="ctr">
                      <a:solidFill>
                        <a:srgbClr val="1C2522"/>
                      </a:solidFill>
                      <a:prstDash val="solid"/>
                      <a:round/>
                      <a:headEnd type="none" w="med" len="med"/>
                      <a:tailEnd type="none" w="med" len="med"/>
                    </a:lnR>
                    <a:lnT w="0" cap="flat" cmpd="sng" algn="ctr">
                      <a:noFill/>
                    </a:lnT>
                    <a:lnB w="12700" cap="flat" cmpd="sng" algn="ctr">
                      <a:solidFill>
                        <a:srgbClr val="1C2522"/>
                      </a:solidFill>
                      <a:prstDash val="solid"/>
                      <a:round/>
                      <a:headEnd type="none" w="med" len="med"/>
                      <a:tailEnd type="none" w="med" len="med"/>
                    </a:lnB>
                    <a:solidFill>
                      <a:srgbClr val="1E2A26"/>
                    </a:solidFill>
                  </a:tcPr>
                </a:tc>
                <a:tc>
                  <a:txBody>
                    <a:bodyPr/>
                    <a:lstStyle/>
                    <a:p>
                      <a:pPr marL="0" indent="0" algn="r">
                        <a:lnSpc>
                          <a:spcPts val="1680"/>
                        </a:lnSpc>
                        <a:buNone/>
                      </a:pPr>
                      <a:r>
                        <a:rPr lang="en-US" sz="1200" b="1" dirty="0">
                          <a:solidFill>
                            <a:srgbClr val="F3F0E8"/>
                          </a:solidFill>
                          <a:latin typeface="Arial" pitchFamily="34" charset="0"/>
                          <a:ea typeface="Arial" pitchFamily="34" charset="-122"/>
                          <a:cs typeface="Arial" pitchFamily="34" charset="-120"/>
                        </a:rPr>
                        <a:t>Betroffen</a:t>
                      </a:r>
                      <a:endParaRPr lang="en-US" sz="1200" dirty="0">
                        <a:latin typeface="Arial" charset="0"/>
                        <a:ea typeface="Arial" charset="0"/>
                        <a:cs typeface="Arial" charset="0"/>
                      </a:endParaRPr>
                    </a:p>
                  </a:txBody>
                  <a:tcPr marL="53340" marR="53340" marT="53340" marB="53340">
                    <a:lnL w="12700" cap="flat" cmpd="sng" algn="ctr">
                      <a:solidFill>
                        <a:srgbClr val="1C2522"/>
                      </a:solidFill>
                      <a:prstDash val="solid"/>
                      <a:round/>
                      <a:headEnd type="none" w="med" len="med"/>
                      <a:tailEnd type="none" w="med" len="med"/>
                    </a:lnL>
                    <a:lnR w="12700" cap="flat" cmpd="sng" algn="ctr">
                      <a:solidFill>
                        <a:srgbClr val="1C2522"/>
                      </a:solidFill>
                      <a:prstDash val="solid"/>
                      <a:round/>
                      <a:headEnd type="none" w="med" len="med"/>
                      <a:tailEnd type="none" w="med" len="med"/>
                    </a:lnR>
                    <a:lnT w="0" cap="flat" cmpd="sng" algn="ctr">
                      <a:noFill/>
                    </a:lnT>
                    <a:lnB w="12700" cap="flat" cmpd="sng" algn="ctr">
                      <a:solidFill>
                        <a:srgbClr val="1C2522"/>
                      </a:solidFill>
                      <a:prstDash val="solid"/>
                      <a:round/>
                      <a:headEnd type="none" w="med" len="med"/>
                      <a:tailEnd type="none" w="med" len="med"/>
                    </a:lnB>
                    <a:solidFill>
                      <a:srgbClr val="1E2A26"/>
                    </a:solidFill>
                  </a:tcPr>
                </a:tc>
                <a:extLst>
                  <a:ext uri="{0D108BD9-81ED-4DB2-BD59-A6C34878D82A}">
                    <a16:rowId xmlns:a16="http://schemas.microsoft.com/office/drawing/2014/main" val="10000"/>
                  </a:ext>
                </a:extLst>
              </a:tr>
              <a:tr h="332581">
                <a:tc>
                  <a:txBody>
                    <a:bodyPr/>
                    <a:lstStyle/>
                    <a:p>
                      <a:pPr marL="0" indent="0">
                        <a:lnSpc>
                          <a:spcPts val="1680"/>
                        </a:lnSpc>
                        <a:buNone/>
                      </a:pPr>
                      <a:r>
                        <a:rPr lang="en-US" sz="1200" dirty="0">
                          <a:solidFill>
                            <a:srgbClr val="1E2A26"/>
                          </a:solidFill>
                          <a:latin typeface="Arial" pitchFamily="34" charset="0"/>
                          <a:ea typeface="Arial" pitchFamily="34" charset="-122"/>
                          <a:cs typeface="Arial" pitchFamily="34" charset="-120"/>
                        </a:rPr>
                        <a:t>Duplikate</a:t>
                      </a:r>
                      <a:endParaRPr lang="en-US" sz="1200" dirty="0">
                        <a:latin typeface="Arial" charset="0"/>
                        <a:ea typeface="Arial" charset="0"/>
                        <a:cs typeface="Arial" charset="0"/>
                      </a:endParaRPr>
                    </a:p>
                  </a:txBody>
                  <a:tcPr marL="53340" marR="53340" marT="53340" marB="53340">
                    <a:lnL w="0" cap="flat" cmpd="sng" algn="ctr">
                      <a:noFill/>
                    </a:lnL>
                    <a:lnR w="12700" cap="flat" cmpd="sng" algn="ctr">
                      <a:solidFill>
                        <a:srgbClr val="CBCBCB"/>
                      </a:solidFill>
                      <a:prstDash val="solid"/>
                      <a:round/>
                      <a:headEnd type="none" w="med" len="med"/>
                      <a:tailEnd type="none" w="med" len="med"/>
                    </a:lnR>
                    <a:lnT w="12700" cap="flat" cmpd="sng" algn="ctr">
                      <a:solidFill>
                        <a:srgbClr val="1C252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680"/>
                        </a:lnSpc>
                        <a:buNone/>
                      </a:pPr>
                      <a:r>
                        <a:rPr lang="en-US" sz="1200" dirty="0">
                          <a:solidFill>
                            <a:srgbClr val="1E2A26"/>
                          </a:solidFill>
                          <a:latin typeface="Arial" pitchFamily="34" charset="0"/>
                          <a:ea typeface="Arial" pitchFamily="34" charset="-122"/>
                          <a:cs typeface="Arial" pitchFamily="34" charset="-120"/>
                        </a:rPr>
                        <a:t>Gleicher Barcode mehrfach</a:t>
                      </a:r>
                      <a:endParaRPr lang="en-US" sz="1200" dirty="0">
                        <a:latin typeface="Arial" charset="0"/>
                        <a:ea typeface="Arial" charset="0"/>
                        <a:cs typeface="Arial" charset="0"/>
                      </a:endParaRPr>
                    </a:p>
                  </a:txBody>
                  <a:tcPr marL="53340" marR="53340" marT="53340" marB="5334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C252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680"/>
                        </a:lnSpc>
                        <a:buNone/>
                      </a:pPr>
                      <a:r>
                        <a:rPr lang="en-US" sz="1200" dirty="0">
                          <a:solidFill>
                            <a:srgbClr val="1E2A26"/>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3340" marR="53340" marT="53340" marB="5334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C252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1"/>
                  </a:ext>
                </a:extLst>
              </a:tr>
              <a:tr h="332581">
                <a:tc>
                  <a:txBody>
                    <a:bodyPr/>
                    <a:lstStyle/>
                    <a:p>
                      <a:pPr marL="0" indent="0">
                        <a:lnSpc>
                          <a:spcPts val="1680"/>
                        </a:lnSpc>
                        <a:buNone/>
                      </a:pPr>
                      <a:r>
                        <a:rPr lang="en-US" sz="1200" dirty="0">
                          <a:solidFill>
                            <a:srgbClr val="1E2A26"/>
                          </a:solidFill>
                          <a:latin typeface="Arial" pitchFamily="34" charset="0"/>
                          <a:ea typeface="Arial" pitchFamily="34" charset="-122"/>
                          <a:cs typeface="Arial" pitchFamily="34" charset="-120"/>
                        </a:rPr>
                        <a:t>Unmögliche Werte</a:t>
                      </a:r>
                      <a:endParaRPr lang="en-US" sz="1200" dirty="0">
                        <a:latin typeface="Arial" charset="0"/>
                        <a:ea typeface="Arial" charset="0"/>
                        <a:cs typeface="Arial" charset="0"/>
                      </a:endParaRPr>
                    </a:p>
                  </a:txBody>
                  <a:tcPr marL="53340" marR="53340" marT="53340" marB="53340">
                    <a:lnL w="0" cap="flat" cmpd="sng" algn="ctr">
                      <a:noFill/>
                    </a:lnL>
                    <a:lnR w="12700" cap="flat" cmpd="sng" algn="ctr">
                      <a:solidFill>
                        <a:srgbClr val="C4C3B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c>
                  <a:txBody>
                    <a:bodyPr/>
                    <a:lstStyle/>
                    <a:p>
                      <a:pPr marL="0" indent="0">
                        <a:lnSpc>
                          <a:spcPts val="1680"/>
                        </a:lnSpc>
                        <a:buNone/>
                      </a:pPr>
                      <a:r>
                        <a:rPr lang="en-US" sz="1200" dirty="0">
                          <a:solidFill>
                            <a:srgbClr val="1E2A26"/>
                          </a:solidFill>
                          <a:latin typeface="Arial" pitchFamily="34" charset="0"/>
                          <a:ea typeface="Arial" pitchFamily="34" charset="-122"/>
                          <a:cs typeface="Arial" pitchFamily="34" charset="-120"/>
                        </a:rPr>
                        <a:t>Nährwert unter 0 oder über 100 g pro 100 g</a:t>
                      </a:r>
                      <a:endParaRPr lang="en-US" sz="1200" dirty="0">
                        <a:latin typeface="Arial" charset="0"/>
                        <a:ea typeface="Arial" charset="0"/>
                        <a:cs typeface="Arial" charset="0"/>
                      </a:endParaRPr>
                    </a:p>
                  </a:txBody>
                  <a:tcPr marL="53340" marR="53340" marT="53340" marB="5334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c>
                  <a:txBody>
                    <a:bodyPr/>
                    <a:lstStyle/>
                    <a:p>
                      <a:pPr marL="0" indent="0" algn="r">
                        <a:lnSpc>
                          <a:spcPts val="1680"/>
                        </a:lnSpc>
                        <a:buNone/>
                      </a:pPr>
                      <a:r>
                        <a:rPr lang="en-US" sz="1200" dirty="0">
                          <a:solidFill>
                            <a:srgbClr val="1E2A26"/>
                          </a:solidFill>
                          <a:latin typeface="Arial" pitchFamily="34" charset="0"/>
                          <a:ea typeface="Arial" pitchFamily="34" charset="-122"/>
                          <a:cs typeface="Arial" pitchFamily="34" charset="-120"/>
                        </a:rPr>
                        <a:t>267</a:t>
                      </a:r>
                      <a:endParaRPr lang="en-US" sz="1200" dirty="0">
                        <a:latin typeface="Arial" charset="0"/>
                        <a:ea typeface="Arial" charset="0"/>
                        <a:cs typeface="Arial" charset="0"/>
                      </a:endParaRPr>
                    </a:p>
                  </a:txBody>
                  <a:tcPr marL="53340" marR="53340" marT="53340" marB="5334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extLst>
                  <a:ext uri="{0D108BD9-81ED-4DB2-BD59-A6C34878D82A}">
                    <a16:rowId xmlns:a16="http://schemas.microsoft.com/office/drawing/2014/main" val="10002"/>
                  </a:ext>
                </a:extLst>
              </a:tr>
              <a:tr h="332581">
                <a:tc>
                  <a:txBody>
                    <a:bodyPr/>
                    <a:lstStyle/>
                    <a:p>
                      <a:pPr marL="0" indent="0">
                        <a:lnSpc>
                          <a:spcPts val="1680"/>
                        </a:lnSpc>
                        <a:buNone/>
                      </a:pPr>
                      <a:r>
                        <a:rPr lang="en-US" sz="1200" dirty="0">
                          <a:solidFill>
                            <a:srgbClr val="1E2A26"/>
                          </a:solidFill>
                          <a:latin typeface="Arial" pitchFamily="34" charset="0"/>
                          <a:ea typeface="Arial" pitchFamily="34" charset="-122"/>
                          <a:cs typeface="Arial" pitchFamily="34" charset="-120"/>
                        </a:rPr>
                        <a:t>Summe</a:t>
                      </a:r>
                      <a:endParaRPr lang="en-US" sz="1200" dirty="0">
                        <a:latin typeface="Arial" charset="0"/>
                        <a:ea typeface="Arial" charset="0"/>
                        <a:cs typeface="Arial" charset="0"/>
                      </a:endParaRPr>
                    </a:p>
                  </a:txBody>
                  <a:tcPr marL="53340" marR="53340" marT="53340" marB="53340">
                    <a:lnL w="0" cap="flat" cmpd="sng" algn="ctr">
                      <a:noFill/>
                    </a:lnL>
                    <a:lnR w="12700" cap="flat" cmpd="sng" algn="ctr">
                      <a:solidFill>
                        <a:srgbClr val="CBCBC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680"/>
                        </a:lnSpc>
                        <a:buNone/>
                      </a:pPr>
                      <a:r>
                        <a:rPr lang="en-US" sz="1200" dirty="0">
                          <a:solidFill>
                            <a:srgbClr val="1E2A26"/>
                          </a:solidFill>
                          <a:latin typeface="Arial" pitchFamily="34" charset="0"/>
                          <a:ea typeface="Arial" pitchFamily="34" charset="-122"/>
                          <a:cs typeface="Arial" pitchFamily="34" charset="-120"/>
                        </a:rPr>
                        <a:t>Fett + Kohlenhydrate + Protein + Salz über 100 g</a:t>
                      </a:r>
                      <a:endParaRPr lang="en-US" sz="1200" dirty="0">
                        <a:latin typeface="Arial" charset="0"/>
                        <a:ea typeface="Arial" charset="0"/>
                        <a:cs typeface="Arial" charset="0"/>
                      </a:endParaRPr>
                    </a:p>
                  </a:txBody>
                  <a:tcPr marL="53340" marR="53340" marT="53340" marB="5334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680"/>
                        </a:lnSpc>
                        <a:buNone/>
                      </a:pPr>
                      <a:r>
                        <a:rPr lang="en-US" sz="1200" dirty="0">
                          <a:solidFill>
                            <a:srgbClr val="1E2A26"/>
                          </a:solidFill>
                          <a:latin typeface="Arial" pitchFamily="34" charset="0"/>
                          <a:ea typeface="Arial" pitchFamily="34" charset="-122"/>
                          <a:cs typeface="Arial" pitchFamily="34" charset="-120"/>
                        </a:rPr>
                        <a:t>218</a:t>
                      </a:r>
                      <a:endParaRPr lang="en-US" sz="1200" dirty="0">
                        <a:latin typeface="Arial" charset="0"/>
                        <a:ea typeface="Arial" charset="0"/>
                        <a:cs typeface="Arial" charset="0"/>
                      </a:endParaRPr>
                    </a:p>
                  </a:txBody>
                  <a:tcPr marL="53340" marR="53340" marT="53340" marB="5334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3"/>
                  </a:ext>
                </a:extLst>
              </a:tr>
              <a:tr h="332581">
                <a:tc>
                  <a:txBody>
                    <a:bodyPr/>
                    <a:lstStyle/>
                    <a:p>
                      <a:pPr marL="0" indent="0">
                        <a:lnSpc>
                          <a:spcPts val="1680"/>
                        </a:lnSpc>
                        <a:buNone/>
                      </a:pPr>
                      <a:r>
                        <a:rPr lang="en-US" sz="1200" dirty="0">
                          <a:solidFill>
                            <a:srgbClr val="1E2A26"/>
                          </a:solidFill>
                          <a:latin typeface="Arial" pitchFamily="34" charset="0"/>
                          <a:ea typeface="Arial" pitchFamily="34" charset="-122"/>
                          <a:cs typeface="Arial" pitchFamily="34" charset="-120"/>
                        </a:rPr>
                        <a:t>Energie</a:t>
                      </a:r>
                      <a:endParaRPr lang="en-US" sz="1200" dirty="0">
                        <a:latin typeface="Arial" charset="0"/>
                        <a:ea typeface="Arial" charset="0"/>
                        <a:cs typeface="Arial" charset="0"/>
                      </a:endParaRPr>
                    </a:p>
                  </a:txBody>
                  <a:tcPr marL="53340" marR="53340" marT="53340" marB="53340">
                    <a:lnL w="0" cap="flat" cmpd="sng" algn="ctr">
                      <a:noFill/>
                    </a:lnL>
                    <a:lnR w="12700" cap="flat" cmpd="sng" algn="ctr">
                      <a:solidFill>
                        <a:srgbClr val="C4C3B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c>
                  <a:txBody>
                    <a:bodyPr/>
                    <a:lstStyle/>
                    <a:p>
                      <a:pPr marL="0" indent="0">
                        <a:lnSpc>
                          <a:spcPts val="1680"/>
                        </a:lnSpc>
                        <a:buNone/>
                      </a:pPr>
                      <a:r>
                        <a:rPr lang="en-US" sz="1200" dirty="0">
                          <a:solidFill>
                            <a:srgbClr val="1E2A26"/>
                          </a:solidFill>
                          <a:latin typeface="Arial" pitchFamily="34" charset="0"/>
                          <a:ea typeface="Arial" pitchFamily="34" charset="-122"/>
                          <a:cs typeface="Arial" pitchFamily="34" charset="-120"/>
                        </a:rPr>
                        <a:t>Abweichung über 20 % von 4·KH + 4·Protein + 9·Fett</a:t>
                      </a:r>
                      <a:endParaRPr lang="en-US" sz="1200" dirty="0">
                        <a:latin typeface="Arial" charset="0"/>
                        <a:ea typeface="Arial" charset="0"/>
                        <a:cs typeface="Arial" charset="0"/>
                      </a:endParaRPr>
                    </a:p>
                  </a:txBody>
                  <a:tcPr marL="53340" marR="53340" marT="53340" marB="5334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c>
                  <a:txBody>
                    <a:bodyPr/>
                    <a:lstStyle/>
                    <a:p>
                      <a:pPr marL="0" indent="0" algn="r">
                        <a:lnSpc>
                          <a:spcPts val="1680"/>
                        </a:lnSpc>
                        <a:buNone/>
                      </a:pPr>
                      <a:r>
                        <a:rPr lang="en-US" sz="1200" dirty="0">
                          <a:solidFill>
                            <a:srgbClr val="1E2A26"/>
                          </a:solidFill>
                          <a:latin typeface="Arial" pitchFamily="34" charset="0"/>
                          <a:ea typeface="Arial" pitchFamily="34" charset="-122"/>
                          <a:cs typeface="Arial" pitchFamily="34" charset="-120"/>
                        </a:rPr>
                        <a:t>3'933</a:t>
                      </a:r>
                      <a:endParaRPr lang="en-US" sz="1200" dirty="0">
                        <a:latin typeface="Arial" charset="0"/>
                        <a:ea typeface="Arial" charset="0"/>
                        <a:cs typeface="Arial" charset="0"/>
                      </a:endParaRPr>
                    </a:p>
                  </a:txBody>
                  <a:tcPr marL="53340" marR="53340" marT="53340" marB="5334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extLst>
                  <a:ext uri="{0D108BD9-81ED-4DB2-BD59-A6C34878D82A}">
                    <a16:rowId xmlns:a16="http://schemas.microsoft.com/office/drawing/2014/main" val="10004"/>
                  </a:ext>
                </a:extLst>
              </a:tr>
              <a:tr h="332581">
                <a:tc>
                  <a:txBody>
                    <a:bodyPr/>
                    <a:lstStyle/>
                    <a:p>
                      <a:pPr marL="0" indent="0">
                        <a:lnSpc>
                          <a:spcPts val="1680"/>
                        </a:lnSpc>
                        <a:buNone/>
                      </a:pPr>
                      <a:r>
                        <a:rPr lang="en-US" sz="1200" dirty="0">
                          <a:solidFill>
                            <a:srgbClr val="1E2A26"/>
                          </a:solidFill>
                          <a:latin typeface="Arial" pitchFamily="34" charset="0"/>
                          <a:ea typeface="Arial" pitchFamily="34" charset="-122"/>
                          <a:cs typeface="Arial" pitchFamily="34" charset="-120"/>
                        </a:rPr>
                        <a:t>Zielwerte fehlen</a:t>
                      </a:r>
                      <a:endParaRPr lang="en-US" sz="1200" dirty="0">
                        <a:latin typeface="Arial" charset="0"/>
                        <a:ea typeface="Arial" charset="0"/>
                        <a:cs typeface="Arial" charset="0"/>
                      </a:endParaRPr>
                    </a:p>
                  </a:txBody>
                  <a:tcPr marL="53340" marR="53340" marT="53340" marB="53340">
                    <a:lnL w="0" cap="flat" cmpd="sng" algn="ctr">
                      <a:noFill/>
                    </a:lnL>
                    <a:lnR w="12700" cap="flat" cmpd="sng" algn="ctr">
                      <a:solidFill>
                        <a:srgbClr val="CBCBC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680"/>
                        </a:lnSpc>
                        <a:buNone/>
                      </a:pPr>
                      <a:r>
                        <a:rPr lang="en-US" sz="1200" dirty="0">
                          <a:solidFill>
                            <a:srgbClr val="1E2A26"/>
                          </a:solidFill>
                          <a:latin typeface="Arial" pitchFamily="34" charset="0"/>
                          <a:ea typeface="Arial" pitchFamily="34" charset="-122"/>
                          <a:cs typeface="Arial" pitchFamily="34" charset="-120"/>
                        </a:rPr>
                        <a:t>Kein Nutri-Score oder keine NOVA-Gruppe</a:t>
                      </a:r>
                      <a:endParaRPr lang="en-US" sz="1200" dirty="0">
                        <a:latin typeface="Arial" charset="0"/>
                        <a:ea typeface="Arial" charset="0"/>
                        <a:cs typeface="Arial" charset="0"/>
                      </a:endParaRPr>
                    </a:p>
                  </a:txBody>
                  <a:tcPr marL="53340" marR="53340" marT="53340" marB="5334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680"/>
                        </a:lnSpc>
                        <a:buNone/>
                      </a:pPr>
                      <a:r>
                        <a:rPr lang="en-US" sz="1200" dirty="0">
                          <a:solidFill>
                            <a:srgbClr val="1E2A26"/>
                          </a:solidFill>
                          <a:latin typeface="Arial" pitchFamily="34" charset="0"/>
                          <a:ea typeface="Arial" pitchFamily="34" charset="-122"/>
                          <a:cs typeface="Arial" pitchFamily="34" charset="-120"/>
                        </a:rPr>
                        <a:t>82'186</a:t>
                      </a:r>
                      <a:endParaRPr lang="en-US" sz="1200" dirty="0">
                        <a:latin typeface="Arial" charset="0"/>
                        <a:ea typeface="Arial" charset="0"/>
                        <a:cs typeface="Arial" charset="0"/>
                      </a:endParaRPr>
                    </a:p>
                  </a:txBody>
                  <a:tcPr marL="53340" marR="53340" marT="53340" marB="5334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5"/>
                  </a:ext>
                </a:extLst>
              </a:tr>
              <a:tr h="332581">
                <a:tc>
                  <a:txBody>
                    <a:bodyPr/>
                    <a:lstStyle/>
                    <a:p>
                      <a:pPr marL="0" indent="0">
                        <a:lnSpc>
                          <a:spcPts val="1680"/>
                        </a:lnSpc>
                        <a:buNone/>
                      </a:pPr>
                      <a:r>
                        <a:rPr lang="en-US" sz="1200" dirty="0">
                          <a:solidFill>
                            <a:srgbClr val="1E2A26"/>
                          </a:solidFill>
                          <a:latin typeface="Arial" pitchFamily="34" charset="0"/>
                          <a:ea typeface="Arial" pitchFamily="34" charset="-122"/>
                          <a:cs typeface="Arial" pitchFamily="34" charset="-120"/>
                        </a:rPr>
                        <a:t>Getränke</a:t>
                      </a:r>
                      <a:endParaRPr lang="en-US" sz="1200" dirty="0">
                        <a:latin typeface="Arial" charset="0"/>
                        <a:ea typeface="Arial" charset="0"/>
                        <a:cs typeface="Arial" charset="0"/>
                      </a:endParaRPr>
                    </a:p>
                  </a:txBody>
                  <a:tcPr marL="53340" marR="53340" marT="53340" marB="53340">
                    <a:lnL w="0" cap="flat" cmpd="sng" algn="ctr">
                      <a:noFill/>
                    </a:lnL>
                    <a:lnR w="12700" cap="flat" cmpd="sng" algn="ctr">
                      <a:solidFill>
                        <a:srgbClr val="C4C3B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c>
                  <a:txBody>
                    <a:bodyPr/>
                    <a:lstStyle/>
                    <a:p>
                      <a:pPr marL="0" indent="0">
                        <a:lnSpc>
                          <a:spcPts val="1680"/>
                        </a:lnSpc>
                        <a:buNone/>
                      </a:pPr>
                      <a:r>
                        <a:rPr lang="en-US" sz="1200" dirty="0">
                          <a:solidFill>
                            <a:srgbClr val="1E2A26"/>
                          </a:solidFill>
                          <a:latin typeface="Arial" pitchFamily="34" charset="0"/>
                          <a:ea typeface="Arial" pitchFamily="34" charset="-122"/>
                          <a:cs typeface="Arial" pitchFamily="34" charset="-120"/>
                        </a:rPr>
                        <a:t>Separat, eigener Algorithmus</a:t>
                      </a:r>
                      <a:endParaRPr lang="en-US" sz="1200" dirty="0">
                        <a:latin typeface="Arial" charset="0"/>
                        <a:ea typeface="Arial" charset="0"/>
                        <a:cs typeface="Arial" charset="0"/>
                      </a:endParaRPr>
                    </a:p>
                  </a:txBody>
                  <a:tcPr marL="53340" marR="53340" marT="53340" marB="5334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c>
                  <a:txBody>
                    <a:bodyPr/>
                    <a:lstStyle/>
                    <a:p>
                      <a:pPr marL="0" indent="0" algn="r">
                        <a:lnSpc>
                          <a:spcPts val="1680"/>
                        </a:lnSpc>
                        <a:buNone/>
                      </a:pPr>
                      <a:r>
                        <a:rPr lang="en-US" sz="1200" dirty="0">
                          <a:solidFill>
                            <a:srgbClr val="1E2A26"/>
                          </a:solidFill>
                          <a:latin typeface="Arial" pitchFamily="34" charset="0"/>
                          <a:ea typeface="Arial" pitchFamily="34" charset="-122"/>
                          <a:cs typeface="Arial" pitchFamily="34" charset="-120"/>
                        </a:rPr>
                        <a:t>8'225</a:t>
                      </a:r>
                      <a:endParaRPr lang="en-US" sz="1200" dirty="0">
                        <a:latin typeface="Arial" charset="0"/>
                        <a:ea typeface="Arial" charset="0"/>
                        <a:cs typeface="Arial" charset="0"/>
                      </a:endParaRPr>
                    </a:p>
                  </a:txBody>
                  <a:tcPr marL="53340" marR="53340" marT="53340" marB="5334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extLst>
                  <a:ext uri="{0D108BD9-81ED-4DB2-BD59-A6C34878D82A}">
                    <a16:rowId xmlns:a16="http://schemas.microsoft.com/office/drawing/2014/main" val="10006"/>
                  </a:ext>
                </a:extLst>
              </a:tr>
            </a:tbl>
          </a:graphicData>
        </a:graphic>
      </p:graphicFrame>
      <p:sp>
        <p:nvSpPr>
          <p:cNvPr id="7" name="Shape 4"/>
          <p:cNvSpPr/>
          <p:nvPr/>
        </p:nvSpPr>
        <p:spPr>
          <a:xfrm>
            <a:off x="8839200" y="1828701"/>
            <a:ext cx="2540000" cy="2616002"/>
          </a:xfrm>
          <a:prstGeom prst="roundRect">
            <a:avLst>
              <a:gd name="adj" fmla="val 4000"/>
            </a:avLst>
          </a:prstGeom>
          <a:solidFill>
            <a:srgbClr val="1E2A26"/>
          </a:solidFill>
          <a:ln/>
        </p:spPr>
        <p:txBody>
          <a:bodyPr/>
          <a:lstStyle/>
          <a:p>
            <a:endParaRPr lang="de-CH"/>
          </a:p>
        </p:txBody>
      </p:sp>
      <p:sp>
        <p:nvSpPr>
          <p:cNvPr id="8" name="Text 5"/>
          <p:cNvSpPr/>
          <p:nvPr/>
        </p:nvSpPr>
        <p:spPr>
          <a:xfrm>
            <a:off x="9093200" y="2082701"/>
            <a:ext cx="2092960" cy="2564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C9D3CC"/>
                </a:solidFill>
                <a:latin typeface="Arial" pitchFamily="34" charset="0"/>
                <a:ea typeface="Arial" pitchFamily="34" charset="-122"/>
                <a:cs typeface="Arial" pitchFamily="34" charset="-120"/>
              </a:rPr>
              <a:t>Vorher (Bronze)</a:t>
            </a:r>
            <a:endParaRPr lang="en-US" sz="1300" dirty="0"/>
          </a:p>
        </p:txBody>
      </p:sp>
      <p:sp>
        <p:nvSpPr>
          <p:cNvPr id="9" name="Text 6"/>
          <p:cNvSpPr/>
          <p:nvPr/>
        </p:nvSpPr>
        <p:spPr>
          <a:xfrm>
            <a:off x="9093200" y="2415381"/>
            <a:ext cx="2092960" cy="431800"/>
          </a:xfrm>
          <a:prstGeom prst="rect">
            <a:avLst/>
          </a:prstGeom>
          <a:noFill/>
          <a:ln/>
        </p:spPr>
        <p:txBody>
          <a:bodyPr wrap="square" lIns="0" tIns="0" rIns="0" bIns="0" rtlCol="0" anchor="t">
            <a:normAutofit/>
          </a:bodyPr>
          <a:lstStyle/>
          <a:p>
            <a:pPr marL="0" indent="0" algn="l">
              <a:lnSpc>
                <a:spcPts val="3200"/>
              </a:lnSpc>
              <a:buNone/>
            </a:pPr>
            <a:r>
              <a:rPr lang="en-US" sz="3200" b="1" dirty="0">
                <a:solidFill>
                  <a:srgbClr val="F3F0E8"/>
                </a:solidFill>
                <a:latin typeface="Arial" pitchFamily="34" charset="0"/>
                <a:ea typeface="Arial" pitchFamily="34" charset="-122"/>
                <a:cs typeface="Arial" pitchFamily="34" charset="-120"/>
              </a:rPr>
              <a:t>105'693</a:t>
            </a:r>
            <a:endParaRPr lang="en-US" sz="3200" dirty="0"/>
          </a:p>
        </p:txBody>
      </p:sp>
      <p:sp>
        <p:nvSpPr>
          <p:cNvPr id="10" name="Text 7"/>
          <p:cNvSpPr/>
          <p:nvPr/>
        </p:nvSpPr>
        <p:spPr>
          <a:xfrm>
            <a:off x="9093200" y="2923381"/>
            <a:ext cx="2092960" cy="2564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C9D3CC"/>
                </a:solidFill>
                <a:latin typeface="Arial" pitchFamily="34" charset="0"/>
                <a:ea typeface="Arial" pitchFamily="34" charset="-122"/>
                <a:cs typeface="Arial" pitchFamily="34" charset="-120"/>
              </a:rPr>
              <a:t>Nachher (Silver)</a:t>
            </a:r>
            <a:endParaRPr lang="en-US" sz="1300" dirty="0"/>
          </a:p>
        </p:txBody>
      </p:sp>
      <p:sp>
        <p:nvSpPr>
          <p:cNvPr id="11" name="Text 8"/>
          <p:cNvSpPr/>
          <p:nvPr/>
        </p:nvSpPr>
        <p:spPr>
          <a:xfrm>
            <a:off x="9093200" y="3256062"/>
            <a:ext cx="2092960" cy="431800"/>
          </a:xfrm>
          <a:prstGeom prst="rect">
            <a:avLst/>
          </a:prstGeom>
          <a:noFill/>
          <a:ln/>
        </p:spPr>
        <p:txBody>
          <a:bodyPr wrap="square" lIns="0" tIns="0" rIns="0" bIns="0" rtlCol="0" anchor="t">
            <a:normAutofit/>
          </a:bodyPr>
          <a:lstStyle/>
          <a:p>
            <a:pPr marL="0" indent="0" algn="l">
              <a:lnSpc>
                <a:spcPts val="3200"/>
              </a:lnSpc>
              <a:buNone/>
            </a:pPr>
            <a:r>
              <a:rPr lang="en-US" sz="3200" b="1" dirty="0">
                <a:solidFill>
                  <a:srgbClr val="F0A56B"/>
                </a:solidFill>
                <a:latin typeface="Arial" pitchFamily="34" charset="0"/>
                <a:ea typeface="Arial" pitchFamily="34" charset="-122"/>
                <a:cs typeface="Arial" pitchFamily="34" charset="-120"/>
              </a:rPr>
              <a:t>22'949</a:t>
            </a:r>
            <a:endParaRPr lang="en-US" sz="3200" dirty="0"/>
          </a:p>
        </p:txBody>
      </p:sp>
      <p:sp>
        <p:nvSpPr>
          <p:cNvPr id="12" name="Text 9"/>
          <p:cNvSpPr/>
          <p:nvPr/>
        </p:nvSpPr>
        <p:spPr>
          <a:xfrm>
            <a:off x="9093200" y="3764062"/>
            <a:ext cx="209296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3CC"/>
                </a:solidFill>
                <a:latin typeface="Arial" pitchFamily="34" charset="0"/>
                <a:ea typeface="Arial" pitchFamily="34" charset="-122"/>
                <a:cs typeface="Arial" pitchFamily="34" charset="-120"/>
              </a:rPr>
              <a:t>davon 20'454 Lebensmittel ohne Getränke</a:t>
            </a:r>
            <a:endParaRPr lang="en-US" sz="12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660"/>
                </a:solidFill>
                <a:latin typeface="Arial" pitchFamily="34" charset="0"/>
                <a:ea typeface="Arial" pitchFamily="34" charset="-122"/>
                <a:cs typeface="Arial" pitchFamily="34" charset="-120"/>
              </a:rPr>
              <a:t>Snapshot 6.10.2026 · Mehrfachnennung möglich · entfernte Einträge mit Grund protokolliert · 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7530"/>
          </a:xfrm>
          <a:prstGeom prst="rect">
            <a:avLst/>
          </a:prstGeom>
          <a:noFill/>
          <a:ln/>
        </p:spPr>
        <p:txBody>
          <a:bodyPr wrap="square" lIns="0" tIns="0" rIns="0" bIns="0" rtlCol="0" anchor="t">
            <a:normAutofit/>
          </a:bodyPr>
          <a:lstStyle/>
          <a:p>
            <a:pPr marL="0" indent="0" algn="l">
              <a:lnSpc>
                <a:spcPts val="1675"/>
              </a:lnSpc>
              <a:buNone/>
            </a:pPr>
            <a:r>
              <a:rPr lang="en-US" sz="1196" b="1" kern="0" spc="100" dirty="0">
                <a:solidFill>
                  <a:srgbClr val="2F5F7A"/>
                </a:solidFill>
                <a:latin typeface="Arial" pitchFamily="34" charset="0"/>
                <a:ea typeface="Arial" pitchFamily="34" charset="-122"/>
                <a:cs typeface="Arial" pitchFamily="34" charset="-120"/>
              </a:rPr>
              <a:t>TRANSFORMATION 1 · INITIALE ANALYSE</a:t>
            </a:r>
            <a:endParaRPr lang="en-US" sz="1196" dirty="0"/>
          </a:p>
        </p:txBody>
      </p:sp>
      <p:sp>
        <p:nvSpPr>
          <p:cNvPr id="3" name="Text 1"/>
          <p:cNvSpPr>
            <a:spLocks noGrp="1"/>
          </p:cNvSpPr>
          <p:nvPr>
            <p:ph type="title"/>
          </p:nvPr>
        </p:nvSpPr>
        <p:spPr>
          <a:xfrm>
            <a:off x="812800" y="1126530"/>
            <a:ext cx="10883392" cy="914202"/>
          </a:xfrm>
          <a:prstGeom prst="rect">
            <a:avLst/>
          </a:prstGeom>
          <a:noFill/>
          <a:ln/>
        </p:spPr>
        <p:txBody>
          <a:bodyPr wrap="square" lIns="0" tIns="0" rIns="0" bIns="0" rtlCol="0" anchor="t">
            <a:normAutofit/>
          </a:bodyPr>
          <a:lstStyle/>
          <a:p>
            <a:pPr marL="0" indent="0" algn="l">
              <a:lnSpc>
                <a:spcPts val="3509"/>
              </a:lnSpc>
              <a:buNone/>
            </a:pPr>
            <a:r>
              <a:rPr lang="en-US" sz="3190" b="1" i="0" dirty="0">
                <a:solidFill>
                  <a:srgbClr val="1E2A26"/>
                </a:solidFill>
                <a:latin typeface="Arial" pitchFamily="34" charset="0"/>
                <a:ea typeface="Arial" pitchFamily="34" charset="-122"/>
                <a:cs typeface="Arial" pitchFamily="34" charset="-120"/>
              </a:rPr>
              <a:t>Je schlechter der Score, desto mehr Hochverarbeitetes</a:t>
            </a:r>
            <a:endParaRPr lang="en-US" sz="3190" dirty="0"/>
          </a:p>
        </p:txBody>
      </p:sp>
      <p:sp>
        <p:nvSpPr>
          <p:cNvPr id="4" name="Shape 2"/>
          <p:cNvSpPr/>
          <p:nvPr/>
        </p:nvSpPr>
        <p:spPr>
          <a:xfrm>
            <a:off x="1473200" y="2236291"/>
            <a:ext cx="177800" cy="177800"/>
          </a:xfrm>
          <a:prstGeom prst="roundRect">
            <a:avLst>
              <a:gd name="adj" fmla="val 14286"/>
            </a:avLst>
          </a:prstGeom>
          <a:solidFill>
            <a:srgbClr val="2F5F7A"/>
          </a:solidFill>
          <a:ln/>
        </p:spPr>
        <p:txBody>
          <a:bodyPr/>
          <a:lstStyle/>
          <a:p>
            <a:endParaRPr lang="de-CH"/>
          </a:p>
        </p:txBody>
      </p:sp>
      <p:sp>
        <p:nvSpPr>
          <p:cNvPr id="5" name="Text 3"/>
          <p:cNvSpPr/>
          <p:nvPr/>
        </p:nvSpPr>
        <p:spPr>
          <a:xfrm>
            <a:off x="1714500" y="2218531"/>
            <a:ext cx="167441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E2A26"/>
                </a:solidFill>
                <a:latin typeface="Arial" pitchFamily="34" charset="0"/>
                <a:ea typeface="Arial" pitchFamily="34" charset="-122"/>
                <a:cs typeface="Arial" pitchFamily="34" charset="-120"/>
              </a:rPr>
              <a:t>NOVA 1 unverarbeitet</a:t>
            </a:r>
            <a:endParaRPr lang="en-US" sz="1200" dirty="0"/>
          </a:p>
        </p:txBody>
      </p:sp>
      <p:sp>
        <p:nvSpPr>
          <p:cNvPr id="6" name="Shape 4"/>
          <p:cNvSpPr/>
          <p:nvPr/>
        </p:nvSpPr>
        <p:spPr>
          <a:xfrm>
            <a:off x="3388916" y="2236291"/>
            <a:ext cx="177800" cy="177800"/>
          </a:xfrm>
          <a:prstGeom prst="roundRect">
            <a:avLst>
              <a:gd name="adj" fmla="val 14286"/>
            </a:avLst>
          </a:prstGeom>
          <a:solidFill>
            <a:srgbClr val="7FA3B8"/>
          </a:solidFill>
          <a:ln/>
        </p:spPr>
        <p:txBody>
          <a:bodyPr/>
          <a:lstStyle/>
          <a:p>
            <a:endParaRPr lang="de-CH"/>
          </a:p>
        </p:txBody>
      </p:sp>
      <p:sp>
        <p:nvSpPr>
          <p:cNvPr id="7" name="Text 5"/>
          <p:cNvSpPr/>
          <p:nvPr/>
        </p:nvSpPr>
        <p:spPr>
          <a:xfrm>
            <a:off x="3630216" y="2218531"/>
            <a:ext cx="64722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E2A26"/>
                </a:solidFill>
                <a:latin typeface="Arial" pitchFamily="34" charset="0"/>
                <a:ea typeface="Arial" pitchFamily="34" charset="-122"/>
                <a:cs typeface="Arial" pitchFamily="34" charset="-120"/>
              </a:rPr>
              <a:t>NOVA 2</a:t>
            </a:r>
            <a:endParaRPr lang="en-US" sz="1200" dirty="0"/>
          </a:p>
        </p:txBody>
      </p:sp>
      <p:sp>
        <p:nvSpPr>
          <p:cNvPr id="8" name="Shape 6"/>
          <p:cNvSpPr/>
          <p:nvPr/>
        </p:nvSpPr>
        <p:spPr>
          <a:xfrm>
            <a:off x="4372769" y="2236291"/>
            <a:ext cx="177800" cy="177800"/>
          </a:xfrm>
          <a:prstGeom prst="roundRect">
            <a:avLst>
              <a:gd name="adj" fmla="val 14286"/>
            </a:avLst>
          </a:prstGeom>
          <a:solidFill>
            <a:srgbClr val="E3B58C"/>
          </a:solidFill>
          <a:ln/>
        </p:spPr>
        <p:txBody>
          <a:bodyPr/>
          <a:lstStyle/>
          <a:p>
            <a:endParaRPr lang="de-CH"/>
          </a:p>
        </p:txBody>
      </p:sp>
      <p:sp>
        <p:nvSpPr>
          <p:cNvPr id="9" name="Text 7"/>
          <p:cNvSpPr/>
          <p:nvPr/>
        </p:nvSpPr>
        <p:spPr>
          <a:xfrm>
            <a:off x="4614069" y="2218531"/>
            <a:ext cx="64722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E2A26"/>
                </a:solidFill>
                <a:latin typeface="Arial" pitchFamily="34" charset="0"/>
                <a:ea typeface="Arial" pitchFamily="34" charset="-122"/>
                <a:cs typeface="Arial" pitchFamily="34" charset="-120"/>
              </a:rPr>
              <a:t>NOVA 3</a:t>
            </a:r>
            <a:endParaRPr lang="en-US" sz="1200" dirty="0"/>
          </a:p>
        </p:txBody>
      </p:sp>
      <p:sp>
        <p:nvSpPr>
          <p:cNvPr id="10" name="Shape 8"/>
          <p:cNvSpPr/>
          <p:nvPr/>
        </p:nvSpPr>
        <p:spPr>
          <a:xfrm>
            <a:off x="5356622" y="2236291"/>
            <a:ext cx="177800" cy="177800"/>
          </a:xfrm>
          <a:prstGeom prst="roundRect">
            <a:avLst>
              <a:gd name="adj" fmla="val 14286"/>
            </a:avLst>
          </a:prstGeom>
          <a:solidFill>
            <a:srgbClr val="B4501A"/>
          </a:solidFill>
          <a:ln/>
        </p:spPr>
        <p:txBody>
          <a:bodyPr/>
          <a:lstStyle/>
          <a:p>
            <a:endParaRPr lang="de-CH"/>
          </a:p>
        </p:txBody>
      </p:sp>
      <p:sp>
        <p:nvSpPr>
          <p:cNvPr id="11" name="Text 9"/>
          <p:cNvSpPr/>
          <p:nvPr/>
        </p:nvSpPr>
        <p:spPr>
          <a:xfrm>
            <a:off x="5597922" y="2218531"/>
            <a:ext cx="1958578"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E2A26"/>
                </a:solidFill>
                <a:latin typeface="Arial" pitchFamily="34" charset="0"/>
                <a:ea typeface="Arial" pitchFamily="34" charset="-122"/>
                <a:cs typeface="Arial" pitchFamily="34" charset="-120"/>
              </a:rPr>
              <a:t>NOVA 4 hochverarbeitet</a:t>
            </a:r>
            <a:endParaRPr lang="en-US" sz="1200" dirty="0"/>
          </a:p>
        </p:txBody>
      </p:sp>
      <p:sp>
        <p:nvSpPr>
          <p:cNvPr id="12" name="Text 10"/>
          <p:cNvSpPr/>
          <p:nvPr/>
        </p:nvSpPr>
        <p:spPr>
          <a:xfrm>
            <a:off x="787400" y="2642691"/>
            <a:ext cx="558800" cy="416520"/>
          </a:xfrm>
          <a:prstGeom prst="rect">
            <a:avLst/>
          </a:prstGeom>
          <a:noFill/>
          <a:ln/>
        </p:spPr>
        <p:txBody>
          <a:bodyPr wrap="square" lIns="0" tIns="0" rIns="0" bIns="0" rtlCol="0" anchor="t">
            <a:normAutofit/>
          </a:bodyPr>
          <a:lstStyle/>
          <a:p>
            <a:pPr marL="0" indent="0" algn="ctr">
              <a:lnSpc>
                <a:spcPts val="3080"/>
              </a:lnSpc>
              <a:buNone/>
            </a:pPr>
            <a:r>
              <a:rPr lang="en-US" sz="2200" b="1" dirty="0">
                <a:solidFill>
                  <a:srgbClr val="1E2A26"/>
                </a:solidFill>
                <a:latin typeface="Arial" pitchFamily="34" charset="0"/>
                <a:ea typeface="Arial" pitchFamily="34" charset="-122"/>
                <a:cs typeface="Arial" pitchFamily="34" charset="-120"/>
              </a:rPr>
              <a:t>A</a:t>
            </a:r>
            <a:endParaRPr lang="en-US" sz="2200" dirty="0"/>
          </a:p>
        </p:txBody>
      </p:sp>
      <p:sp>
        <p:nvSpPr>
          <p:cNvPr id="13" name="Text 11"/>
          <p:cNvSpPr/>
          <p:nvPr/>
        </p:nvSpPr>
        <p:spPr>
          <a:xfrm>
            <a:off x="1473200" y="2558852"/>
            <a:ext cx="3810000" cy="558800"/>
          </a:xfrm>
          <a:custGeom>
            <a:avLst/>
            <a:gdLst/>
            <a:ahLst/>
            <a:cxnLst/>
            <a:rect l="l" t="t" r="r" b="b"/>
            <a:pathLst>
              <a:path w="3810000" h="558800">
                <a:moveTo>
                  <a:pt x="0" y="50800"/>
                </a:moveTo>
                <a:arcTo wR="50800" hR="50800" stAng="10800000" swAng="5400000"/>
                <a:lnTo>
                  <a:pt x="3810000" y="0"/>
                </a:lnTo>
                <a:lnTo>
                  <a:pt x="3810000" y="558800"/>
                </a:lnTo>
                <a:lnTo>
                  <a:pt x="50800" y="558800"/>
                </a:lnTo>
                <a:arcTo wR="50800" hR="50800" stAng="5400000" swAng="5400000"/>
                <a:close/>
              </a:path>
            </a:pathLst>
          </a:custGeom>
          <a:solidFill>
            <a:srgbClr val="2F5F7A"/>
          </a:solidFill>
          <a:ln/>
        </p:spPr>
        <p:txBody>
          <a:bodyPr wrap="square" lIns="101600" tIns="0" rIns="101600" bIns="0" rtlCol="0" anchor="ctr">
            <a:normAutofit/>
          </a:bodyPr>
          <a:lstStyle/>
          <a:p>
            <a:pPr marL="0" indent="0" algn="l">
              <a:lnSpc>
                <a:spcPts val="1820"/>
              </a:lnSpc>
              <a:buNone/>
            </a:pPr>
            <a:r>
              <a:rPr lang="en-US" sz="1300" b="1" dirty="0">
                <a:solidFill>
                  <a:srgbClr val="F3F0E8"/>
                </a:solidFill>
                <a:latin typeface="Arial" pitchFamily="34" charset="0"/>
                <a:ea typeface="Arial" pitchFamily="34" charset="-122"/>
                <a:cs typeface="Arial" pitchFamily="34" charset="-120"/>
              </a:rPr>
              <a:t>50 %</a:t>
            </a:r>
            <a:endParaRPr lang="en-US" sz="1300" dirty="0"/>
          </a:p>
        </p:txBody>
      </p:sp>
      <p:sp>
        <p:nvSpPr>
          <p:cNvPr id="14" name="Shape 12"/>
          <p:cNvSpPr/>
          <p:nvPr/>
        </p:nvSpPr>
        <p:spPr>
          <a:xfrm>
            <a:off x="5283200" y="2558852"/>
            <a:ext cx="2057400" cy="558800"/>
          </a:xfrm>
          <a:prstGeom prst="rect">
            <a:avLst/>
          </a:prstGeom>
          <a:solidFill>
            <a:srgbClr val="E3B58C"/>
          </a:solidFill>
          <a:ln/>
        </p:spPr>
        <p:txBody>
          <a:bodyPr/>
          <a:lstStyle/>
          <a:p>
            <a:endParaRPr lang="de-CH"/>
          </a:p>
        </p:txBody>
      </p:sp>
      <p:sp>
        <p:nvSpPr>
          <p:cNvPr id="15" name="Text 13"/>
          <p:cNvSpPr/>
          <p:nvPr/>
        </p:nvSpPr>
        <p:spPr>
          <a:xfrm>
            <a:off x="7340600" y="2558852"/>
            <a:ext cx="1752600" cy="558800"/>
          </a:xfrm>
          <a:custGeom>
            <a:avLst/>
            <a:gdLst/>
            <a:ahLst/>
            <a:cxnLst/>
            <a:rect l="l" t="t" r="r" b="b"/>
            <a:pathLst>
              <a:path w="1752600" h="558800">
                <a:moveTo>
                  <a:pt x="1701800" y="0"/>
                </a:moveTo>
                <a:arcTo wR="50800" hR="50800" stAng="16200000" swAng="5400000"/>
                <a:lnTo>
                  <a:pt x="1752600" y="508000"/>
                </a:lnTo>
                <a:arcTo wR="50800" hR="50800" stAng="0" swAng="5400000"/>
                <a:lnTo>
                  <a:pt x="0" y="558800"/>
                </a:lnTo>
                <a:lnTo>
                  <a:pt x="0" y="0"/>
                </a:lnTo>
                <a:close/>
              </a:path>
            </a:pathLst>
          </a:custGeom>
          <a:solidFill>
            <a:srgbClr val="B4501A"/>
          </a:solidFill>
          <a:ln/>
        </p:spPr>
        <p:txBody>
          <a:bodyPr wrap="square" lIns="101600" tIns="0" rIns="101600" bIns="0" rtlCol="0" anchor="ctr">
            <a:normAutofit/>
          </a:bodyPr>
          <a:lstStyle/>
          <a:p>
            <a:pPr marL="0" indent="0" algn="r">
              <a:lnSpc>
                <a:spcPts val="1820"/>
              </a:lnSpc>
              <a:buNone/>
            </a:pPr>
            <a:r>
              <a:rPr lang="en-US" sz="1300" b="1" dirty="0">
                <a:solidFill>
                  <a:srgbClr val="FFFFFF"/>
                </a:solidFill>
                <a:latin typeface="Arial" pitchFamily="34" charset="0"/>
                <a:ea typeface="Arial" pitchFamily="34" charset="-122"/>
                <a:cs typeface="Arial" pitchFamily="34" charset="-120"/>
              </a:rPr>
              <a:t>23 %</a:t>
            </a:r>
            <a:endParaRPr lang="en-US" sz="1300" dirty="0"/>
          </a:p>
        </p:txBody>
      </p:sp>
      <p:sp>
        <p:nvSpPr>
          <p:cNvPr id="16" name="Text 14"/>
          <p:cNvSpPr/>
          <p:nvPr/>
        </p:nvSpPr>
        <p:spPr>
          <a:xfrm>
            <a:off x="787400" y="3328491"/>
            <a:ext cx="558800" cy="416520"/>
          </a:xfrm>
          <a:prstGeom prst="rect">
            <a:avLst/>
          </a:prstGeom>
          <a:noFill/>
          <a:ln/>
        </p:spPr>
        <p:txBody>
          <a:bodyPr wrap="square" lIns="0" tIns="0" rIns="0" bIns="0" rtlCol="0" anchor="t">
            <a:normAutofit/>
          </a:bodyPr>
          <a:lstStyle/>
          <a:p>
            <a:pPr marL="0" indent="0" algn="ctr">
              <a:lnSpc>
                <a:spcPts val="3080"/>
              </a:lnSpc>
              <a:buNone/>
            </a:pPr>
            <a:r>
              <a:rPr lang="en-US" sz="2200" b="1" dirty="0">
                <a:solidFill>
                  <a:srgbClr val="1E2A26"/>
                </a:solidFill>
                <a:latin typeface="Arial" pitchFamily="34" charset="0"/>
                <a:ea typeface="Arial" pitchFamily="34" charset="-122"/>
                <a:cs typeface="Arial" pitchFamily="34" charset="-120"/>
              </a:rPr>
              <a:t>B</a:t>
            </a:r>
            <a:endParaRPr lang="en-US" sz="2200" dirty="0"/>
          </a:p>
        </p:txBody>
      </p:sp>
      <p:sp>
        <p:nvSpPr>
          <p:cNvPr id="17" name="Shape 15"/>
          <p:cNvSpPr/>
          <p:nvPr/>
        </p:nvSpPr>
        <p:spPr>
          <a:xfrm>
            <a:off x="1473200" y="3244652"/>
            <a:ext cx="1447800" cy="558800"/>
          </a:xfrm>
          <a:custGeom>
            <a:avLst/>
            <a:gdLst/>
            <a:ahLst/>
            <a:cxnLst/>
            <a:rect l="l" t="t" r="r" b="b"/>
            <a:pathLst>
              <a:path w="1447800" h="558800">
                <a:moveTo>
                  <a:pt x="0" y="50800"/>
                </a:moveTo>
                <a:arcTo wR="50800" hR="50800" stAng="10800000" swAng="5400000"/>
                <a:lnTo>
                  <a:pt x="1447800" y="0"/>
                </a:lnTo>
                <a:lnTo>
                  <a:pt x="1447800" y="558800"/>
                </a:lnTo>
                <a:lnTo>
                  <a:pt x="50800" y="558800"/>
                </a:lnTo>
                <a:arcTo wR="50800" hR="50800" stAng="5400000" swAng="5400000"/>
                <a:close/>
              </a:path>
            </a:pathLst>
          </a:custGeom>
          <a:solidFill>
            <a:srgbClr val="2F5F7A"/>
          </a:solidFill>
          <a:ln/>
        </p:spPr>
        <p:txBody>
          <a:bodyPr/>
          <a:lstStyle/>
          <a:p>
            <a:endParaRPr lang="de-CH"/>
          </a:p>
        </p:txBody>
      </p:sp>
      <p:sp>
        <p:nvSpPr>
          <p:cNvPr id="18" name="Shape 16"/>
          <p:cNvSpPr/>
          <p:nvPr/>
        </p:nvSpPr>
        <p:spPr>
          <a:xfrm>
            <a:off x="2921000" y="3244652"/>
            <a:ext cx="1600200" cy="558800"/>
          </a:xfrm>
          <a:prstGeom prst="rect">
            <a:avLst/>
          </a:prstGeom>
          <a:solidFill>
            <a:srgbClr val="7FA3B8"/>
          </a:solidFill>
          <a:ln/>
        </p:spPr>
        <p:txBody>
          <a:bodyPr/>
          <a:lstStyle/>
          <a:p>
            <a:endParaRPr lang="de-CH"/>
          </a:p>
        </p:txBody>
      </p:sp>
      <p:sp>
        <p:nvSpPr>
          <p:cNvPr id="19" name="Shape 17"/>
          <p:cNvSpPr/>
          <p:nvPr/>
        </p:nvSpPr>
        <p:spPr>
          <a:xfrm>
            <a:off x="4521200" y="3244652"/>
            <a:ext cx="1905000" cy="558800"/>
          </a:xfrm>
          <a:prstGeom prst="rect">
            <a:avLst/>
          </a:prstGeom>
          <a:solidFill>
            <a:srgbClr val="E3B58C"/>
          </a:solidFill>
          <a:ln/>
        </p:spPr>
        <p:txBody>
          <a:bodyPr/>
          <a:lstStyle/>
          <a:p>
            <a:endParaRPr lang="de-CH"/>
          </a:p>
        </p:txBody>
      </p:sp>
      <p:sp>
        <p:nvSpPr>
          <p:cNvPr id="20" name="Text 18"/>
          <p:cNvSpPr/>
          <p:nvPr/>
        </p:nvSpPr>
        <p:spPr>
          <a:xfrm>
            <a:off x="6426200" y="3244652"/>
            <a:ext cx="2667000" cy="558800"/>
          </a:xfrm>
          <a:custGeom>
            <a:avLst/>
            <a:gdLst/>
            <a:ahLst/>
            <a:cxnLst/>
            <a:rect l="l" t="t" r="r" b="b"/>
            <a:pathLst>
              <a:path w="2667000" h="558800">
                <a:moveTo>
                  <a:pt x="2616200" y="0"/>
                </a:moveTo>
                <a:arcTo wR="50800" hR="50800" stAng="16200000" swAng="5400000"/>
                <a:lnTo>
                  <a:pt x="2667000" y="508000"/>
                </a:lnTo>
                <a:arcTo wR="50800" hR="50800" stAng="0" swAng="5400000"/>
                <a:lnTo>
                  <a:pt x="0" y="558800"/>
                </a:lnTo>
                <a:lnTo>
                  <a:pt x="0" y="0"/>
                </a:lnTo>
                <a:close/>
              </a:path>
            </a:pathLst>
          </a:custGeom>
          <a:solidFill>
            <a:srgbClr val="B4501A"/>
          </a:solidFill>
          <a:ln/>
        </p:spPr>
        <p:txBody>
          <a:bodyPr wrap="square" lIns="101600" tIns="0" rIns="101600" bIns="0" rtlCol="0" anchor="ctr">
            <a:normAutofit/>
          </a:bodyPr>
          <a:lstStyle/>
          <a:p>
            <a:pPr marL="0" indent="0" algn="r">
              <a:lnSpc>
                <a:spcPts val="1820"/>
              </a:lnSpc>
              <a:buNone/>
            </a:pPr>
            <a:r>
              <a:rPr lang="en-US" sz="1300" b="1" dirty="0">
                <a:solidFill>
                  <a:srgbClr val="FFFFFF"/>
                </a:solidFill>
                <a:latin typeface="Arial" pitchFamily="34" charset="0"/>
                <a:ea typeface="Arial" pitchFamily="34" charset="-122"/>
                <a:cs typeface="Arial" pitchFamily="34" charset="-120"/>
              </a:rPr>
              <a:t>35 %</a:t>
            </a:r>
            <a:endParaRPr lang="en-US" sz="1300" dirty="0"/>
          </a:p>
        </p:txBody>
      </p:sp>
      <p:sp>
        <p:nvSpPr>
          <p:cNvPr id="21" name="Text 19"/>
          <p:cNvSpPr/>
          <p:nvPr/>
        </p:nvSpPr>
        <p:spPr>
          <a:xfrm>
            <a:off x="787400" y="4014291"/>
            <a:ext cx="558800" cy="416520"/>
          </a:xfrm>
          <a:prstGeom prst="rect">
            <a:avLst/>
          </a:prstGeom>
          <a:noFill/>
          <a:ln/>
        </p:spPr>
        <p:txBody>
          <a:bodyPr wrap="square" lIns="0" tIns="0" rIns="0" bIns="0" rtlCol="0" anchor="t">
            <a:normAutofit/>
          </a:bodyPr>
          <a:lstStyle/>
          <a:p>
            <a:pPr marL="0" indent="0" algn="ctr">
              <a:lnSpc>
                <a:spcPts val="3080"/>
              </a:lnSpc>
              <a:buNone/>
            </a:pPr>
            <a:r>
              <a:rPr lang="en-US" sz="2200" b="1" dirty="0">
                <a:solidFill>
                  <a:srgbClr val="1E2A26"/>
                </a:solidFill>
                <a:latin typeface="Arial" pitchFamily="34" charset="0"/>
                <a:ea typeface="Arial" pitchFamily="34" charset="-122"/>
                <a:cs typeface="Arial" pitchFamily="34" charset="-120"/>
              </a:rPr>
              <a:t>C</a:t>
            </a:r>
            <a:endParaRPr lang="en-US" sz="2200" dirty="0"/>
          </a:p>
        </p:txBody>
      </p:sp>
      <p:sp>
        <p:nvSpPr>
          <p:cNvPr id="22" name="Shape 20"/>
          <p:cNvSpPr/>
          <p:nvPr/>
        </p:nvSpPr>
        <p:spPr>
          <a:xfrm>
            <a:off x="1473200" y="3930452"/>
            <a:ext cx="406400" cy="558800"/>
          </a:xfrm>
          <a:custGeom>
            <a:avLst/>
            <a:gdLst/>
            <a:ahLst/>
            <a:cxnLst/>
            <a:rect l="l" t="t" r="r" b="b"/>
            <a:pathLst>
              <a:path w="406400" h="558800">
                <a:moveTo>
                  <a:pt x="0" y="50800"/>
                </a:moveTo>
                <a:arcTo wR="50800" hR="50800" stAng="10800000" swAng="5400000"/>
                <a:lnTo>
                  <a:pt x="406400" y="0"/>
                </a:lnTo>
                <a:lnTo>
                  <a:pt x="406400" y="558800"/>
                </a:lnTo>
                <a:lnTo>
                  <a:pt x="50800" y="558800"/>
                </a:lnTo>
                <a:arcTo wR="50800" hR="50800" stAng="5400000" swAng="5400000"/>
                <a:close/>
              </a:path>
            </a:pathLst>
          </a:custGeom>
          <a:solidFill>
            <a:srgbClr val="2F5F7A"/>
          </a:solidFill>
          <a:ln/>
        </p:spPr>
        <p:txBody>
          <a:bodyPr/>
          <a:lstStyle/>
          <a:p>
            <a:endParaRPr lang="de-CH"/>
          </a:p>
        </p:txBody>
      </p:sp>
      <p:sp>
        <p:nvSpPr>
          <p:cNvPr id="23" name="Shape 21"/>
          <p:cNvSpPr/>
          <p:nvPr/>
        </p:nvSpPr>
        <p:spPr>
          <a:xfrm>
            <a:off x="1879600" y="3930452"/>
            <a:ext cx="190500" cy="558800"/>
          </a:xfrm>
          <a:prstGeom prst="rect">
            <a:avLst/>
          </a:prstGeom>
          <a:solidFill>
            <a:srgbClr val="7FA3B8"/>
          </a:solidFill>
          <a:ln/>
        </p:spPr>
        <p:txBody>
          <a:bodyPr/>
          <a:lstStyle/>
          <a:p>
            <a:endParaRPr lang="de-CH"/>
          </a:p>
        </p:txBody>
      </p:sp>
      <p:sp>
        <p:nvSpPr>
          <p:cNvPr id="24" name="Shape 22"/>
          <p:cNvSpPr/>
          <p:nvPr/>
        </p:nvSpPr>
        <p:spPr>
          <a:xfrm>
            <a:off x="2070100" y="3930452"/>
            <a:ext cx="2184400" cy="558800"/>
          </a:xfrm>
          <a:prstGeom prst="rect">
            <a:avLst/>
          </a:prstGeom>
          <a:solidFill>
            <a:srgbClr val="E3B58C"/>
          </a:solidFill>
          <a:ln/>
        </p:spPr>
        <p:txBody>
          <a:bodyPr/>
          <a:lstStyle/>
          <a:p>
            <a:endParaRPr lang="de-CH"/>
          </a:p>
        </p:txBody>
      </p:sp>
      <p:sp>
        <p:nvSpPr>
          <p:cNvPr id="25" name="Text 23"/>
          <p:cNvSpPr/>
          <p:nvPr/>
        </p:nvSpPr>
        <p:spPr>
          <a:xfrm>
            <a:off x="4254500" y="3930452"/>
            <a:ext cx="4838700" cy="558800"/>
          </a:xfrm>
          <a:custGeom>
            <a:avLst/>
            <a:gdLst/>
            <a:ahLst/>
            <a:cxnLst/>
            <a:rect l="l" t="t" r="r" b="b"/>
            <a:pathLst>
              <a:path w="4838700" h="558800">
                <a:moveTo>
                  <a:pt x="4787900" y="0"/>
                </a:moveTo>
                <a:arcTo wR="50800" hR="50800" stAng="16200000" swAng="5400000"/>
                <a:lnTo>
                  <a:pt x="4838700" y="508000"/>
                </a:lnTo>
                <a:arcTo wR="50800" hR="50800" stAng="0" swAng="5400000"/>
                <a:lnTo>
                  <a:pt x="0" y="558800"/>
                </a:lnTo>
                <a:lnTo>
                  <a:pt x="0" y="0"/>
                </a:lnTo>
                <a:close/>
              </a:path>
            </a:pathLst>
          </a:custGeom>
          <a:solidFill>
            <a:srgbClr val="B4501A"/>
          </a:solidFill>
          <a:ln/>
        </p:spPr>
        <p:txBody>
          <a:bodyPr wrap="square" lIns="101600" tIns="0" rIns="101600" bIns="0" rtlCol="0" anchor="ctr">
            <a:normAutofit/>
          </a:bodyPr>
          <a:lstStyle/>
          <a:p>
            <a:pPr marL="0" indent="0" algn="r">
              <a:lnSpc>
                <a:spcPts val="1820"/>
              </a:lnSpc>
              <a:buNone/>
            </a:pPr>
            <a:r>
              <a:rPr lang="en-US" sz="1300" b="1" dirty="0">
                <a:solidFill>
                  <a:srgbClr val="FFFFFF"/>
                </a:solidFill>
                <a:latin typeface="Arial" pitchFamily="34" charset="0"/>
                <a:ea typeface="Arial" pitchFamily="34" charset="-122"/>
                <a:cs typeface="Arial" pitchFamily="34" charset="-120"/>
              </a:rPr>
              <a:t>64 %</a:t>
            </a:r>
            <a:endParaRPr lang="en-US" sz="1300" dirty="0"/>
          </a:p>
        </p:txBody>
      </p:sp>
      <p:sp>
        <p:nvSpPr>
          <p:cNvPr id="26" name="Text 24"/>
          <p:cNvSpPr/>
          <p:nvPr/>
        </p:nvSpPr>
        <p:spPr>
          <a:xfrm>
            <a:off x="787400" y="4700091"/>
            <a:ext cx="558800" cy="416520"/>
          </a:xfrm>
          <a:prstGeom prst="rect">
            <a:avLst/>
          </a:prstGeom>
          <a:noFill/>
          <a:ln/>
        </p:spPr>
        <p:txBody>
          <a:bodyPr wrap="square" lIns="0" tIns="0" rIns="0" bIns="0" rtlCol="0" anchor="t">
            <a:normAutofit/>
          </a:bodyPr>
          <a:lstStyle/>
          <a:p>
            <a:pPr marL="0" indent="0" algn="ctr">
              <a:lnSpc>
                <a:spcPts val="3080"/>
              </a:lnSpc>
              <a:buNone/>
            </a:pPr>
            <a:r>
              <a:rPr lang="en-US" sz="2200" b="1" dirty="0">
                <a:solidFill>
                  <a:srgbClr val="1E2A26"/>
                </a:solidFill>
                <a:latin typeface="Arial" pitchFamily="34" charset="0"/>
                <a:ea typeface="Arial" pitchFamily="34" charset="-122"/>
                <a:cs typeface="Arial" pitchFamily="34" charset="-120"/>
              </a:rPr>
              <a:t>D</a:t>
            </a:r>
            <a:endParaRPr lang="en-US" sz="2200" dirty="0"/>
          </a:p>
        </p:txBody>
      </p:sp>
      <p:sp>
        <p:nvSpPr>
          <p:cNvPr id="27" name="Shape 25"/>
          <p:cNvSpPr/>
          <p:nvPr/>
        </p:nvSpPr>
        <p:spPr>
          <a:xfrm>
            <a:off x="1473200" y="4616252"/>
            <a:ext cx="165100" cy="558800"/>
          </a:xfrm>
          <a:custGeom>
            <a:avLst/>
            <a:gdLst/>
            <a:ahLst/>
            <a:cxnLst/>
            <a:rect l="l" t="t" r="r" b="b"/>
            <a:pathLst>
              <a:path w="165100" h="558800">
                <a:moveTo>
                  <a:pt x="0" y="50800"/>
                </a:moveTo>
                <a:arcTo wR="50800" hR="50800" stAng="10800000" swAng="5400000"/>
                <a:lnTo>
                  <a:pt x="165100" y="0"/>
                </a:lnTo>
                <a:lnTo>
                  <a:pt x="165100" y="558800"/>
                </a:lnTo>
                <a:lnTo>
                  <a:pt x="50800" y="558800"/>
                </a:lnTo>
                <a:arcTo wR="50800" hR="50800" stAng="5400000" swAng="5400000"/>
                <a:close/>
              </a:path>
            </a:pathLst>
          </a:custGeom>
          <a:solidFill>
            <a:srgbClr val="2F5F7A"/>
          </a:solidFill>
          <a:ln/>
        </p:spPr>
        <p:txBody>
          <a:bodyPr/>
          <a:lstStyle/>
          <a:p>
            <a:endParaRPr lang="de-CH"/>
          </a:p>
        </p:txBody>
      </p:sp>
      <p:sp>
        <p:nvSpPr>
          <p:cNvPr id="28" name="Shape 26"/>
          <p:cNvSpPr/>
          <p:nvPr/>
        </p:nvSpPr>
        <p:spPr>
          <a:xfrm>
            <a:off x="1638300" y="4616252"/>
            <a:ext cx="127000" cy="558800"/>
          </a:xfrm>
          <a:prstGeom prst="rect">
            <a:avLst/>
          </a:prstGeom>
          <a:solidFill>
            <a:srgbClr val="7FA3B8"/>
          </a:solidFill>
          <a:ln/>
        </p:spPr>
        <p:txBody>
          <a:bodyPr/>
          <a:lstStyle/>
          <a:p>
            <a:endParaRPr lang="de-CH"/>
          </a:p>
        </p:txBody>
      </p:sp>
      <p:sp>
        <p:nvSpPr>
          <p:cNvPr id="29" name="Shape 27"/>
          <p:cNvSpPr/>
          <p:nvPr/>
        </p:nvSpPr>
        <p:spPr>
          <a:xfrm>
            <a:off x="1765300" y="4616252"/>
            <a:ext cx="2222500" cy="558800"/>
          </a:xfrm>
          <a:prstGeom prst="rect">
            <a:avLst/>
          </a:prstGeom>
          <a:solidFill>
            <a:srgbClr val="E3B58C"/>
          </a:solidFill>
          <a:ln/>
        </p:spPr>
        <p:txBody>
          <a:bodyPr/>
          <a:lstStyle/>
          <a:p>
            <a:endParaRPr lang="de-CH"/>
          </a:p>
        </p:txBody>
      </p:sp>
      <p:sp>
        <p:nvSpPr>
          <p:cNvPr id="30" name="Text 28"/>
          <p:cNvSpPr/>
          <p:nvPr/>
        </p:nvSpPr>
        <p:spPr>
          <a:xfrm>
            <a:off x="3987800" y="4616252"/>
            <a:ext cx="5105400" cy="558800"/>
          </a:xfrm>
          <a:custGeom>
            <a:avLst/>
            <a:gdLst/>
            <a:ahLst/>
            <a:cxnLst/>
            <a:rect l="l" t="t" r="r" b="b"/>
            <a:pathLst>
              <a:path w="5105400" h="558800">
                <a:moveTo>
                  <a:pt x="5054600" y="0"/>
                </a:moveTo>
                <a:arcTo wR="50800" hR="50800" stAng="16200000" swAng="5400000"/>
                <a:lnTo>
                  <a:pt x="5105400" y="508000"/>
                </a:lnTo>
                <a:arcTo wR="50800" hR="50800" stAng="0" swAng="5400000"/>
                <a:lnTo>
                  <a:pt x="0" y="558800"/>
                </a:lnTo>
                <a:lnTo>
                  <a:pt x="0" y="0"/>
                </a:lnTo>
                <a:close/>
              </a:path>
            </a:pathLst>
          </a:custGeom>
          <a:solidFill>
            <a:srgbClr val="B4501A"/>
          </a:solidFill>
          <a:ln/>
        </p:spPr>
        <p:txBody>
          <a:bodyPr wrap="square" lIns="101600" tIns="0" rIns="101600" bIns="0" rtlCol="0" anchor="ctr">
            <a:normAutofit/>
          </a:bodyPr>
          <a:lstStyle/>
          <a:p>
            <a:pPr marL="0" indent="0" algn="r">
              <a:lnSpc>
                <a:spcPts val="1820"/>
              </a:lnSpc>
              <a:buNone/>
            </a:pPr>
            <a:r>
              <a:rPr lang="en-US" sz="1300" b="1" dirty="0">
                <a:solidFill>
                  <a:srgbClr val="FFFFFF"/>
                </a:solidFill>
                <a:latin typeface="Arial" pitchFamily="34" charset="0"/>
                <a:ea typeface="Arial" pitchFamily="34" charset="-122"/>
                <a:cs typeface="Arial" pitchFamily="34" charset="-120"/>
              </a:rPr>
              <a:t>67 %</a:t>
            </a:r>
            <a:endParaRPr lang="en-US" sz="1300" dirty="0"/>
          </a:p>
        </p:txBody>
      </p:sp>
      <p:sp>
        <p:nvSpPr>
          <p:cNvPr id="31" name="Text 29"/>
          <p:cNvSpPr/>
          <p:nvPr/>
        </p:nvSpPr>
        <p:spPr>
          <a:xfrm>
            <a:off x="787400" y="5385891"/>
            <a:ext cx="558800" cy="416520"/>
          </a:xfrm>
          <a:prstGeom prst="rect">
            <a:avLst/>
          </a:prstGeom>
          <a:noFill/>
          <a:ln/>
        </p:spPr>
        <p:txBody>
          <a:bodyPr wrap="square" lIns="0" tIns="0" rIns="0" bIns="0" rtlCol="0" anchor="t">
            <a:normAutofit/>
          </a:bodyPr>
          <a:lstStyle/>
          <a:p>
            <a:pPr marL="0" indent="0" algn="ctr">
              <a:lnSpc>
                <a:spcPts val="3080"/>
              </a:lnSpc>
              <a:buNone/>
            </a:pPr>
            <a:r>
              <a:rPr lang="en-US" sz="2200" b="1" dirty="0">
                <a:solidFill>
                  <a:srgbClr val="1E2A26"/>
                </a:solidFill>
                <a:latin typeface="Arial" pitchFamily="34" charset="0"/>
                <a:ea typeface="Arial" pitchFamily="34" charset="-122"/>
                <a:cs typeface="Arial" pitchFamily="34" charset="-120"/>
              </a:rPr>
              <a:t>E</a:t>
            </a:r>
            <a:endParaRPr lang="en-US" sz="2200" dirty="0"/>
          </a:p>
        </p:txBody>
      </p:sp>
      <p:sp>
        <p:nvSpPr>
          <p:cNvPr id="32" name="Shape 30"/>
          <p:cNvSpPr/>
          <p:nvPr/>
        </p:nvSpPr>
        <p:spPr>
          <a:xfrm>
            <a:off x="1473200" y="5302052"/>
            <a:ext cx="685800" cy="558800"/>
          </a:xfrm>
          <a:custGeom>
            <a:avLst/>
            <a:gdLst/>
            <a:ahLst/>
            <a:cxnLst/>
            <a:rect l="l" t="t" r="r" b="b"/>
            <a:pathLst>
              <a:path w="685800" h="558800">
                <a:moveTo>
                  <a:pt x="0" y="50800"/>
                </a:moveTo>
                <a:arcTo wR="50800" hR="50800" stAng="10800000" swAng="5400000"/>
                <a:lnTo>
                  <a:pt x="685800" y="0"/>
                </a:lnTo>
                <a:lnTo>
                  <a:pt x="685800" y="558800"/>
                </a:lnTo>
                <a:lnTo>
                  <a:pt x="50800" y="558800"/>
                </a:lnTo>
                <a:arcTo wR="50800" hR="50800" stAng="5400000" swAng="5400000"/>
                <a:close/>
              </a:path>
            </a:pathLst>
          </a:custGeom>
          <a:solidFill>
            <a:srgbClr val="7FA3B8"/>
          </a:solidFill>
          <a:ln/>
        </p:spPr>
        <p:txBody>
          <a:bodyPr/>
          <a:lstStyle/>
          <a:p>
            <a:endParaRPr lang="de-CH"/>
          </a:p>
        </p:txBody>
      </p:sp>
      <p:sp>
        <p:nvSpPr>
          <p:cNvPr id="33" name="Shape 31"/>
          <p:cNvSpPr/>
          <p:nvPr/>
        </p:nvSpPr>
        <p:spPr>
          <a:xfrm>
            <a:off x="2159000" y="5302052"/>
            <a:ext cx="1270000" cy="558800"/>
          </a:xfrm>
          <a:prstGeom prst="rect">
            <a:avLst/>
          </a:prstGeom>
          <a:solidFill>
            <a:srgbClr val="E3B58C"/>
          </a:solidFill>
          <a:ln/>
        </p:spPr>
        <p:txBody>
          <a:bodyPr/>
          <a:lstStyle/>
          <a:p>
            <a:endParaRPr lang="de-CH"/>
          </a:p>
        </p:txBody>
      </p:sp>
      <p:sp>
        <p:nvSpPr>
          <p:cNvPr id="34" name="Text 32"/>
          <p:cNvSpPr/>
          <p:nvPr/>
        </p:nvSpPr>
        <p:spPr>
          <a:xfrm>
            <a:off x="3429000" y="5302052"/>
            <a:ext cx="5664200" cy="558800"/>
          </a:xfrm>
          <a:custGeom>
            <a:avLst/>
            <a:gdLst/>
            <a:ahLst/>
            <a:cxnLst/>
            <a:rect l="l" t="t" r="r" b="b"/>
            <a:pathLst>
              <a:path w="5664200" h="558800">
                <a:moveTo>
                  <a:pt x="5613400" y="0"/>
                </a:moveTo>
                <a:arcTo wR="50800" hR="50800" stAng="16200000" swAng="5400000"/>
                <a:lnTo>
                  <a:pt x="5664200" y="508000"/>
                </a:lnTo>
                <a:arcTo wR="50800" hR="50800" stAng="0" swAng="5400000"/>
                <a:lnTo>
                  <a:pt x="0" y="558800"/>
                </a:lnTo>
                <a:lnTo>
                  <a:pt x="0" y="0"/>
                </a:lnTo>
                <a:close/>
              </a:path>
            </a:pathLst>
          </a:custGeom>
          <a:solidFill>
            <a:srgbClr val="B4501A"/>
          </a:solidFill>
          <a:ln/>
        </p:spPr>
        <p:txBody>
          <a:bodyPr wrap="square" lIns="101600" tIns="0" rIns="101600" bIns="0" rtlCol="0" anchor="ctr">
            <a:normAutofit/>
          </a:bodyPr>
          <a:lstStyle/>
          <a:p>
            <a:pPr marL="0" indent="0" algn="r">
              <a:lnSpc>
                <a:spcPts val="1820"/>
              </a:lnSpc>
              <a:buNone/>
            </a:pPr>
            <a:r>
              <a:rPr lang="en-US" sz="1300" b="1" dirty="0">
                <a:solidFill>
                  <a:srgbClr val="FFFFFF"/>
                </a:solidFill>
                <a:latin typeface="Arial" pitchFamily="34" charset="0"/>
                <a:ea typeface="Arial" pitchFamily="34" charset="-122"/>
                <a:cs typeface="Arial" pitchFamily="34" charset="-120"/>
              </a:rPr>
              <a:t>74 %</a:t>
            </a:r>
            <a:endParaRPr lang="en-US" sz="1300" dirty="0"/>
          </a:p>
        </p:txBody>
      </p:sp>
      <p:sp>
        <p:nvSpPr>
          <p:cNvPr id="35" name="Shape 33"/>
          <p:cNvSpPr/>
          <p:nvPr/>
        </p:nvSpPr>
        <p:spPr>
          <a:xfrm>
            <a:off x="9347200" y="3143945"/>
            <a:ext cx="2032000" cy="1772543"/>
          </a:xfrm>
          <a:prstGeom prst="roundRect">
            <a:avLst>
              <a:gd name="adj" fmla="val 5732"/>
            </a:avLst>
          </a:prstGeom>
          <a:solidFill>
            <a:srgbClr val="1E2A26"/>
          </a:solidFill>
          <a:ln/>
        </p:spPr>
        <p:txBody>
          <a:bodyPr/>
          <a:lstStyle/>
          <a:p>
            <a:endParaRPr lang="de-CH"/>
          </a:p>
        </p:txBody>
      </p:sp>
      <p:sp>
        <p:nvSpPr>
          <p:cNvPr id="36" name="Text 34"/>
          <p:cNvSpPr/>
          <p:nvPr/>
        </p:nvSpPr>
        <p:spPr>
          <a:xfrm>
            <a:off x="9550400" y="3347145"/>
            <a:ext cx="1676400" cy="332680"/>
          </a:xfrm>
          <a:prstGeom prst="rect">
            <a:avLst/>
          </a:prstGeom>
          <a:noFill/>
          <a:ln/>
        </p:spPr>
        <p:txBody>
          <a:bodyPr wrap="square" lIns="0" tIns="0" rIns="0" bIns="0" rtlCol="0" anchor="t">
            <a:normAutofit/>
          </a:bodyPr>
          <a:lstStyle/>
          <a:p>
            <a:pPr marL="0" indent="0" algn="l">
              <a:lnSpc>
                <a:spcPts val="2420"/>
              </a:lnSpc>
              <a:buNone/>
            </a:pPr>
            <a:r>
              <a:rPr lang="en-US" sz="2200" b="1" dirty="0">
                <a:solidFill>
                  <a:srgbClr val="F0A56B"/>
                </a:solidFill>
                <a:latin typeface="Arial" pitchFamily="34" charset="0"/>
                <a:ea typeface="Arial" pitchFamily="34" charset="-122"/>
                <a:cs typeface="Arial" pitchFamily="34" charset="-120"/>
              </a:rPr>
              <a:t>Aber:</a:t>
            </a:r>
            <a:endParaRPr lang="en-US" sz="2200" dirty="0"/>
          </a:p>
        </p:txBody>
      </p:sp>
      <p:sp>
        <p:nvSpPr>
          <p:cNvPr id="37" name="Text 35"/>
          <p:cNvSpPr/>
          <p:nvPr/>
        </p:nvSpPr>
        <p:spPr>
          <a:xfrm>
            <a:off x="9550400" y="3756025"/>
            <a:ext cx="1676400" cy="982662"/>
          </a:xfrm>
          <a:prstGeom prst="rect">
            <a:avLst/>
          </a:prstGeom>
          <a:noFill/>
          <a:ln/>
        </p:spPr>
        <p:txBody>
          <a:bodyPr wrap="square" lIns="0" tIns="0" rIns="0" bIns="0" rtlCol="0" anchor="t">
            <a:normAutofit/>
          </a:bodyPr>
          <a:lstStyle/>
          <a:p>
            <a:pPr marL="0" indent="0" algn="l">
              <a:lnSpc>
                <a:spcPts val="1885"/>
              </a:lnSpc>
              <a:buNone/>
            </a:pPr>
            <a:r>
              <a:rPr lang="en-US" sz="1300" dirty="0">
                <a:solidFill>
                  <a:srgbClr val="F3F0E8"/>
                </a:solidFill>
                <a:latin typeface="Arial" pitchFamily="34" charset="0"/>
                <a:ea typeface="Arial" pitchFamily="34" charset="-122"/>
                <a:cs typeface="Arial" pitchFamily="34" charset="-120"/>
              </a:rPr>
              <a:t>Auch bei A ist fast jedes vierte Produkt hochverarbeitet, bei B mehr als jedes dritte.</a:t>
            </a:r>
            <a:endParaRPr lang="en-US" sz="1300" dirty="0"/>
          </a:p>
        </p:txBody>
      </p:sp>
      <p:sp>
        <p:nvSpPr>
          <p:cNvPr id="38" name="Text 36"/>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660"/>
                </a:solidFill>
                <a:latin typeface="Arial" pitchFamily="34" charset="0"/>
                <a:ea typeface="Arial" pitchFamily="34" charset="-122"/>
                <a:cs typeface="Arial" pitchFamily="34" charset="-120"/>
              </a:rPr>
              <a:t>Anteil je Nutri-Score-Klasse, Werte gerundet · n = 20'454 Lebensmittel ohne Getränke · Snapshot 6.10.2026 · 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F7A"/>
                </a:solidFill>
                <a:latin typeface="Arial" pitchFamily="34" charset="0"/>
                <a:ea typeface="Arial" pitchFamily="34" charset="-122"/>
                <a:cs typeface="Arial" pitchFamily="34" charset="-120"/>
              </a:rPr>
              <a:t>TRANSFORMATION 1 · INITIALE ANALYSE UND HYPOTHESENTEST</a:t>
            </a:r>
            <a:endParaRPr lang="en-US" sz="1200" dirty="0"/>
          </a:p>
        </p:txBody>
      </p:sp>
      <p:sp>
        <p:nvSpPr>
          <p:cNvPr id="3" name="Text 1"/>
          <p:cNvSpPr>
            <a:spLocks noGrp="1"/>
          </p:cNvSpPr>
          <p:nvPr>
            <p:ph type="title"/>
          </p:nvPr>
        </p:nvSpPr>
        <p:spPr>
          <a:xfrm>
            <a:off x="812800" y="1127720"/>
            <a:ext cx="10883392" cy="919361"/>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E2A26"/>
                </a:solidFill>
                <a:latin typeface="Arial" pitchFamily="34" charset="0"/>
                <a:ea typeface="Arial" pitchFamily="34" charset="-122"/>
                <a:cs typeface="Arial" pitchFamily="34" charset="-120"/>
              </a:rPr>
              <a:t>Jedes vierte gute Label steht auf hochverarbeiteten Produkten</a:t>
            </a:r>
            <a:endParaRPr lang="en-US" sz="3200" dirty="0"/>
          </a:p>
        </p:txBody>
      </p:sp>
      <p:sp>
        <p:nvSpPr>
          <p:cNvPr id="4" name="Shape 2"/>
          <p:cNvSpPr/>
          <p:nvPr/>
        </p:nvSpPr>
        <p:spPr>
          <a:xfrm>
            <a:off x="815975" y="2278856"/>
            <a:ext cx="5200650" cy="1332111"/>
          </a:xfrm>
          <a:prstGeom prst="roundRect">
            <a:avLst>
              <a:gd name="adj" fmla="val 7389"/>
            </a:avLst>
          </a:prstGeom>
          <a:solidFill>
            <a:srgbClr val="FFFFFF"/>
          </a:solidFill>
          <a:ln w="6350">
            <a:solidFill>
              <a:srgbClr val="DDD8CC"/>
            </a:solidFill>
            <a:prstDash val="solid"/>
          </a:ln>
        </p:spPr>
        <p:txBody>
          <a:bodyPr/>
          <a:lstStyle/>
          <a:p>
            <a:endParaRPr lang="de-CH"/>
          </a:p>
        </p:txBody>
      </p:sp>
      <p:sp>
        <p:nvSpPr>
          <p:cNvPr id="5" name="Text 3"/>
          <p:cNvSpPr/>
          <p:nvPr/>
        </p:nvSpPr>
        <p:spPr>
          <a:xfrm>
            <a:off x="1022350" y="2459831"/>
            <a:ext cx="4931537"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2F5F7A"/>
                </a:solidFill>
                <a:latin typeface="Arial" pitchFamily="34" charset="0"/>
                <a:ea typeface="Arial" pitchFamily="34" charset="-122"/>
                <a:cs typeface="Arial" pitchFamily="34" charset="-120"/>
              </a:rPr>
              <a:t>H1 · NOVA 4 unter A/B · bestätigt</a:t>
            </a:r>
            <a:endParaRPr lang="en-US" sz="1200" dirty="0"/>
          </a:p>
        </p:txBody>
      </p:sp>
      <p:sp>
        <p:nvSpPr>
          <p:cNvPr id="6" name="Text 4"/>
          <p:cNvSpPr/>
          <p:nvPr/>
        </p:nvSpPr>
        <p:spPr>
          <a:xfrm>
            <a:off x="1022350" y="2749352"/>
            <a:ext cx="4931537" cy="416520"/>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1E2A26"/>
                </a:solidFill>
                <a:latin typeface="Arial" pitchFamily="34" charset="0"/>
                <a:ea typeface="Arial" pitchFamily="34" charset="-122"/>
                <a:cs typeface="Arial" pitchFamily="34" charset="-120"/>
              </a:rPr>
              <a:t>27,7 %</a:t>
            </a:r>
            <a:endParaRPr lang="en-US" sz="2800" dirty="0"/>
          </a:p>
        </p:txBody>
      </p:sp>
      <p:sp>
        <p:nvSpPr>
          <p:cNvPr id="7" name="Text 5"/>
          <p:cNvSpPr/>
          <p:nvPr/>
        </p:nvSpPr>
        <p:spPr>
          <a:xfrm>
            <a:off x="1022350" y="3216672"/>
            <a:ext cx="4931537"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45"/>
                </a:solidFill>
                <a:latin typeface="Arial" pitchFamily="34" charset="0"/>
                <a:ea typeface="Arial" pitchFamily="34" charset="-122"/>
                <a:cs typeface="Arial" pitchFamily="34" charset="-120"/>
              </a:rPr>
              <a:t>über der 20-%-Schwelle · n = 4'936 · p &lt; 0,001</a:t>
            </a:r>
            <a:endParaRPr lang="en-US" sz="1200" dirty="0"/>
          </a:p>
        </p:txBody>
      </p:sp>
      <p:sp>
        <p:nvSpPr>
          <p:cNvPr id="8" name="Shape 6"/>
          <p:cNvSpPr/>
          <p:nvPr/>
        </p:nvSpPr>
        <p:spPr>
          <a:xfrm>
            <a:off x="6175375" y="2278856"/>
            <a:ext cx="5200650" cy="1332111"/>
          </a:xfrm>
          <a:prstGeom prst="roundRect">
            <a:avLst>
              <a:gd name="adj" fmla="val 7389"/>
            </a:avLst>
          </a:prstGeom>
          <a:solidFill>
            <a:srgbClr val="FFFFFF"/>
          </a:solidFill>
          <a:ln w="6350">
            <a:solidFill>
              <a:srgbClr val="DDD8CC"/>
            </a:solidFill>
            <a:prstDash val="solid"/>
          </a:ln>
        </p:spPr>
        <p:txBody>
          <a:bodyPr/>
          <a:lstStyle/>
          <a:p>
            <a:endParaRPr lang="de-CH"/>
          </a:p>
        </p:txBody>
      </p:sp>
      <p:sp>
        <p:nvSpPr>
          <p:cNvPr id="9" name="Text 7"/>
          <p:cNvSpPr/>
          <p:nvPr/>
        </p:nvSpPr>
        <p:spPr>
          <a:xfrm>
            <a:off x="6381750" y="2459831"/>
            <a:ext cx="4931537"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B4501A"/>
                </a:solidFill>
                <a:latin typeface="Arial" pitchFamily="34" charset="0"/>
                <a:ea typeface="Arial" pitchFamily="34" charset="-122"/>
                <a:cs typeface="Arial" pitchFamily="34" charset="-120"/>
              </a:rPr>
              <a:t>H2 · Nutri-Score × NOVA · verworfen</a:t>
            </a:r>
            <a:endParaRPr lang="en-US" sz="1200" dirty="0"/>
          </a:p>
        </p:txBody>
      </p:sp>
      <p:sp>
        <p:nvSpPr>
          <p:cNvPr id="10" name="Text 8"/>
          <p:cNvSpPr/>
          <p:nvPr/>
        </p:nvSpPr>
        <p:spPr>
          <a:xfrm>
            <a:off x="6381750" y="2749352"/>
            <a:ext cx="4931537" cy="416520"/>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1E2A26"/>
                </a:solidFill>
                <a:latin typeface="Arial" pitchFamily="34" charset="0"/>
                <a:ea typeface="Arial" pitchFamily="34" charset="-122"/>
                <a:cs typeface="Arial" pitchFamily="34" charset="-120"/>
              </a:rPr>
              <a:t>V = 0,36</a:t>
            </a:r>
            <a:endParaRPr lang="en-US" sz="2800" dirty="0"/>
          </a:p>
        </p:txBody>
      </p:sp>
      <p:sp>
        <p:nvSpPr>
          <p:cNvPr id="11" name="Text 9"/>
          <p:cNvSpPr/>
          <p:nvPr/>
        </p:nvSpPr>
        <p:spPr>
          <a:xfrm>
            <a:off x="6381750" y="3216672"/>
            <a:ext cx="4931537"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45"/>
                </a:solidFill>
                <a:latin typeface="Arial" pitchFamily="34" charset="0"/>
                <a:ea typeface="Arial" pitchFamily="34" charset="-122"/>
                <a:cs typeface="Arial" pitchFamily="34" charset="-120"/>
              </a:rPr>
              <a:t>mittlerer statt schwacher Zusammenhang · n = 20’454 (V &lt; 0,3)</a:t>
            </a:r>
            <a:endParaRPr lang="en-US" sz="1200" dirty="0"/>
          </a:p>
        </p:txBody>
      </p:sp>
      <p:sp>
        <p:nvSpPr>
          <p:cNvPr id="12" name="Shape 10"/>
          <p:cNvSpPr/>
          <p:nvPr/>
        </p:nvSpPr>
        <p:spPr>
          <a:xfrm>
            <a:off x="815975" y="3769717"/>
            <a:ext cx="5200650" cy="1332111"/>
          </a:xfrm>
          <a:prstGeom prst="roundRect">
            <a:avLst>
              <a:gd name="adj" fmla="val 7389"/>
            </a:avLst>
          </a:prstGeom>
          <a:solidFill>
            <a:srgbClr val="FFFFFF"/>
          </a:solidFill>
          <a:ln w="6350">
            <a:solidFill>
              <a:srgbClr val="DDD8CC"/>
            </a:solidFill>
            <a:prstDash val="solid"/>
          </a:ln>
        </p:spPr>
        <p:txBody>
          <a:bodyPr/>
          <a:lstStyle/>
          <a:p>
            <a:endParaRPr lang="de-CH"/>
          </a:p>
        </p:txBody>
      </p:sp>
      <p:sp>
        <p:nvSpPr>
          <p:cNvPr id="13" name="Text 11"/>
          <p:cNvSpPr/>
          <p:nvPr/>
        </p:nvSpPr>
        <p:spPr>
          <a:xfrm>
            <a:off x="1022350" y="3950692"/>
            <a:ext cx="4931537"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B4501A"/>
                </a:solidFill>
                <a:latin typeface="Arial" pitchFamily="34" charset="0"/>
                <a:ea typeface="Arial" pitchFamily="34" charset="-122"/>
                <a:cs typeface="Arial" pitchFamily="34" charset="-120"/>
              </a:rPr>
              <a:t>H3 · Zuckerreiche Cerealien mit A/B · verworfen</a:t>
            </a:r>
            <a:endParaRPr lang="en-US" sz="1200" dirty="0"/>
          </a:p>
        </p:txBody>
      </p:sp>
      <p:sp>
        <p:nvSpPr>
          <p:cNvPr id="14" name="Text 12"/>
          <p:cNvSpPr/>
          <p:nvPr/>
        </p:nvSpPr>
        <p:spPr>
          <a:xfrm>
            <a:off x="1022350" y="4240213"/>
            <a:ext cx="4931537" cy="416520"/>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1E2A26"/>
                </a:solidFill>
                <a:latin typeface="Arial" pitchFamily="34" charset="0"/>
                <a:ea typeface="Arial" pitchFamily="34" charset="-122"/>
                <a:cs typeface="Arial" pitchFamily="34" charset="-120"/>
              </a:rPr>
              <a:t>1,1 %</a:t>
            </a:r>
            <a:endParaRPr lang="en-US" sz="2800" dirty="0"/>
          </a:p>
        </p:txBody>
      </p:sp>
      <p:sp>
        <p:nvSpPr>
          <p:cNvPr id="15" name="Text 13"/>
          <p:cNvSpPr/>
          <p:nvPr/>
        </p:nvSpPr>
        <p:spPr>
          <a:xfrm>
            <a:off x="1022350" y="4707533"/>
            <a:ext cx="4931537"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45"/>
                </a:solidFill>
                <a:latin typeface="Arial" pitchFamily="34" charset="0"/>
                <a:ea typeface="Arial" pitchFamily="34" charset="-122"/>
                <a:cs typeface="Arial" pitchFamily="34" charset="-120"/>
              </a:rPr>
              <a:t>weit unter 10 % · n = 281 · p = 1,00</a:t>
            </a:r>
            <a:endParaRPr lang="en-US" sz="1200" dirty="0"/>
          </a:p>
        </p:txBody>
      </p:sp>
      <p:sp>
        <p:nvSpPr>
          <p:cNvPr id="16" name="Shape 14"/>
          <p:cNvSpPr/>
          <p:nvPr/>
        </p:nvSpPr>
        <p:spPr>
          <a:xfrm>
            <a:off x="6175375" y="3769717"/>
            <a:ext cx="5200650" cy="1332111"/>
          </a:xfrm>
          <a:prstGeom prst="roundRect">
            <a:avLst>
              <a:gd name="adj" fmla="val 7389"/>
            </a:avLst>
          </a:prstGeom>
          <a:solidFill>
            <a:srgbClr val="FFFFFF"/>
          </a:solidFill>
          <a:ln w="6350">
            <a:solidFill>
              <a:srgbClr val="DDD8CC"/>
            </a:solidFill>
            <a:prstDash val="solid"/>
          </a:ln>
        </p:spPr>
        <p:txBody>
          <a:bodyPr/>
          <a:lstStyle/>
          <a:p>
            <a:endParaRPr lang="de-CH" dirty="0"/>
          </a:p>
        </p:txBody>
      </p:sp>
      <p:sp>
        <p:nvSpPr>
          <p:cNvPr id="17" name="Text 15"/>
          <p:cNvSpPr/>
          <p:nvPr/>
        </p:nvSpPr>
        <p:spPr>
          <a:xfrm>
            <a:off x="6381750" y="3950692"/>
            <a:ext cx="4931537"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B4501A"/>
                </a:solidFill>
                <a:latin typeface="Arial" pitchFamily="34" charset="0"/>
                <a:ea typeface="Arial" pitchFamily="34" charset="-122"/>
                <a:cs typeface="Arial" pitchFamily="34" charset="-120"/>
              </a:rPr>
              <a:t>H4 · Zusatzstoffe vs. Score · verworfen</a:t>
            </a:r>
            <a:endParaRPr lang="en-US" sz="1200" dirty="0"/>
          </a:p>
        </p:txBody>
      </p:sp>
      <p:sp>
        <p:nvSpPr>
          <p:cNvPr id="18" name="Text 16"/>
          <p:cNvSpPr/>
          <p:nvPr/>
        </p:nvSpPr>
        <p:spPr>
          <a:xfrm>
            <a:off x="6381750" y="4240213"/>
            <a:ext cx="4931537" cy="416520"/>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1E2A26"/>
                </a:solidFill>
                <a:latin typeface="Arial" pitchFamily="34" charset="0"/>
                <a:ea typeface="Arial" pitchFamily="34" charset="-122"/>
                <a:cs typeface="Arial" pitchFamily="34" charset="-120"/>
              </a:rPr>
              <a:t>ρ = 0,36</a:t>
            </a:r>
            <a:endParaRPr lang="en-US" sz="2800" dirty="0"/>
          </a:p>
        </p:txBody>
      </p:sp>
      <p:sp>
        <p:nvSpPr>
          <p:cNvPr id="19" name="Text 17"/>
          <p:cNvSpPr/>
          <p:nvPr/>
        </p:nvSpPr>
        <p:spPr>
          <a:xfrm>
            <a:off x="6381750" y="4707533"/>
            <a:ext cx="4931537"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E4A45"/>
                </a:solidFill>
                <a:latin typeface="Arial" pitchFamily="34" charset="0"/>
                <a:ea typeface="Arial" pitchFamily="34" charset="-122"/>
                <a:cs typeface="Arial" pitchFamily="34" charset="-120"/>
              </a:rPr>
              <a:t>mehr Zusatzstoffe, schlechterer Score · n = 19’870 (p &lt; 0,2)</a:t>
            </a:r>
            <a:endParaRPr lang="en-US" sz="1200" dirty="0"/>
          </a:p>
        </p:txBody>
      </p:sp>
      <p:sp>
        <p:nvSpPr>
          <p:cNvPr id="20" name="Text 18"/>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660"/>
                </a:solidFill>
                <a:latin typeface="Arial" pitchFamily="34" charset="0"/>
                <a:ea typeface="Arial" pitchFamily="34" charset="-122"/>
                <a:cs typeface="Arial" pitchFamily="34" charset="-120"/>
              </a:rPr>
              <a:t>Vorläufig · Snapshot 6.10.2026 · Lebensmittel ohne Getränke · α = 0,05 · 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A26"/>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0A56B"/>
                </a:solidFill>
                <a:latin typeface="Arial" pitchFamily="34" charset="0"/>
                <a:ea typeface="Arial" pitchFamily="34" charset="-122"/>
                <a:cs typeface="Arial" pitchFamily="34" charset="-120"/>
              </a:rPr>
              <a:t>FAZIT UND AUSBLICK</a:t>
            </a:r>
            <a:endParaRPr lang="en-US" sz="1200" dirty="0"/>
          </a:p>
        </p:txBody>
      </p:sp>
      <p:sp>
        <p:nvSpPr>
          <p:cNvPr id="3" name="Text 1"/>
          <p:cNvSpPr>
            <a:spLocks noGrp="1"/>
          </p:cNvSpPr>
          <p:nvPr>
            <p:ph type="title"/>
          </p:nvPr>
        </p:nvSpPr>
        <p:spPr>
          <a:xfrm>
            <a:off x="812800" y="1127720"/>
            <a:ext cx="10883392" cy="919361"/>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F3F0E8"/>
                </a:solidFill>
                <a:latin typeface="Arial" pitchFamily="34" charset="0"/>
                <a:ea typeface="Arial" pitchFamily="34" charset="-122"/>
                <a:cs typeface="Arial" pitchFamily="34" charset="-120"/>
              </a:rPr>
              <a:t>Der Score ist besser als sein Ruf, aber blind für Verarbeitung</a:t>
            </a:r>
            <a:endParaRPr lang="en-US" sz="3200" dirty="0"/>
          </a:p>
        </p:txBody>
      </p:sp>
      <p:sp>
        <p:nvSpPr>
          <p:cNvPr id="4" name="Shape 2"/>
          <p:cNvSpPr/>
          <p:nvPr/>
        </p:nvSpPr>
        <p:spPr>
          <a:xfrm>
            <a:off x="812800" y="2479379"/>
            <a:ext cx="5156200" cy="2331541"/>
          </a:xfrm>
          <a:prstGeom prst="roundRect">
            <a:avLst>
              <a:gd name="adj" fmla="val 4358"/>
            </a:avLst>
          </a:prstGeom>
          <a:solidFill>
            <a:srgbClr val="2A3833"/>
          </a:solidFill>
          <a:ln/>
        </p:spPr>
        <p:txBody>
          <a:bodyPr/>
          <a:lstStyle/>
          <a:p>
            <a:endParaRPr lang="de-CH"/>
          </a:p>
        </p:txBody>
      </p:sp>
      <p:sp>
        <p:nvSpPr>
          <p:cNvPr id="5" name="Text 3"/>
          <p:cNvSpPr/>
          <p:nvPr/>
        </p:nvSpPr>
        <p:spPr>
          <a:xfrm>
            <a:off x="1066800" y="2733379"/>
            <a:ext cx="4787646"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3F0E8"/>
                </a:solidFill>
                <a:latin typeface="Arial" pitchFamily="34" charset="0"/>
                <a:ea typeface="Arial" pitchFamily="34" charset="-122"/>
                <a:cs typeface="Arial" pitchFamily="34" charset="-120"/>
              </a:rPr>
              <a:t>Erreicht in Teil 1</a:t>
            </a:r>
            <a:endParaRPr lang="en-US" sz="1800" dirty="0"/>
          </a:p>
        </p:txBody>
      </p:sp>
      <p:sp>
        <p:nvSpPr>
          <p:cNvPr id="6" name="Text 4"/>
          <p:cNvSpPr/>
          <p:nvPr/>
        </p:nvSpPr>
        <p:spPr>
          <a:xfrm>
            <a:off x="1164082" y="3134620"/>
            <a:ext cx="4682744" cy="1447701"/>
          </a:xfrm>
          <a:prstGeom prst="rect">
            <a:avLst/>
          </a:prstGeom>
          <a:noFill/>
          <a:ln/>
        </p:spPr>
        <p:txBody>
          <a:bodyPr wrap="square" lIns="0" tIns="0" rIns="0" bIns="0" rtlCol="0" anchor="t">
            <a:normAutofit/>
          </a:bodyPr>
          <a:lstStyle/>
          <a:p>
            <a:pPr marL="156718" indent="-156718" algn="l">
              <a:lnSpc>
                <a:spcPts val="2240"/>
              </a:lnSpc>
              <a:buSzPct val="100000"/>
              <a:buChar char="•"/>
            </a:pPr>
            <a:r>
              <a:rPr lang="en-US" sz="1400" dirty="0">
                <a:solidFill>
                  <a:srgbClr val="C9D3CC"/>
                </a:solidFill>
                <a:latin typeface="Arial" pitchFamily="34" charset="0"/>
                <a:ea typeface="Arial" pitchFamily="34" charset="-122"/>
                <a:cs typeface="Arial" pitchFamily="34" charset="-120"/>
              </a:rPr>
              <a:t>Pipeline von 105'693 Produkten zu 22'949 auswertbaren</a:t>
            </a:r>
            <a:endParaRPr lang="en-US" sz="1400" dirty="0"/>
          </a:p>
          <a:p>
            <a:pPr marL="156718" indent="-156718" algn="l">
              <a:lnSpc>
                <a:spcPts val="2240"/>
              </a:lnSpc>
              <a:buSzPct val="100000"/>
              <a:buChar char="•"/>
            </a:pPr>
            <a:r>
              <a:rPr lang="en-US" sz="1400" dirty="0">
                <a:solidFill>
                  <a:srgbClr val="C9D3CC"/>
                </a:solidFill>
                <a:latin typeface="Arial" pitchFamily="34" charset="0"/>
                <a:ea typeface="Arial" pitchFamily="34" charset="-122"/>
                <a:cs typeface="Arial" pitchFamily="34" charset="-120"/>
              </a:rPr>
              <a:t>Speicherung in drei Stufen mit DuckDB</a:t>
            </a:r>
            <a:endParaRPr lang="en-US" sz="1400" dirty="0"/>
          </a:p>
          <a:p>
            <a:pPr marL="156718" indent="-156718" algn="l">
              <a:lnSpc>
                <a:spcPts val="2240"/>
              </a:lnSpc>
              <a:buSzPct val="100000"/>
              <a:buChar char="•"/>
            </a:pPr>
            <a:r>
              <a:rPr lang="en-US" sz="1400" dirty="0">
                <a:solidFill>
                  <a:srgbClr val="C9D3CC"/>
                </a:solidFill>
                <a:latin typeface="Arial" pitchFamily="34" charset="0"/>
                <a:ea typeface="Arial" pitchFamily="34" charset="-122"/>
                <a:cs typeface="Arial" pitchFamily="34" charset="-120"/>
              </a:rPr>
              <a:t>27,7 % der A/B-Produkte sind hochverarbeitet</a:t>
            </a:r>
            <a:endParaRPr lang="en-US" sz="1400" dirty="0"/>
          </a:p>
          <a:p>
            <a:pPr marL="156718" indent="-156718" algn="l">
              <a:lnSpc>
                <a:spcPts val="2240"/>
              </a:lnSpc>
              <a:buSzPct val="100000"/>
              <a:buChar char="•"/>
            </a:pPr>
            <a:r>
              <a:rPr lang="en-US" sz="1400" dirty="0">
                <a:solidFill>
                  <a:srgbClr val="C9D3CC"/>
                </a:solidFill>
                <a:latin typeface="Arial" pitchFamily="34" charset="0"/>
                <a:ea typeface="Arial" pitchFamily="34" charset="-122"/>
                <a:cs typeface="Arial" pitchFamily="34" charset="-120"/>
              </a:rPr>
              <a:t>Zuckerreiche Cerealien mit A/B sind selten</a:t>
            </a:r>
            <a:endParaRPr lang="en-US" sz="1400" dirty="0"/>
          </a:p>
        </p:txBody>
      </p:sp>
      <p:sp>
        <p:nvSpPr>
          <p:cNvPr id="7" name="Shape 5"/>
          <p:cNvSpPr/>
          <p:nvPr/>
        </p:nvSpPr>
        <p:spPr>
          <a:xfrm>
            <a:off x="6223000" y="2479379"/>
            <a:ext cx="5156200" cy="2331541"/>
          </a:xfrm>
          <a:prstGeom prst="roundRect">
            <a:avLst>
              <a:gd name="adj" fmla="val 4358"/>
            </a:avLst>
          </a:prstGeom>
          <a:solidFill>
            <a:srgbClr val="2A3833"/>
          </a:solidFill>
          <a:ln/>
        </p:spPr>
        <p:txBody>
          <a:bodyPr/>
          <a:lstStyle/>
          <a:p>
            <a:endParaRPr lang="de-CH"/>
          </a:p>
        </p:txBody>
      </p:sp>
      <p:sp>
        <p:nvSpPr>
          <p:cNvPr id="8" name="Text 6"/>
          <p:cNvSpPr/>
          <p:nvPr/>
        </p:nvSpPr>
        <p:spPr>
          <a:xfrm>
            <a:off x="6477000" y="2733379"/>
            <a:ext cx="4787646"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3F0E8"/>
                </a:solidFill>
                <a:latin typeface="Arial" pitchFamily="34" charset="0"/>
                <a:ea typeface="Arial" pitchFamily="34" charset="-122"/>
                <a:cs typeface="Arial" pitchFamily="34" charset="-120"/>
              </a:rPr>
              <a:t>Geplant für Teil 2</a:t>
            </a:r>
            <a:endParaRPr lang="en-US" sz="1800" dirty="0"/>
          </a:p>
        </p:txBody>
      </p:sp>
      <p:sp>
        <p:nvSpPr>
          <p:cNvPr id="9" name="Text 7"/>
          <p:cNvSpPr/>
          <p:nvPr/>
        </p:nvSpPr>
        <p:spPr>
          <a:xfrm>
            <a:off x="6574282" y="3134620"/>
            <a:ext cx="4682744" cy="1447701"/>
          </a:xfrm>
          <a:prstGeom prst="rect">
            <a:avLst/>
          </a:prstGeom>
          <a:noFill/>
          <a:ln/>
        </p:spPr>
        <p:txBody>
          <a:bodyPr wrap="square" lIns="0" tIns="0" rIns="0" bIns="0" rtlCol="0" anchor="t">
            <a:normAutofit/>
          </a:bodyPr>
          <a:lstStyle/>
          <a:p>
            <a:pPr marL="156718" indent="-156718" algn="l">
              <a:lnSpc>
                <a:spcPts val="2240"/>
              </a:lnSpc>
              <a:buSzPct val="100000"/>
              <a:buChar char="•"/>
            </a:pPr>
            <a:r>
              <a:rPr lang="en-US" sz="1400" dirty="0">
                <a:solidFill>
                  <a:srgbClr val="C9D3CC"/>
                </a:solidFill>
                <a:latin typeface="Arial" pitchFamily="34" charset="0"/>
                <a:ea typeface="Arial" pitchFamily="34" charset="-122"/>
                <a:cs typeface="Arial" pitchFamily="34" charset="-120"/>
              </a:rPr>
              <a:t>FF3: Version der Scores klären, alt und neu vergleichen</a:t>
            </a:r>
            <a:endParaRPr lang="en-US" sz="1400" dirty="0"/>
          </a:p>
          <a:p>
            <a:pPr marL="156718" indent="-156718" algn="l">
              <a:lnSpc>
                <a:spcPts val="2240"/>
              </a:lnSpc>
              <a:buSzPct val="100000"/>
              <a:buChar char="•"/>
            </a:pPr>
            <a:r>
              <a:rPr lang="en-US" sz="1400" dirty="0">
                <a:solidFill>
                  <a:srgbClr val="C9D3CC"/>
                </a:solidFill>
                <a:latin typeface="Arial" pitchFamily="34" charset="0"/>
                <a:ea typeface="Arial" pitchFamily="34" charset="-122"/>
                <a:cs typeface="Arial" pitchFamily="34" charset="-120"/>
              </a:rPr>
              <a:t>Verzerrung durch fehlende Werte prüfen</a:t>
            </a:r>
            <a:endParaRPr lang="en-US" sz="1400" dirty="0"/>
          </a:p>
          <a:p>
            <a:pPr marL="156718" indent="-156718" algn="l">
              <a:lnSpc>
                <a:spcPts val="2240"/>
              </a:lnSpc>
              <a:buSzPct val="100000"/>
              <a:buChar char="•"/>
            </a:pPr>
            <a:r>
              <a:rPr lang="en-US" sz="1400" dirty="0">
                <a:solidFill>
                  <a:srgbClr val="C9D3CC"/>
                </a:solidFill>
                <a:latin typeface="Arial" pitchFamily="34" charset="0"/>
                <a:ea typeface="Arial" pitchFamily="34" charset="-122"/>
                <a:cs typeface="Arial" pitchFamily="34" charset="-120"/>
              </a:rPr>
              <a:t>Serving Option B: NOVA 4 aus Nährwerten vorhersagen, mind. 2 Modelle</a:t>
            </a:r>
            <a:endParaRPr lang="en-US" sz="1400" dirty="0"/>
          </a:p>
        </p:txBody>
      </p:sp>
      <p:sp>
        <p:nvSpPr>
          <p:cNvPr id="11" name="Text 9"/>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3CC"/>
                </a:solidFill>
                <a:latin typeface="Arial" pitchFamily="34" charset="0"/>
                <a:ea typeface="Arial" pitchFamily="34" charset="-122"/>
                <a:cs typeface="Arial" pitchFamily="34" charset="-120"/>
              </a:rPr>
              <a:t>Nutri-Score unter der Lupe · 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4EE"/>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E2A26"/>
                </a:solidFill>
                <a:latin typeface="Arial" pitchFamily="34" charset="0"/>
                <a:ea typeface="Arial" pitchFamily="34" charset="-122"/>
                <a:cs typeface="Arial" pitchFamily="34" charset="-120"/>
              </a:rPr>
              <a:t>Quellen</a:t>
            </a:r>
            <a:endParaRPr lang="en-US" sz="3200" dirty="0"/>
          </a:p>
        </p:txBody>
      </p:sp>
      <p:sp>
        <p:nvSpPr>
          <p:cNvPr id="3" name="Text 1"/>
          <p:cNvSpPr/>
          <p:nvPr/>
        </p:nvSpPr>
        <p:spPr>
          <a:xfrm>
            <a:off x="924306" y="1513780"/>
            <a:ext cx="10764266" cy="2150666"/>
          </a:xfrm>
          <a:prstGeom prst="rect">
            <a:avLst/>
          </a:prstGeom>
          <a:noFill/>
          <a:ln/>
        </p:spPr>
        <p:txBody>
          <a:bodyPr wrap="square" lIns="0" tIns="0" rIns="0" bIns="0" rtlCol="0" anchor="t">
            <a:normAutofit/>
          </a:bodyPr>
          <a:lstStyle/>
          <a:p>
            <a:pPr marL="142494" indent="-142494" algn="l">
              <a:lnSpc>
                <a:spcPts val="1860"/>
              </a:lnSpc>
              <a:buSzPct val="100000"/>
              <a:buChar char="•"/>
            </a:pPr>
            <a:r>
              <a:rPr lang="en-US" sz="1200" dirty="0">
                <a:solidFill>
                  <a:srgbClr val="3E4A45"/>
                </a:solidFill>
                <a:latin typeface="Arial" pitchFamily="34" charset="0"/>
                <a:ea typeface="Arial" pitchFamily="34" charset="-122"/>
                <a:cs typeface="Arial" pitchFamily="34" charset="-120"/>
              </a:rPr>
              <a:t>BLV (2025). Unternehmen und Marken, die sich in der Schweiz für den Nutri-Score engagieren. Stand 30.09.2025. Bern: BLV.</a:t>
            </a:r>
            <a:endParaRPr lang="en-US" sz="1200" dirty="0"/>
          </a:p>
          <a:p>
            <a:pPr marL="142494" indent="-142494" algn="l">
              <a:lnSpc>
                <a:spcPts val="1860"/>
              </a:lnSpc>
              <a:buSzPct val="100000"/>
              <a:buChar char="•"/>
            </a:pPr>
            <a:r>
              <a:rPr lang="en-US" sz="1200" dirty="0">
                <a:solidFill>
                  <a:srgbClr val="3E4A45"/>
                </a:solidFill>
                <a:latin typeface="Arial" pitchFamily="34" charset="0"/>
                <a:ea typeface="Arial" pitchFamily="34" charset="-122"/>
                <a:cs typeface="Arial" pitchFamily="34" charset="-120"/>
              </a:rPr>
              <a:t>CRESS (2024). Nutri-Score update. https://cress-umr1153.fr/en/nutri-score-update</a:t>
            </a:r>
            <a:endParaRPr lang="en-US" sz="1200" dirty="0"/>
          </a:p>
          <a:p>
            <a:pPr marL="142494" indent="-142494" algn="l">
              <a:lnSpc>
                <a:spcPts val="1860"/>
              </a:lnSpc>
              <a:buSzPct val="100000"/>
              <a:buChar char="•"/>
            </a:pPr>
            <a:r>
              <a:rPr lang="en-US" sz="1200" dirty="0">
                <a:solidFill>
                  <a:srgbClr val="3E4A45"/>
                </a:solidFill>
                <a:latin typeface="Arial" pitchFamily="34" charset="0"/>
                <a:ea typeface="Arial" pitchFamily="34" charset="-122"/>
                <a:cs typeface="Arial" pitchFamily="34" charset="-120"/>
              </a:rPr>
              <a:t>Cramér, H. (1946). Mathematical Methods of Statistics. Princeton: Princeton University Press.</a:t>
            </a:r>
            <a:endParaRPr lang="en-US" sz="1200" dirty="0"/>
          </a:p>
          <a:p>
            <a:pPr marL="142494" indent="-142494" algn="l">
              <a:lnSpc>
                <a:spcPts val="1860"/>
              </a:lnSpc>
              <a:buSzPct val="100000"/>
              <a:buChar char="•"/>
            </a:pPr>
            <a:r>
              <a:rPr lang="en-US" sz="1200" dirty="0">
                <a:solidFill>
                  <a:srgbClr val="3E4A45"/>
                </a:solidFill>
                <a:latin typeface="Arial" pitchFamily="34" charset="0"/>
                <a:ea typeface="Arial" pitchFamily="34" charset="-122"/>
                <a:cs typeface="Arial" pitchFamily="34" charset="-120"/>
              </a:rPr>
              <a:t>Department of Health &amp; Food Standards Agency (2016). Guide to creating a front of pack (FoP) nutrition label. London.</a:t>
            </a:r>
            <a:endParaRPr lang="en-US" sz="1200" dirty="0"/>
          </a:p>
          <a:p>
            <a:pPr marL="142494" indent="-142494" algn="l">
              <a:lnSpc>
                <a:spcPts val="1860"/>
              </a:lnSpc>
              <a:buSzPct val="100000"/>
              <a:buChar char="•"/>
            </a:pPr>
            <a:r>
              <a:rPr lang="en-US" sz="1200" dirty="0">
                <a:solidFill>
                  <a:srgbClr val="3E4A45"/>
                </a:solidFill>
                <a:latin typeface="Arial" pitchFamily="34" charset="0"/>
                <a:ea typeface="Arial" pitchFamily="34" charset="-122"/>
                <a:cs typeface="Arial" pitchFamily="34" charset="-120"/>
              </a:rPr>
              <a:t>Merz, B. et al. (2024). Nutri-Score 2023 update. Nature Food, 5(2), 102–110.</a:t>
            </a:r>
            <a:endParaRPr lang="en-US" sz="1200" dirty="0"/>
          </a:p>
          <a:p>
            <a:pPr marL="142494" indent="-142494" algn="l">
              <a:lnSpc>
                <a:spcPts val="1860"/>
              </a:lnSpc>
              <a:buSzPct val="100000"/>
              <a:buChar char="•"/>
            </a:pPr>
            <a:r>
              <a:rPr lang="en-US" sz="1200" dirty="0">
                <a:solidFill>
                  <a:srgbClr val="3E4A45"/>
                </a:solidFill>
                <a:latin typeface="Arial" pitchFamily="34" charset="0"/>
                <a:ea typeface="Arial" pitchFamily="34" charset="-122"/>
                <a:cs typeface="Arial" pitchFamily="34" charset="-120"/>
              </a:rPr>
              <a:t>Monteiro, C. A. et al. (2019). Ultra-processed foods: what they are and how to identify them. Public Health Nutrition, 22(5), 936–941.</a:t>
            </a:r>
            <a:endParaRPr lang="en-US" sz="1200" dirty="0"/>
          </a:p>
          <a:p>
            <a:pPr marL="142494" indent="-142494" algn="l">
              <a:lnSpc>
                <a:spcPts val="1860"/>
              </a:lnSpc>
              <a:buSzPct val="100000"/>
              <a:buChar char="•"/>
            </a:pPr>
            <a:r>
              <a:rPr lang="en-US" sz="1200" dirty="0">
                <a:solidFill>
                  <a:srgbClr val="3E4A45"/>
                </a:solidFill>
                <a:latin typeface="Arial" pitchFamily="34" charset="0"/>
                <a:ea typeface="Arial" pitchFamily="34" charset="-122"/>
                <a:cs typeface="Arial" pitchFamily="34" charset="-120"/>
              </a:rPr>
              <a:t>Open Food Facts (2026). Data, API and SDKs. https://world.openfoodfacts.org/data (Lizenz ODbL)</a:t>
            </a:r>
            <a:endParaRPr lang="en-US" sz="1200" dirty="0"/>
          </a:p>
          <a:p>
            <a:pPr marL="142494" indent="-142494" algn="l">
              <a:lnSpc>
                <a:spcPts val="1860"/>
              </a:lnSpc>
              <a:buSzPct val="100000"/>
              <a:buChar char="•"/>
            </a:pPr>
            <a:r>
              <a:rPr lang="en-US" sz="1200" dirty="0">
                <a:solidFill>
                  <a:srgbClr val="3E4A45"/>
                </a:solidFill>
                <a:latin typeface="Arial" pitchFamily="34" charset="0"/>
                <a:ea typeface="Arial" pitchFamily="34" charset="-122"/>
                <a:cs typeface="Arial" pitchFamily="34" charset="-120"/>
              </a:rPr>
              <a:t>Reis, J. &amp; Housley, M. (2022). Fundamentals of Data Engineering. Sebastopol: O'Reilly Media.</a:t>
            </a:r>
            <a:endParaRPr lang="en-US" sz="1200" dirty="0"/>
          </a:p>
          <a:p>
            <a:pPr marL="142494" indent="-142494" algn="l">
              <a:lnSpc>
                <a:spcPts val="1860"/>
              </a:lnSpc>
              <a:buSzPct val="100000"/>
              <a:buChar char="•"/>
            </a:pPr>
            <a:r>
              <a:rPr lang="en-US" sz="1200" dirty="0">
                <a:solidFill>
                  <a:srgbClr val="3E4A45"/>
                </a:solidFill>
                <a:latin typeface="Arial" pitchFamily="34" charset="0"/>
                <a:ea typeface="Arial" pitchFamily="34" charset="-122"/>
                <a:cs typeface="Arial" pitchFamily="34" charset="-120"/>
              </a:rPr>
              <a:t>Verordnung (EU) Nr. 1169/2011 betreffend die Information der Verbraucher über Lebensmittel, Anhang XIV.</a:t>
            </a:r>
            <a:endParaRPr lang="en-US" sz="1200" dirty="0"/>
          </a:p>
        </p:txBody>
      </p:sp>
      <p:sp>
        <p:nvSpPr>
          <p:cNvPr id="4" name="Text 2"/>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660"/>
                </a:solidFill>
                <a:latin typeface="Arial" pitchFamily="34" charset="0"/>
                <a:ea typeface="Arial" pitchFamily="34" charset="-122"/>
                <a:cs typeface="Arial" pitchFamily="34" charset="-120"/>
              </a:rPr>
              <a:t>Code-Vorlagen sind im Repository per Kommentar zitiert (ZHAW-Zitierleitfaden) · 17</a:t>
            </a:r>
            <a:endParaRPr lang="en-US" sz="1200" dirty="0"/>
          </a:p>
        </p:txBody>
      </p:sp>
    </p:spTree>
  </p:cSld>
  <p:clrMapOvr>
    <a:masterClrMapping/>
  </p:clrMapOvr>
</p:sld>
</file>

<file path=ppt/theme/theme1.xml><?xml version="1.0" encoding="utf-8"?>
<a:theme xmlns:a="http://schemas.openxmlformats.org/drawingml/2006/main" name="Nutri-Score unter der Lupe">
  <a:themeElements>
    <a:clrScheme name="Nutri-Score unter der Lupe">
      <a:dk1>
        <a:srgbClr val="1E2A26"/>
      </a:dk1>
      <a:lt1>
        <a:srgbClr val="F6F4EE"/>
      </a:lt1>
      <a:dk2>
        <a:srgbClr val="545D58"/>
      </a:dk2>
      <a:lt2>
        <a:srgbClr val="E0E0DA"/>
      </a:lt2>
      <a:accent1>
        <a:srgbClr val="B4501A"/>
      </a:accent1>
      <a:accent2>
        <a:srgbClr val="2F5F7A"/>
      </a:accent2>
      <a:accent3>
        <a:srgbClr val="F0A56B"/>
      </a:accent3>
      <a:accent4>
        <a:srgbClr val="E3B58C"/>
      </a:accent4>
      <a:accent5>
        <a:srgbClr val="7FA3B8"/>
      </a:accent5>
      <a:accent6>
        <a:srgbClr val="3E4A45"/>
      </a:accent6>
      <a:hlink>
        <a:srgbClr val="0563C1"/>
      </a:hlink>
      <a:folHlink>
        <a:srgbClr val="954F72"/>
      </a:folHlink>
    </a:clrScheme>
    <a:fontScheme name="Nutri-Score unter der Lup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70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1CC8BEB-DE27-4287-9893-AA2E28B675B7}">
  <we:reference id="c22bf5f7-55ef-4467-ac55-88a268666587" version="1.0.0.5" store="EXCatalog" storeType="EXCatalog"/>
  <we:alternateReferences>
    <we:reference id="WA200006038" version="1.0.0.5" store="de-DE" storeType="OMEX"/>
  </we:alternateReferences>
  <we:properties>
    <we:property name="pptx_export_from_biorender" value="false"/>
  </we:properties>
  <we:bindings/>
  <we:snapshot xmlns:r="http://schemas.openxmlformats.org/officeDocument/2006/relationships"/>
  <we:extLst>
    <a:ext xmlns:a="http://schemas.openxmlformats.org/drawingml/2006/main" uri="{0858819E-0033-43BF-8937-05EC82904868}">
      <we:backgroundApp state="1" runtimeId="Taskpane.Url"/>
    </a:ext>
  </we:extLst>
</we:webextension>
</file>

<file path=docProps/app.xml><?xml version="1.0" encoding="utf-8"?>
<Properties xmlns="http://schemas.openxmlformats.org/officeDocument/2006/extended-properties" xmlns:vt="http://schemas.openxmlformats.org/officeDocument/2006/docPropsVTypes">
  <TotalTime>0</TotalTime>
  <Words>3366</Words>
  <Application>Microsoft Office PowerPoint</Application>
  <PresentationFormat>Breitbild</PresentationFormat>
  <Paragraphs>371</Paragraphs>
  <Slides>17</Slides>
  <Notes>17</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17</vt:i4>
      </vt:variant>
    </vt:vector>
  </HeadingPairs>
  <TitlesOfParts>
    <vt:vector size="20" baseType="lpstr">
      <vt:lpstr>Arial</vt:lpstr>
      <vt:lpstr>Courier New</vt:lpstr>
      <vt:lpstr>Nutri-Score unter der Lupe</vt:lpstr>
      <vt:lpstr>Gut bewertet – aber auch gesund?</vt:lpstr>
      <vt:lpstr>Ablauf</vt:lpstr>
      <vt:lpstr>Der Nutri-Score soll den Einkauf vereinfachen</vt:lpstr>
      <vt:lpstr>Gute Werte können schlechte ausgleichen</vt:lpstr>
      <vt:lpstr>Was wir mit den Daten beantworten wollen</vt:lpstr>
      <vt:lpstr>Vier testbare Annahmen, α = 0,05</vt:lpstr>
      <vt:lpstr>Von der Frage zur geprüften Hypothese</vt:lpstr>
      <vt:lpstr>Fünf Phasen, getragen von sechs Unterströmungen</vt:lpstr>
      <vt:lpstr>Eine Hauptquelle, zwei Referenzen</vt:lpstr>
      <vt:lpstr>Batch-Import aus dem nächtlichen Export</vt:lpstr>
      <vt:lpstr>Drei Optionen im Vergleich</vt:lpstr>
      <vt:lpstr>Drei Stufen von roh bis auswertbar</vt:lpstr>
      <vt:lpstr>Nur jedes fünfte Produkt ist auswertbar</vt:lpstr>
      <vt:lpstr>Je schlechter der Score, desto mehr Hochverarbeitetes</vt:lpstr>
      <vt:lpstr>Jedes vierte gute Label steht auf hochverarbeiteten Produkten</vt:lpstr>
      <vt:lpstr>Der Score ist besser als sein Ruf, aber blind für Verarbeitung</vt:lpstr>
      <vt:lpstr>Quellen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Nutri-Score unter der Lupe</dc:title>
  <dc:subject/>
  <dc:creator>Andrea Brunetto</dc:creator>
  <cp:lastModifiedBy>Sommer Cindy (sommecin)</cp:lastModifiedBy>
  <cp:revision>12</cp:revision>
  <dcterms:created xsi:type="dcterms:W3CDTF">2026-10-20T12:06:19Z</dcterms:created>
  <dcterms:modified xsi:type="dcterms:W3CDTF">2026-10-27T12:23:50Z</dcterms:modified>
</cp:coreProperties>
</file>