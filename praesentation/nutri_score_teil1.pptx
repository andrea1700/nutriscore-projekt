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131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30 Sekunden. Begrüssung, Namen nennen. Einstieg mit einer Frage ans Publikum: "Wer achtet beim Einkaufen auf den Nutri-Score?" Dann: Unser Projekt prüft, ob ein gutes Nutri-Score-Label auch wirklich ein gesundes Produkt bedeutet, und baut dafür eine Datenpipeline auf Basis von Open Food Facts.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20 Sekunden. Kurz die zwei Teile vorstellen und sagen, wer was präsentiert. Die Aufteilung zeigt den Prüfenden, dass jede Person einen eigenständigen Teil verantwortet.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 Minute. Der Nutri-Score wurde in Frankreich entwickelt und wird heute in sieben Ländern eingesetzt, auch in der Schweiz. Laut BLV hatten sich bis Ende September 2025 102 Produzenten und Händler mit über 10'000 Produkten verpflichtet. Die Kennzeichnung ist freiwillig. 2024 wurde der Algorithmus überarbeitet: strengere Punkte für Zucker und Salz. Überleitung: Trotzdem bleibt die Frage, ob ein gutes Label wirklich ein gesundes Produkt bedeutet.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 Minute. Hier liegt unser Kernproblem. Der Score verrechnet Negativ- und Positivpunkte. Dadurch kann ein zuckerreiches Müesli mit vielen Ballaststoffen trotzdem gut abschneiden. Zudem fliessen Verarbeitungsgrad und die meisten Zusatzstoffe gar nicht ein, und der Bezug ist immer 100 g statt der üblichen Portion. Vorsicht: Mit dem Update 2024 werden Zucker und bei Getränken Süssstoffe strenger bewertet. Genau deshalb wollen wir mit Daten prüfen, wie gross das Problem heute noch 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 Minute. Drei Forschungsfragen. FF1 vergleicht zwei Bewertungssysteme: Nährwerte (Nutri-Score) gegen Verarbeitungsgrad (NOVA). FF2 sucht die Kategorien, in denen das Label am stärksten in die Irre führt, zum Beispiel Frühstückscerealien. FF3 prüft, ob das Update von 2024 die Schwächen behoben hat. FF3 bearbeiten wir hauptsächlich in Teil 2, weil wir dafür zuerst klären müssen, nach welcher Version die Scores in den Daten berechnet sind.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1,5 Minuten. Jede Hypothese ist einer Forschungsfrage zugeordnet und hat ein festgelegtes Testverfahren. H1: Wir erwarten, dass ein relevanter Teil der gut bewerteten Produkte hochverarbeitet ist. H2: Wenn beide Systeme dasselbe messen würden, wäre der Zusammenhang stark. Wir erwarten einen schwachen. H3: Für "hoher Zuckergehalt" nehmen wir die Ampelgrenze der britischen Food Standards Agency, 22,5 g pro 100 g. H4: Zusatzstoffe fliessen nicht in den Score ein, deshalb erwarten wir kaum Korrelation. Die Schwellenwerte 20 % und 10 % sind vorläufig und werden mit Literatur begründet. Wichtig für die Objektivität: Wir haben die Hypothesen vor der Analyse festgelegt.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 Minute. Unser Vorgehen in fünf Schritten. Schritte 1 bis 4 gehören zu Teil 1, Schritt 5 (Serving) zu Teil 2. Die Werkzeuge sind bewusst schlank gewählt: Python mit pandas und DuckDB für die Verarbeitung, SciPy für die Tests, Jupyter für die Dokumentation, GitHub für Versionierung und Abgabe. Externe Code-Vorlagen kennzeichnen wir im Code mit Kommentaren gemäss Zitierleitfaden der ZHAW.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A, ca. 1 Minute, danach Übergabe an Person B. Unser Entwurf folgt dem Lebenszyklus nach Reis und Housley. Generation: Die Daten entstehen bei Open Food Facts, erfasst von Herstellern und Freiwilligen. Ingestion als Batch über den nächtlichen Export. Storage in drei Stufen. Transformation mit Bereinigung und Tests. Serving folgt in Teil 2. Die Unterströmungen ziehen sich durch alle Phasen, zum Beispiel halten wir zu jedem Datenstand das Snapshot-Datum fest, damit die Resultate reproduzierbar sind. Übergabe: "[Name B] zeigt euch jetzt, wie wir das technisch umgesetzt haben."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 Minute. Unsere Hauptquelle ist Open Food Facts, die grösste offene Lebensmitteldatenbank. Sie enthält genau die Felder, die wir für die Hypothesen brauchen: Nährwerte, Nutri-Score, NOVA-Gruppe, Zusatzstoffe und Kategorien. In unserem Snapshot vom 6. Oktober 2026 sind 105'693 Schweizer Produkte erfasst. Dazu kommen zwei Referenzen: die Grenzwerte der britischen Food Standards Agency für H3 und die BLV-Liste als Kontext. Wichtig: Die Daten werden von Freiwilligen erfasst. Das ist der Grund, warum wir viel Zeit in die Bereinigung investieren.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 Minute. Die Pipeline hat vier Schritte: Export laden, auf die Schweiz filtern, die relevanten Spalten auswählen und als Rohdaten mit Datum im Dateinamen ablegen. Zwei bewusste Entscheide: Erstens Batch, weil die Quelle nur nächtlich aktualisiert wird. Zweitens der Bulk-Export statt der API, weil Open Food Facts das Abgreifen der ganzen Datenbank per API blockiert und dafür die Exporte bereitstellt. Zur Skalierbarkeit: Die ganze Datenbank ist als CSV entpackt rund 9 GB gross. Mit Parquet lesen wir nur die Spalten, die wir brauchen. Die Nährwerte sind im Export verschachtelt gespeichert; wir entpacken acht davon in eigene Spalten.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1,5 Minuten. Wir haben drei Speicherumgebungen verglichen. PostgreSQL ist der Klassiker, braucht aber einen Server und ist für spaltenweise Auswertungen nicht optimiert. MongoDB passt gut zu den verschachtelten JSON-Daten, ist aber schwach bei Aggregationen über Millionen Zeilen. DuckDB mit Parquet ist eingebettet, braucht keinen Server und liest nur die Spalten, die wir abfragen. Der Nachteil: Mehrere gleichzeitige Schreibzugriffe gehen schlecht. Für unseren Fall, die Analyse durch zwei Personen, ist das kein Problem. Das ist ein bewusster Trade-off: Falls wir in Teil 2 eine App mit vielen Nutzern bauen, ergänzen wir eventuell PostgreSQL. Der Entscheid ist also umkehrbar.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 Minute. Wir speichern in drei Stufen, der sogenannten Medallion-Architektur. Bronze: Die Rohdaten bleiben unverändert erhalten, damit wir jederzeit neu starten können. Silver: bereinigte und typisierte Daten in DuckDB. Gold: kleine Tabellen, die direkt eine Hypothese beantworten. Das Beispiel zeigt den Kern: Jede Bereinigungsregel setzt ein Flag, und in Silver landen nur Zeilen ohne Flag. Die geflaggten Zeilen werden mit Grund in einer eigenen Tabelle protokolliert.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1,25 Minuten. Von 105'693 Schweizer Produkten bleiben nach der Bereinigung 22'949 übrig, also rund 22 Prozent. Der mit Abstand grösste Grund: Bei 82'186 Produkten fehlt der Nutri-Score oder die NOVA-Gruppe. Ohne diese beiden Werte können wir keine Hypothese prüfen. Das ist auch eine Erkenntnis über die Datenqualität: Freiwillig erfasste Daten sind sehr lückenhaft. Echte Fehler wie unmögliche Nährwerte oder eine unplausible Energieangabe betreffen gut 4'000 Produkte. Duplikate gibt es praktisch keine. Eine Zeile kann mehrere Regeln verletzen, deshalb ergibt die Summe der Spalte mehr als die Differenz. Getränke behalten wir, werten sie aber getrennt aus, weil der Nutri-Score sie mit einem eigenen Algorithmus berechnet. Mögliche Rückfrage: "Verzerrt das die Resultate?" Antwort: Möglich, weil nicht zufällig ist, welche Produkte vollständig erfasst sind. Das prüfen wir in Teil 2, indem wir die Kategorien vor und nach der Bereinigung vergleichen.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45 Sekunden. Jede Zeile ist eine Nutri-Score-Klasse, die Farben zeigen den Verarbeitungsgrad. Von A nach E wird der orange Anteil, also hochverarbeitete Produkte, immer grösser: von rund 23 Prozent bei A auf rund 74 Prozent bei E. Der Nutri-Score und der Verarbeitungsgrad hängen also zusammen, das sehen wir gleich auch im Test zu H2. Aber auch bei A ist fast jedes vierte Produkt hochverarbeitet und bei B mehr als jedes dritte. Genau das prüfen wir mit H1. Überleitung: "Schauen wir uns die Tests im Detail 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1,5 Minuten. Eine Hypothese bestätigt, drei verworfen, und genau das ist spannend. H1 bestätigt: 27,7 Prozent der Produkte mit Nutri-Score A oder B sind hochverarbeitet, deutlich mehr als unsere Schwelle von 20 Prozent. Ein gutes Label heisst also oft nicht "wenig verarbeitet". H2 verworfen: Nutri-Score und NOVA hängen mittelstark zusammen, Cramér's V 0,36, stärker als erwartet. Die beiden Systeme messen nicht dasselbe, aber auch nicht völlig Verschiedenes. H3 verworfen: Nur 1,1 Prozent der gut bewerteten Frühstückscerealien haben über 22,5 g Zucker. Unser Müesli-Beispiel ist also eher die Ausnahme als die Regel. Mögliche Erklärung: Der überarbeitete Algorithmus bestraft Zucker stärker. Ob die Scores in den Daten schon nach der neuen Version berechnet sind, klären wir in Teil 2. H4 verworfen: Mehr Zusatzstoffe gehen mit schlechteren Scores einher, rho 0,36, obwohl Zusatzstoffe nicht in die Formel einfliessen. Vermutlich, weil Produkte mit vielen Zusatzstoffen oft auch viel Zucker, Fett oder Salz enthalten. Zu den p-Werten: Bei so vielen Produkten ist fast alles signifikant, deshalb entscheidet bei H2 und H4 die Effektstärke. Wichtig: Verworfene Hypothesen sind kein Fehler, sondern ein Ergebnis.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B, ca. 45 Sekunden. Kernaussage: Der Nutri-Score ist besser als sein Ruf, denn zuckerreiche Cerealien mit gutem Score sind selten. Aber er sagt nichts über die Verarbeitung: Mehr als jedes vierte Produkt mit A oder B ist hochverarbeitet. Technisch steht die Pipeline von den Rohdaten bis zu den Auswertungstabellen. In Teil 2 klären wir, nach welcher Version die Scores berechnet sind, prüfen, ob die vielen fehlenden Werte die Ergebnisse verzerren, und setzen Serving Option B um: Kann ein Modell allein aus den Nährwerten erkennen, ob ein Produkt hochverarbeitet ist? Wir vergleichen mindestens zwei Klassifikationsmodelle, zum Beispiel logistische Regression und Random Forest. Abschluss: Danke und Einladung zu Fragen.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vortragen. Diese Folie dient als Nachweis für das Kriterium Eigenständigkeit. Vor der Abgabe die Angaben gemäss ZHAW-Zitierleitfaden formatieren und die FSA-Quelle prüfen.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E2A26"/>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E2A2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E2A26"/>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E2A2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0A56B"/>
                </a:solidFill>
                <a:latin typeface="Arial" pitchFamily="34" charset="0"/>
                <a:ea typeface="Arial" pitchFamily="34" charset="-122"/>
                <a:cs typeface="Arial" pitchFamily="34" charset="-120"/>
              </a:rPr>
              <a:t>DATA ENGINEERING HS26 · PROJEKTARBEIT TEIL 1</a:t>
            </a:r>
            <a:endParaRPr lang="en-US" sz="1400" dirty="0"/>
          </a:p>
        </p:txBody>
      </p:sp>
      <p:sp>
        <p:nvSpPr>
          <p:cNvPr id="3" name="Text 1"/>
          <p:cNvSpPr>
            <a:spLocks noGrp="1"/>
          </p:cNvSpPr>
          <p:nvPr>
            <p:ph type="title"/>
          </p:nvPr>
        </p:nvSpPr>
        <p:spPr>
          <a:xfrm>
            <a:off x="812800" y="2146399"/>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3F0E8"/>
                </a:solidFill>
                <a:latin typeface="Arial" pitchFamily="34" charset="0"/>
                <a:ea typeface="Arial" pitchFamily="34" charset="-122"/>
                <a:cs typeface="Arial" pitchFamily="34" charset="-120"/>
              </a:rPr>
              <a:t>Gut bewertet –</a:t>
            </a:r>
            <a:endParaRPr lang="en-US" sz="6000" dirty="0"/>
          </a:p>
          <a:p>
            <a:pPr marL="0" indent="0" algn="l">
              <a:lnSpc>
                <a:spcPts val="6300"/>
              </a:lnSpc>
              <a:buNone/>
            </a:pPr>
            <a:r>
              <a:rPr lang="en-US" sz="6000" b="1" i="0" dirty="0">
                <a:solidFill>
                  <a:srgbClr val="F3F0E8"/>
                </a:solidFill>
                <a:latin typeface="Arial" pitchFamily="34" charset="0"/>
                <a:ea typeface="Arial" pitchFamily="34" charset="-122"/>
                <a:cs typeface="Arial" pitchFamily="34" charset="-120"/>
              </a:rPr>
              <a:t>aber auch gesund?</a:t>
            </a:r>
            <a:endParaRPr lang="en-US" sz="6000" dirty="0"/>
          </a:p>
        </p:txBody>
      </p:sp>
      <p:sp>
        <p:nvSpPr>
          <p:cNvPr id="4" name="Text 2"/>
          <p:cNvSpPr/>
          <p:nvPr/>
        </p:nvSpPr>
        <p:spPr>
          <a:xfrm>
            <a:off x="812800" y="3949799"/>
            <a:ext cx="915670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CC"/>
                </a:solidFill>
                <a:latin typeface="Arial" pitchFamily="34" charset="0"/>
                <a:ea typeface="Arial" pitchFamily="34" charset="-122"/>
                <a:cs typeface="Arial" pitchFamily="34" charset="-120"/>
              </a:rPr>
              <a:t>Wie aussagekräftig ist der Nutri-Score? Eine Analyse mit Open Food Facts</a:t>
            </a:r>
            <a:endParaRPr lang="en-US" sz="2200" dirty="0"/>
          </a:p>
        </p:txBody>
      </p:sp>
      <p:sp>
        <p:nvSpPr>
          <p:cNvPr id="5" name="Text 3"/>
          <p:cNvSpPr/>
          <p:nvPr/>
        </p:nvSpPr>
        <p:spPr>
          <a:xfrm>
            <a:off x="812800" y="5760740"/>
            <a:ext cx="2235875" cy="309860"/>
          </a:xfrm>
          <a:prstGeom prst="rect">
            <a:avLst/>
          </a:prstGeom>
          <a:noFill/>
          <a:ln/>
        </p:spPr>
        <p:txBody>
          <a:bodyPr wrap="square" lIns="0" tIns="0" rIns="0" bIns="0" rtlCol="0" anchor="t">
            <a:normAutofit fontScale="70000" lnSpcReduction="20000"/>
          </a:bodyPr>
          <a:lstStyle/>
          <a:p>
            <a:pPr marL="0" indent="0" algn="l">
              <a:lnSpc>
                <a:spcPts val="2240"/>
              </a:lnSpc>
              <a:buNone/>
            </a:pPr>
            <a:r>
              <a:rPr lang="en-US" sz="1600" dirty="0">
                <a:solidFill>
                  <a:srgbClr val="F3F0E8"/>
                </a:solidFill>
                <a:latin typeface="Arial" pitchFamily="34" charset="0"/>
                <a:ea typeface="Arial" pitchFamily="34" charset="-122"/>
                <a:cs typeface="Arial" pitchFamily="34" charset="-120"/>
              </a:rPr>
              <a:t>Cindy Sommer · Andrea Brunetto</a:t>
            </a:r>
            <a:endParaRPr lang="en-US" sz="1600" dirty="0"/>
          </a:p>
        </p:txBody>
      </p:sp>
      <p:sp>
        <p:nvSpPr>
          <p:cNvPr id="6" name="Text 4"/>
          <p:cNvSpPr/>
          <p:nvPr/>
        </p:nvSpPr>
        <p:spPr>
          <a:xfrm>
            <a:off x="3082429" y="5796359"/>
            <a:ext cx="657415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CC"/>
                </a:solidFill>
                <a:latin typeface="Arial" pitchFamily="34" charset="0"/>
                <a:ea typeface="Arial" pitchFamily="34" charset="-122"/>
                <a:cs typeface="Arial" pitchFamily="34" charset="-120"/>
              </a:rPr>
              <a:t>ZHAW School of Management and Law · </a:t>
            </a:r>
            <a:r>
              <a:rPr lang="en-US" sz="1400" dirty="0" err="1">
                <a:solidFill>
                  <a:srgbClr val="C9D3CC"/>
                </a:solidFill>
                <a:latin typeface="Arial" pitchFamily="34" charset="0"/>
                <a:ea typeface="Arial" pitchFamily="34" charset="-122"/>
                <a:cs typeface="Arial" pitchFamily="34" charset="-120"/>
              </a:rPr>
              <a:t>Kolloquium</a:t>
            </a:r>
            <a:r>
              <a:rPr lang="en-US" sz="1400" dirty="0">
                <a:solidFill>
                  <a:srgbClr val="C9D3CC"/>
                </a:solidFill>
                <a:latin typeface="Arial" pitchFamily="34" charset="0"/>
                <a:ea typeface="Arial" pitchFamily="34" charset="-122"/>
                <a:cs typeface="Arial" pitchFamily="34" charset="-120"/>
              </a:rPr>
              <a:t> 28. Oktober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84986" y="1070919"/>
            <a:ext cx="10883392" cy="472380"/>
          </a:xfrm>
          <a:prstGeom prst="rect">
            <a:avLst/>
          </a:prstGeom>
          <a:noFill/>
          <a:ln/>
        </p:spPr>
        <p:txBody>
          <a:bodyPr wrap="square" lIns="0" tIns="0" rIns="0" bIns="0" rtlCol="0" anchor="t">
            <a:normAutofit/>
          </a:bodyPr>
          <a:lstStyle/>
          <a:p>
            <a:pPr marL="0" indent="0" algn="l">
              <a:lnSpc>
                <a:spcPts val="3520"/>
              </a:lnSpc>
              <a:buNone/>
            </a:pPr>
            <a:r>
              <a:rPr lang="en-US" b="1" dirty="0" err="1"/>
              <a:t>Ablauf</a:t>
            </a:r>
            <a:endParaRPr lang="en-US" sz="3200" dirty="0"/>
          </a:p>
        </p:txBody>
      </p:sp>
      <p:sp>
        <p:nvSpPr>
          <p:cNvPr id="4" name="Shape 2"/>
          <p:cNvSpPr/>
          <p:nvPr/>
        </p:nvSpPr>
        <p:spPr>
          <a:xfrm>
            <a:off x="815975" y="1933476"/>
            <a:ext cx="5149850" cy="2805013"/>
          </a:xfrm>
          <a:prstGeom prst="roundRect">
            <a:avLst>
              <a:gd name="adj" fmla="val 3509"/>
            </a:avLst>
          </a:prstGeom>
          <a:solidFill>
            <a:srgbClr val="FFFFFF"/>
          </a:solidFill>
          <a:ln w="6350">
            <a:solidFill>
              <a:srgbClr val="DDD8CC"/>
            </a:solidFill>
            <a:prstDash val="solid"/>
          </a:ln>
        </p:spPr>
        <p:txBody>
          <a:bodyPr/>
          <a:lstStyle/>
          <a:p>
            <a:endParaRPr lang="de-CH"/>
          </a:p>
        </p:txBody>
      </p:sp>
      <p:sp>
        <p:nvSpPr>
          <p:cNvPr id="5" name="Text 3"/>
          <p:cNvSpPr/>
          <p:nvPr/>
        </p:nvSpPr>
        <p:spPr>
          <a:xfrm>
            <a:off x="1123950" y="2241451"/>
            <a:ext cx="466991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01A"/>
                </a:solidFill>
                <a:latin typeface="Arial" pitchFamily="34" charset="0"/>
                <a:ea typeface="Arial" pitchFamily="34" charset="-122"/>
                <a:cs typeface="Arial" pitchFamily="34" charset="-120"/>
              </a:rPr>
              <a:t>Teil A · Cindy Sommer</a:t>
            </a:r>
            <a:endParaRPr lang="en-US" sz="1400" dirty="0"/>
          </a:p>
        </p:txBody>
      </p:sp>
      <p:sp>
        <p:nvSpPr>
          <p:cNvPr id="6" name="Text 4"/>
          <p:cNvSpPr/>
          <p:nvPr/>
        </p:nvSpPr>
        <p:spPr>
          <a:xfrm>
            <a:off x="1123950" y="2642691"/>
            <a:ext cx="466991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2A26"/>
                </a:solidFill>
                <a:latin typeface="Arial" pitchFamily="34" charset="0"/>
                <a:ea typeface="Arial" pitchFamily="34" charset="-122"/>
                <a:cs typeface="Arial" pitchFamily="34" charset="-120"/>
              </a:rPr>
              <a:t>Konzeptionalisierung</a:t>
            </a:r>
            <a:endParaRPr lang="en-US" sz="2200" dirty="0"/>
          </a:p>
        </p:txBody>
      </p:sp>
      <p:sp>
        <p:nvSpPr>
          <p:cNvPr id="7" name="Text 5"/>
          <p:cNvSpPr/>
          <p:nvPr/>
        </p:nvSpPr>
        <p:spPr>
          <a:xfrm>
            <a:off x="1152029" y="3130352"/>
            <a:ext cx="4634218" cy="1325563"/>
          </a:xfrm>
          <a:prstGeom prst="rect">
            <a:avLst/>
          </a:prstGeom>
          <a:noFill/>
          <a:ln/>
        </p:spPr>
        <p:txBody>
          <a:bodyPr wrap="square" lIns="0" tIns="0" rIns="0" bIns="0" rtlCol="0" anchor="t">
            <a:normAutofit/>
          </a:bodyPr>
          <a:lstStyle/>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Ausgangslage und Problemstellung</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Forschungsfragen und Hypothesen</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Vorgehen und Methoden</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Entwurf des Lebenszyklus</a:t>
            </a:r>
            <a:endParaRPr lang="en-US" sz="1600" dirty="0"/>
          </a:p>
        </p:txBody>
      </p:sp>
      <p:sp>
        <p:nvSpPr>
          <p:cNvPr id="8" name="Shape 6"/>
          <p:cNvSpPr/>
          <p:nvPr/>
        </p:nvSpPr>
        <p:spPr>
          <a:xfrm>
            <a:off x="6226175" y="1933476"/>
            <a:ext cx="5149850" cy="2805013"/>
          </a:xfrm>
          <a:prstGeom prst="roundRect">
            <a:avLst>
              <a:gd name="adj" fmla="val 3509"/>
            </a:avLst>
          </a:prstGeom>
          <a:solidFill>
            <a:srgbClr val="FFFFFF"/>
          </a:solidFill>
          <a:ln w="6350">
            <a:solidFill>
              <a:srgbClr val="DDD8CC"/>
            </a:solidFill>
            <a:prstDash val="solid"/>
          </a:ln>
        </p:spPr>
        <p:txBody>
          <a:bodyPr/>
          <a:lstStyle/>
          <a:p>
            <a:endParaRPr lang="de-CH" dirty="0"/>
          </a:p>
        </p:txBody>
      </p:sp>
      <p:sp>
        <p:nvSpPr>
          <p:cNvPr id="9" name="Text 7"/>
          <p:cNvSpPr/>
          <p:nvPr/>
        </p:nvSpPr>
        <p:spPr>
          <a:xfrm>
            <a:off x="6534150" y="2241451"/>
            <a:ext cx="466991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F7A"/>
                </a:solidFill>
                <a:latin typeface="Arial" pitchFamily="34" charset="0"/>
                <a:ea typeface="Arial" pitchFamily="34" charset="-122"/>
                <a:cs typeface="Arial" pitchFamily="34" charset="-120"/>
              </a:rPr>
              <a:t>Teil B · Andrea Brunetto</a:t>
            </a:r>
            <a:endParaRPr lang="en-US" sz="1400" dirty="0"/>
          </a:p>
        </p:txBody>
      </p:sp>
      <p:sp>
        <p:nvSpPr>
          <p:cNvPr id="10" name="Text 8"/>
          <p:cNvSpPr/>
          <p:nvPr/>
        </p:nvSpPr>
        <p:spPr>
          <a:xfrm>
            <a:off x="6534150" y="2642691"/>
            <a:ext cx="466991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2A26"/>
                </a:solidFill>
                <a:latin typeface="Arial" pitchFamily="34" charset="0"/>
                <a:ea typeface="Arial" pitchFamily="34" charset="-122"/>
                <a:cs typeface="Arial" pitchFamily="34" charset="-120"/>
              </a:rPr>
              <a:t>Technische Umsetzung</a:t>
            </a:r>
            <a:endParaRPr lang="en-US" sz="2200" dirty="0"/>
          </a:p>
        </p:txBody>
      </p:sp>
      <p:sp>
        <p:nvSpPr>
          <p:cNvPr id="11" name="Text 9"/>
          <p:cNvSpPr/>
          <p:nvPr/>
        </p:nvSpPr>
        <p:spPr>
          <a:xfrm>
            <a:off x="6562229" y="3130352"/>
            <a:ext cx="4634218" cy="1325563"/>
          </a:xfrm>
          <a:prstGeom prst="rect">
            <a:avLst/>
          </a:prstGeom>
          <a:noFill/>
          <a:ln/>
        </p:spPr>
        <p:txBody>
          <a:bodyPr wrap="square" lIns="0" tIns="0" rIns="0" bIns="0" rtlCol="0" anchor="t">
            <a:normAutofit/>
          </a:bodyPr>
          <a:lstStyle/>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Datenquellen und Ingestion</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Storage: Evaluation und Umsetzung</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Transformation 1: Bereinigung, erste Tests</a:t>
            </a:r>
            <a:endParaRPr lang="en-US" sz="1600" dirty="0"/>
          </a:p>
          <a:p>
            <a:pPr marL="225921" indent="-225921" algn="l">
              <a:lnSpc>
                <a:spcPts val="2560"/>
              </a:lnSpc>
              <a:buSzPct val="100000"/>
              <a:buFontTx/>
              <a:buAutoNum type="arabicPeriod"/>
            </a:pPr>
            <a:r>
              <a:rPr lang="en-US" sz="1600" dirty="0">
                <a:solidFill>
                  <a:srgbClr val="3E4A45"/>
                </a:solidFill>
                <a:latin typeface="Arial" pitchFamily="34" charset="0"/>
                <a:ea typeface="Arial" pitchFamily="34" charset="-122"/>
                <a:cs typeface="Arial" pitchFamily="34" charset="-120"/>
              </a:rPr>
              <a:t>Fazit und Ausblick auf Teil 2</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Nutri-Score unter der Lupe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AUSGANGSLAGE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Der Nutri-Score soll den Einkauf vereinfachen</a:t>
            </a:r>
            <a:endParaRPr lang="en-US" sz="3200" dirty="0"/>
          </a:p>
        </p:txBody>
      </p:sp>
      <p:sp>
        <p:nvSpPr>
          <p:cNvPr id="4" name="Shape 2"/>
          <p:cNvSpPr/>
          <p:nvPr/>
        </p:nvSpPr>
        <p:spPr>
          <a:xfrm>
            <a:off x="815975" y="1933476"/>
            <a:ext cx="3380284" cy="1972072"/>
          </a:xfrm>
          <a:prstGeom prst="roundRect">
            <a:avLst>
              <a:gd name="adj" fmla="val 4991"/>
            </a:avLst>
          </a:prstGeom>
          <a:solidFill>
            <a:srgbClr val="FFFFFF"/>
          </a:solidFill>
          <a:ln w="6350">
            <a:solidFill>
              <a:srgbClr val="DDD8CC"/>
            </a:solidFill>
            <a:prstDash val="solid"/>
          </a:ln>
        </p:spPr>
        <p:txBody>
          <a:bodyPr/>
          <a:lstStyle/>
          <a:p>
            <a:endParaRPr lang="de-CH"/>
          </a:p>
        </p:txBody>
      </p:sp>
      <p:sp>
        <p:nvSpPr>
          <p:cNvPr id="5" name="Text 3"/>
          <p:cNvSpPr/>
          <p:nvPr/>
        </p:nvSpPr>
        <p:spPr>
          <a:xfrm>
            <a:off x="1073150" y="2190651"/>
            <a:ext cx="295191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01A"/>
                </a:solidFill>
                <a:latin typeface="Arial" pitchFamily="34" charset="0"/>
                <a:ea typeface="Arial" pitchFamily="34" charset="-122"/>
                <a:cs typeface="Arial" pitchFamily="34" charset="-120"/>
              </a:rPr>
              <a:t>A–E</a:t>
            </a:r>
            <a:endParaRPr lang="en-US" sz="4800" dirty="0"/>
          </a:p>
        </p:txBody>
      </p:sp>
      <p:sp>
        <p:nvSpPr>
          <p:cNvPr id="6" name="Text 4"/>
          <p:cNvSpPr/>
          <p:nvPr/>
        </p:nvSpPr>
        <p:spPr>
          <a:xfrm>
            <a:off x="1073150" y="290185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5"/>
                </a:solidFill>
                <a:latin typeface="Arial" pitchFamily="34" charset="0"/>
                <a:ea typeface="Arial" pitchFamily="34" charset="-122"/>
                <a:cs typeface="Arial" pitchFamily="34" charset="-120"/>
              </a:rPr>
              <a:t>Fünfstufige Skala zur Nährwertqualität, berechnet pro 100 g bzw. 100 ml</a:t>
            </a:r>
            <a:endParaRPr lang="en-US" sz="1400" dirty="0"/>
          </a:p>
        </p:txBody>
      </p:sp>
      <p:sp>
        <p:nvSpPr>
          <p:cNvPr id="7" name="Shape 5"/>
          <p:cNvSpPr/>
          <p:nvPr/>
        </p:nvSpPr>
        <p:spPr>
          <a:xfrm>
            <a:off x="4405809" y="1933476"/>
            <a:ext cx="3380383" cy="1972072"/>
          </a:xfrm>
          <a:prstGeom prst="roundRect">
            <a:avLst>
              <a:gd name="adj" fmla="val 4991"/>
            </a:avLst>
          </a:prstGeom>
          <a:solidFill>
            <a:srgbClr val="FFFFFF"/>
          </a:solidFill>
          <a:ln w="6350">
            <a:solidFill>
              <a:srgbClr val="DDD8CC"/>
            </a:solidFill>
            <a:prstDash val="solid"/>
          </a:ln>
        </p:spPr>
        <p:txBody>
          <a:bodyPr/>
          <a:lstStyle/>
          <a:p>
            <a:endParaRPr lang="de-CH"/>
          </a:p>
        </p:txBody>
      </p:sp>
      <p:sp>
        <p:nvSpPr>
          <p:cNvPr id="8" name="Text 6"/>
          <p:cNvSpPr/>
          <p:nvPr/>
        </p:nvSpPr>
        <p:spPr>
          <a:xfrm>
            <a:off x="4662984" y="2190651"/>
            <a:ext cx="295201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01A"/>
                </a:solidFill>
                <a:latin typeface="Arial" pitchFamily="34" charset="0"/>
                <a:ea typeface="Arial" pitchFamily="34" charset="-122"/>
                <a:cs typeface="Arial" pitchFamily="34" charset="-120"/>
              </a:rPr>
              <a:t>7</a:t>
            </a:r>
            <a:endParaRPr lang="en-US" sz="4800" dirty="0"/>
          </a:p>
        </p:txBody>
      </p:sp>
      <p:sp>
        <p:nvSpPr>
          <p:cNvPr id="9" name="Text 7"/>
          <p:cNvSpPr/>
          <p:nvPr/>
        </p:nvSpPr>
        <p:spPr>
          <a:xfrm>
            <a:off x="4662984" y="2901851"/>
            <a:ext cx="295201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5"/>
                </a:solidFill>
                <a:latin typeface="Arial" pitchFamily="34" charset="0"/>
                <a:ea typeface="Arial" pitchFamily="34" charset="-122"/>
                <a:cs typeface="Arial" pitchFamily="34" charset="-120"/>
              </a:rPr>
              <a:t>Länder nutzen ihn, darunter die Schweiz. Algorithmus 2024 überarbeitet</a:t>
            </a:r>
            <a:endParaRPr lang="en-US" sz="1400" dirty="0"/>
          </a:p>
        </p:txBody>
      </p:sp>
      <p:sp>
        <p:nvSpPr>
          <p:cNvPr id="10" name="Shape 8"/>
          <p:cNvSpPr/>
          <p:nvPr/>
        </p:nvSpPr>
        <p:spPr>
          <a:xfrm>
            <a:off x="7995741" y="1933476"/>
            <a:ext cx="3380284" cy="1972072"/>
          </a:xfrm>
          <a:prstGeom prst="roundRect">
            <a:avLst>
              <a:gd name="adj" fmla="val 4991"/>
            </a:avLst>
          </a:prstGeom>
          <a:solidFill>
            <a:srgbClr val="FFFFFF"/>
          </a:solidFill>
          <a:ln w="6350">
            <a:solidFill>
              <a:srgbClr val="DDD8CC"/>
            </a:solidFill>
            <a:prstDash val="solid"/>
          </a:ln>
        </p:spPr>
        <p:txBody>
          <a:bodyPr/>
          <a:lstStyle/>
          <a:p>
            <a:endParaRPr lang="de-CH"/>
          </a:p>
        </p:txBody>
      </p:sp>
      <p:sp>
        <p:nvSpPr>
          <p:cNvPr id="11" name="Text 9"/>
          <p:cNvSpPr/>
          <p:nvPr/>
        </p:nvSpPr>
        <p:spPr>
          <a:xfrm>
            <a:off x="8252916" y="2190651"/>
            <a:ext cx="295191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01A"/>
                </a:solidFill>
                <a:latin typeface="Arial" pitchFamily="34" charset="0"/>
                <a:ea typeface="Arial" pitchFamily="34" charset="-122"/>
                <a:cs typeface="Arial" pitchFamily="34" charset="-120"/>
              </a:rPr>
              <a:t>10'000+</a:t>
            </a:r>
            <a:endParaRPr lang="en-US" sz="4800" dirty="0"/>
          </a:p>
        </p:txBody>
      </p:sp>
      <p:sp>
        <p:nvSpPr>
          <p:cNvPr id="12" name="Text 10"/>
          <p:cNvSpPr/>
          <p:nvPr/>
        </p:nvSpPr>
        <p:spPr>
          <a:xfrm>
            <a:off x="8252916" y="290185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5"/>
                </a:solidFill>
                <a:latin typeface="Arial" pitchFamily="34" charset="0"/>
                <a:ea typeface="Arial" pitchFamily="34" charset="-122"/>
                <a:cs typeface="Arial" pitchFamily="34" charset="-120"/>
              </a:rPr>
              <a:t>Produkte in der Schweiz tragen ihn, von 102 Unternehmen (Stand 9/2025)</a:t>
            </a:r>
            <a:endParaRPr lang="en-US" sz="1400" dirty="0"/>
          </a:p>
        </p:txBody>
      </p:sp>
      <p:sp>
        <p:nvSpPr>
          <p:cNvPr id="13" name="Text 11"/>
          <p:cNvSpPr/>
          <p:nvPr/>
        </p:nvSpPr>
        <p:spPr>
          <a:xfrm>
            <a:off x="812800" y="4264323"/>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E4A45"/>
                </a:solidFill>
                <a:latin typeface="Arial" pitchFamily="34" charset="0"/>
                <a:ea typeface="Arial" pitchFamily="34" charset="-122"/>
                <a:cs typeface="Arial" pitchFamily="34" charset="-120"/>
              </a:rPr>
              <a:t>In der Schweiz ist die Kennzeichnung </a:t>
            </a:r>
            <a:r>
              <a:rPr lang="en-US" sz="1600" b="1" dirty="0">
                <a:solidFill>
                  <a:srgbClr val="3E4A45"/>
                </a:solidFill>
                <a:latin typeface="Arial" pitchFamily="34" charset="0"/>
                <a:ea typeface="Arial" pitchFamily="34" charset="-122"/>
                <a:cs typeface="Arial" pitchFamily="34" charset="-120"/>
              </a:rPr>
              <a:t>freiwillig</a:t>
            </a:r>
            <a:r>
              <a:rPr lang="en-US" sz="1600" dirty="0">
                <a:solidFill>
                  <a:srgbClr val="3E4A45"/>
                </a:solidFill>
                <a:latin typeface="Arial" pitchFamily="34" charset="0"/>
                <a:ea typeface="Arial" pitchFamily="34" charset="-122"/>
                <a:cs typeface="Arial" pitchFamily="34" charset="-120"/>
              </a:rPr>
              <a:t>. Konsumentinnen und Konsumenten lesen ein A oder B oft als „gesund“.</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Quellen: BLV (2025); CRESS (2024)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PROBLEMSTELLUNG</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Gute Werte können schlechte ausgleichen</a:t>
            </a:r>
            <a:endParaRPr lang="en-US" sz="3200" dirty="0"/>
          </a:p>
        </p:txBody>
      </p:sp>
      <p:sp>
        <p:nvSpPr>
          <p:cNvPr id="4" name="Shape 2"/>
          <p:cNvSpPr/>
          <p:nvPr/>
        </p:nvSpPr>
        <p:spPr>
          <a:xfrm>
            <a:off x="819150" y="1885851"/>
            <a:ext cx="3746202" cy="970161"/>
          </a:xfrm>
          <a:prstGeom prst="roundRect">
            <a:avLst>
              <a:gd name="adj" fmla="val 9818"/>
            </a:avLst>
          </a:prstGeom>
          <a:solidFill>
            <a:srgbClr val="FFFFFF"/>
          </a:solidFill>
          <a:ln w="12700">
            <a:solidFill>
              <a:srgbClr val="B4501A"/>
            </a:solidFill>
            <a:prstDash val="solid"/>
          </a:ln>
        </p:spPr>
        <p:txBody>
          <a:bodyPr/>
          <a:lstStyle/>
          <a:p>
            <a:endParaRPr lang="de-CH"/>
          </a:p>
        </p:txBody>
      </p:sp>
      <p:sp>
        <p:nvSpPr>
          <p:cNvPr id="5" name="Text 3"/>
          <p:cNvSpPr/>
          <p:nvPr/>
        </p:nvSpPr>
        <p:spPr>
          <a:xfrm>
            <a:off x="1028700" y="2095401"/>
            <a:ext cx="342691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A"/>
                </a:solidFill>
                <a:latin typeface="Arial" pitchFamily="34" charset="0"/>
                <a:ea typeface="Arial" pitchFamily="34" charset="-122"/>
                <a:cs typeface="Arial" pitchFamily="34" charset="-120"/>
              </a:rPr>
              <a:t>Negativpunkte</a:t>
            </a:r>
            <a:endParaRPr lang="en-US" sz="1600" dirty="0"/>
          </a:p>
        </p:txBody>
      </p:sp>
      <p:sp>
        <p:nvSpPr>
          <p:cNvPr id="6" name="Text 4"/>
          <p:cNvSpPr/>
          <p:nvPr/>
        </p:nvSpPr>
        <p:spPr>
          <a:xfrm>
            <a:off x="1028700" y="2415381"/>
            <a:ext cx="342691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5"/>
                </a:solidFill>
                <a:latin typeface="Arial" pitchFamily="34" charset="0"/>
                <a:ea typeface="Arial" pitchFamily="34" charset="-122"/>
                <a:cs typeface="Arial" pitchFamily="34" charset="-120"/>
              </a:rPr>
              <a:t>Energie, Zucker, gesättigte Fettsäuren, Salz</a:t>
            </a:r>
            <a:endParaRPr lang="en-US" sz="1300" dirty="0"/>
          </a:p>
        </p:txBody>
      </p:sp>
      <p:sp>
        <p:nvSpPr>
          <p:cNvPr id="7" name="Text 5"/>
          <p:cNvSpPr/>
          <p:nvPr/>
        </p:nvSpPr>
        <p:spPr>
          <a:xfrm>
            <a:off x="4724102" y="2050852"/>
            <a:ext cx="320397"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E2A26"/>
                </a:solidFill>
                <a:latin typeface="Arial" pitchFamily="34" charset="0"/>
                <a:ea typeface="Arial" pitchFamily="34" charset="-122"/>
                <a:cs typeface="Arial" pitchFamily="34" charset="-120"/>
              </a:rPr>
              <a:t>−</a:t>
            </a:r>
            <a:endParaRPr lang="en-US" sz="3600" dirty="0"/>
          </a:p>
        </p:txBody>
      </p:sp>
      <p:sp>
        <p:nvSpPr>
          <p:cNvPr id="8" name="Shape 6"/>
          <p:cNvSpPr/>
          <p:nvPr/>
        </p:nvSpPr>
        <p:spPr>
          <a:xfrm>
            <a:off x="5149850" y="1885851"/>
            <a:ext cx="3746202" cy="970161"/>
          </a:xfrm>
          <a:prstGeom prst="roundRect">
            <a:avLst>
              <a:gd name="adj" fmla="val 9818"/>
            </a:avLst>
          </a:prstGeom>
          <a:solidFill>
            <a:srgbClr val="FFFFFF"/>
          </a:solidFill>
          <a:ln w="12700">
            <a:solidFill>
              <a:srgbClr val="2F5F7A"/>
            </a:solidFill>
            <a:prstDash val="solid"/>
          </a:ln>
        </p:spPr>
        <p:txBody>
          <a:bodyPr/>
          <a:lstStyle/>
          <a:p>
            <a:endParaRPr lang="de-CH"/>
          </a:p>
        </p:txBody>
      </p:sp>
      <p:sp>
        <p:nvSpPr>
          <p:cNvPr id="9" name="Text 7"/>
          <p:cNvSpPr/>
          <p:nvPr/>
        </p:nvSpPr>
        <p:spPr>
          <a:xfrm>
            <a:off x="5359400" y="2095401"/>
            <a:ext cx="342691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F7A"/>
                </a:solidFill>
                <a:latin typeface="Arial" pitchFamily="34" charset="0"/>
                <a:ea typeface="Arial" pitchFamily="34" charset="-122"/>
                <a:cs typeface="Arial" pitchFamily="34" charset="-120"/>
              </a:rPr>
              <a:t>Positivpunkte</a:t>
            </a:r>
            <a:endParaRPr lang="en-US" sz="1600" dirty="0"/>
          </a:p>
        </p:txBody>
      </p:sp>
      <p:sp>
        <p:nvSpPr>
          <p:cNvPr id="10" name="Text 8"/>
          <p:cNvSpPr/>
          <p:nvPr/>
        </p:nvSpPr>
        <p:spPr>
          <a:xfrm>
            <a:off x="5359400" y="2415381"/>
            <a:ext cx="353030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5"/>
                </a:solidFill>
                <a:latin typeface="Arial" pitchFamily="34" charset="0"/>
                <a:ea typeface="Arial" pitchFamily="34" charset="-122"/>
                <a:cs typeface="Arial" pitchFamily="34" charset="-120"/>
              </a:rPr>
              <a:t>Ballaststoffe, Protein, Obst, Gemüse, Nüsse</a:t>
            </a:r>
            <a:endParaRPr lang="en-US" sz="1300" dirty="0"/>
          </a:p>
        </p:txBody>
      </p:sp>
      <p:sp>
        <p:nvSpPr>
          <p:cNvPr id="11" name="Text 9"/>
          <p:cNvSpPr/>
          <p:nvPr/>
        </p:nvSpPr>
        <p:spPr>
          <a:xfrm>
            <a:off x="9054802" y="2050852"/>
            <a:ext cx="320397"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E2A26"/>
                </a:solidFill>
                <a:latin typeface="Arial" pitchFamily="34" charset="0"/>
                <a:ea typeface="Arial" pitchFamily="34" charset="-122"/>
                <a:cs typeface="Arial" pitchFamily="34" charset="-120"/>
              </a:rPr>
              <a:t>=</a:t>
            </a:r>
            <a:endParaRPr lang="en-US" sz="3600" dirty="0"/>
          </a:p>
        </p:txBody>
      </p:sp>
      <p:sp>
        <p:nvSpPr>
          <p:cNvPr id="12" name="Shape 10"/>
          <p:cNvSpPr/>
          <p:nvPr/>
        </p:nvSpPr>
        <p:spPr>
          <a:xfrm>
            <a:off x="9474200" y="1892201"/>
            <a:ext cx="1905000" cy="957461"/>
          </a:xfrm>
          <a:prstGeom prst="roundRect">
            <a:avLst>
              <a:gd name="adj" fmla="val 10611"/>
            </a:avLst>
          </a:prstGeom>
          <a:solidFill>
            <a:srgbClr val="1E2A26"/>
          </a:solidFill>
          <a:ln/>
        </p:spPr>
        <p:txBody>
          <a:bodyPr/>
          <a:lstStyle/>
          <a:p>
            <a:endParaRPr lang="de-CH"/>
          </a:p>
        </p:txBody>
      </p:sp>
      <p:sp>
        <p:nvSpPr>
          <p:cNvPr id="13" name="Text 11"/>
          <p:cNvSpPr/>
          <p:nvPr/>
        </p:nvSpPr>
        <p:spPr>
          <a:xfrm>
            <a:off x="9677400" y="2095401"/>
            <a:ext cx="15494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0E8"/>
                </a:solidFill>
                <a:latin typeface="Arial" pitchFamily="34" charset="0"/>
                <a:ea typeface="Arial" pitchFamily="34" charset="-122"/>
                <a:cs typeface="Arial" pitchFamily="34" charset="-120"/>
              </a:rPr>
              <a:t>Score</a:t>
            </a:r>
            <a:endParaRPr lang="en-US" sz="1600" dirty="0"/>
          </a:p>
        </p:txBody>
      </p:sp>
      <p:sp>
        <p:nvSpPr>
          <p:cNvPr id="14" name="Text 12"/>
          <p:cNvSpPr/>
          <p:nvPr/>
        </p:nvSpPr>
        <p:spPr>
          <a:xfrm>
            <a:off x="9677400" y="2415381"/>
            <a:ext cx="1549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CC"/>
                </a:solidFill>
                <a:latin typeface="Arial" pitchFamily="34" charset="0"/>
                <a:ea typeface="Arial" pitchFamily="34" charset="-122"/>
                <a:cs typeface="Arial" pitchFamily="34" charset="-120"/>
              </a:rPr>
              <a:t>→ Klasse A bis E</a:t>
            </a:r>
            <a:endParaRPr lang="en-US" sz="1300" dirty="0"/>
          </a:p>
        </p:txBody>
      </p:sp>
      <p:sp>
        <p:nvSpPr>
          <p:cNvPr id="15" name="Text 13"/>
          <p:cNvSpPr/>
          <p:nvPr/>
        </p:nvSpPr>
        <p:spPr>
          <a:xfrm>
            <a:off x="812800" y="3167162"/>
            <a:ext cx="504926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A26"/>
                </a:solidFill>
                <a:latin typeface="Arial" pitchFamily="34" charset="0"/>
                <a:ea typeface="Arial" pitchFamily="34" charset="-122"/>
                <a:cs typeface="Arial" pitchFamily="34" charset="-120"/>
              </a:rPr>
              <a:t>Nicht berücksichtigt</a:t>
            </a:r>
            <a:endParaRPr lang="en-US" sz="1800" dirty="0"/>
          </a:p>
        </p:txBody>
      </p:sp>
      <p:sp>
        <p:nvSpPr>
          <p:cNvPr id="16" name="Text 14"/>
          <p:cNvSpPr/>
          <p:nvPr/>
        </p:nvSpPr>
        <p:spPr>
          <a:xfrm>
            <a:off x="910082" y="3517602"/>
            <a:ext cx="4944364" cy="878780"/>
          </a:xfrm>
          <a:prstGeom prst="rect">
            <a:avLst/>
          </a:prstGeom>
          <a:noFill/>
          <a:ln/>
        </p:spPr>
        <p:txBody>
          <a:bodyPr wrap="square" lIns="0" tIns="0" rIns="0" bIns="0" rtlCol="0" anchor="t">
            <a:normAutofit/>
          </a:bodyPr>
          <a:lstStyle/>
          <a:p>
            <a:pPr marL="156718" indent="-156718" algn="l">
              <a:lnSpc>
                <a:spcPts val="2240"/>
              </a:lnSpc>
              <a:buSzPct val="100000"/>
              <a:buChar char="•"/>
            </a:pPr>
            <a:r>
              <a:rPr lang="en-US" sz="1400" dirty="0">
                <a:solidFill>
                  <a:srgbClr val="3E4A45"/>
                </a:solidFill>
                <a:latin typeface="Arial" pitchFamily="34" charset="0"/>
                <a:ea typeface="Arial" pitchFamily="34" charset="-122"/>
                <a:cs typeface="Arial" pitchFamily="34" charset="-120"/>
              </a:rPr>
              <a:t>Verarbeitungsgrad (NOVA-Gruppen)</a:t>
            </a:r>
            <a:endParaRPr lang="en-US" sz="1400" dirty="0"/>
          </a:p>
          <a:p>
            <a:pPr marL="156718" indent="-156718" algn="l">
              <a:lnSpc>
                <a:spcPts val="2240"/>
              </a:lnSpc>
              <a:buSzPct val="100000"/>
              <a:buChar char="•"/>
            </a:pPr>
            <a:r>
              <a:rPr lang="en-US" sz="1400" dirty="0">
                <a:solidFill>
                  <a:srgbClr val="3E4A45"/>
                </a:solidFill>
                <a:latin typeface="Arial" pitchFamily="34" charset="0"/>
                <a:ea typeface="Arial" pitchFamily="34" charset="-122"/>
                <a:cs typeface="Arial" pitchFamily="34" charset="-120"/>
              </a:rPr>
              <a:t>Zusatzstoffe wie Emulgatoren und Aromen</a:t>
            </a:r>
            <a:endParaRPr lang="en-US" sz="1400" dirty="0"/>
          </a:p>
          <a:p>
            <a:pPr marL="156718" indent="-156718" algn="l">
              <a:lnSpc>
                <a:spcPts val="2240"/>
              </a:lnSpc>
              <a:buSzPct val="100000"/>
              <a:buChar char="•"/>
            </a:pPr>
            <a:r>
              <a:rPr lang="en-US" sz="1400" dirty="0">
                <a:solidFill>
                  <a:srgbClr val="3E4A45"/>
                </a:solidFill>
                <a:latin typeface="Arial" pitchFamily="34" charset="0"/>
                <a:ea typeface="Arial" pitchFamily="34" charset="-122"/>
                <a:cs typeface="Arial" pitchFamily="34" charset="-120"/>
              </a:rPr>
              <a:t>Übliche Portionsgrösse (Bezug immer 100 g)</a:t>
            </a:r>
            <a:endParaRPr lang="en-US" sz="1400" dirty="0"/>
          </a:p>
        </p:txBody>
      </p:sp>
      <p:sp>
        <p:nvSpPr>
          <p:cNvPr id="17" name="Shape 15"/>
          <p:cNvSpPr/>
          <p:nvPr/>
        </p:nvSpPr>
        <p:spPr>
          <a:xfrm>
            <a:off x="5969000" y="3167162"/>
            <a:ext cx="5410200" cy="1391841"/>
          </a:xfrm>
          <a:prstGeom prst="roundRect">
            <a:avLst>
              <a:gd name="adj" fmla="val 7300"/>
            </a:avLst>
          </a:prstGeom>
          <a:solidFill>
            <a:srgbClr val="F0E2D3"/>
          </a:solidFill>
          <a:ln/>
        </p:spPr>
        <p:txBody>
          <a:bodyPr/>
          <a:lstStyle/>
          <a:p>
            <a:endParaRPr lang="de-CH"/>
          </a:p>
        </p:txBody>
      </p:sp>
      <p:sp>
        <p:nvSpPr>
          <p:cNvPr id="18" name="Text 16"/>
          <p:cNvSpPr/>
          <p:nvPr/>
        </p:nvSpPr>
        <p:spPr>
          <a:xfrm>
            <a:off x="6223000" y="3421162"/>
            <a:ext cx="504926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A26"/>
                </a:solidFill>
                <a:latin typeface="Arial" pitchFamily="34" charset="0"/>
                <a:ea typeface="Arial" pitchFamily="34" charset="-122"/>
                <a:cs typeface="Arial" pitchFamily="34" charset="-120"/>
              </a:rPr>
              <a:t>Beispiel Müesli</a:t>
            </a:r>
            <a:endParaRPr lang="en-US" sz="1800" dirty="0"/>
          </a:p>
        </p:txBody>
      </p:sp>
      <p:sp>
        <p:nvSpPr>
          <p:cNvPr id="19" name="Text 17"/>
          <p:cNvSpPr/>
          <p:nvPr/>
        </p:nvSpPr>
        <p:spPr>
          <a:xfrm>
            <a:off x="6223000" y="3771602"/>
            <a:ext cx="5049266"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E4A45"/>
                </a:solidFill>
                <a:latin typeface="Arial" pitchFamily="34" charset="0"/>
                <a:ea typeface="Arial" pitchFamily="34" charset="-122"/>
                <a:cs typeface="Arial" pitchFamily="34" charset="-120"/>
              </a:rPr>
              <a:t>Viel Zucker, aber auch viele Ballaststoffe: Die Positivpunkte drücken den Score nach oben, das Produkt erscheint als B.</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Nutri-Score unter der Lupe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FORSCHUNGSFRAGEN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Was wir mit den Daten beantworten wollen</a:t>
            </a:r>
            <a:endParaRPr lang="en-US" sz="3200" dirty="0"/>
          </a:p>
        </p:txBody>
      </p:sp>
      <p:sp>
        <p:nvSpPr>
          <p:cNvPr id="4" name="Shape 2"/>
          <p:cNvSpPr/>
          <p:nvPr/>
        </p:nvSpPr>
        <p:spPr>
          <a:xfrm>
            <a:off x="815975" y="1882676"/>
            <a:ext cx="10560050" cy="910530"/>
          </a:xfrm>
          <a:prstGeom prst="roundRect">
            <a:avLst>
              <a:gd name="adj" fmla="val 10810"/>
            </a:avLst>
          </a:prstGeom>
          <a:solidFill>
            <a:srgbClr val="FFFFFF"/>
          </a:solidFill>
          <a:ln w="6350">
            <a:solidFill>
              <a:srgbClr val="DDD8CC"/>
            </a:solidFill>
            <a:prstDash val="solid"/>
          </a:ln>
        </p:spPr>
        <p:txBody>
          <a:bodyPr/>
          <a:lstStyle/>
          <a:p>
            <a:endParaRPr lang="de-CH"/>
          </a:p>
        </p:txBody>
      </p:sp>
      <p:sp>
        <p:nvSpPr>
          <p:cNvPr id="5" name="Text 3"/>
          <p:cNvSpPr/>
          <p:nvPr/>
        </p:nvSpPr>
        <p:spPr>
          <a:xfrm>
            <a:off x="1073150" y="2089051"/>
            <a:ext cx="8128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01A"/>
                </a:solidFill>
                <a:latin typeface="Arial" pitchFamily="34" charset="0"/>
                <a:ea typeface="Arial" pitchFamily="34" charset="-122"/>
                <a:cs typeface="Arial" pitchFamily="34" charset="-120"/>
              </a:rPr>
              <a:t>FF1</a:t>
            </a:r>
            <a:endParaRPr lang="en-US" sz="2800" dirty="0"/>
          </a:p>
        </p:txBody>
      </p:sp>
      <p:sp>
        <p:nvSpPr>
          <p:cNvPr id="6" name="Text 4"/>
          <p:cNvSpPr/>
          <p:nvPr/>
        </p:nvSpPr>
        <p:spPr>
          <a:xfrm>
            <a:off x="2089150" y="2192238"/>
            <a:ext cx="9300591"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E2A26"/>
                </a:solidFill>
                <a:latin typeface="Arial" pitchFamily="34" charset="0"/>
                <a:ea typeface="Arial" pitchFamily="34" charset="-122"/>
                <a:cs typeface="Arial" pitchFamily="34" charset="-120"/>
              </a:rPr>
              <a:t>Wie gut stimmen Nutri-Score und Verarbeitungsgrad (NOVA) überein?</a:t>
            </a:r>
            <a:endParaRPr lang="en-US" sz="1700" dirty="0"/>
          </a:p>
        </p:txBody>
      </p:sp>
      <p:sp>
        <p:nvSpPr>
          <p:cNvPr id="7" name="Shape 5"/>
          <p:cNvSpPr/>
          <p:nvPr/>
        </p:nvSpPr>
        <p:spPr>
          <a:xfrm>
            <a:off x="815975" y="2951956"/>
            <a:ext cx="10560050" cy="995561"/>
          </a:xfrm>
          <a:prstGeom prst="roundRect">
            <a:avLst>
              <a:gd name="adj" fmla="val 9886"/>
            </a:avLst>
          </a:prstGeom>
          <a:solidFill>
            <a:srgbClr val="FFFFFF"/>
          </a:solidFill>
          <a:ln w="6350">
            <a:solidFill>
              <a:srgbClr val="DDD8CC"/>
            </a:solidFill>
            <a:prstDash val="solid"/>
          </a:ln>
        </p:spPr>
        <p:txBody>
          <a:bodyPr/>
          <a:lstStyle/>
          <a:p>
            <a:endParaRPr lang="de-CH"/>
          </a:p>
        </p:txBody>
      </p:sp>
      <p:sp>
        <p:nvSpPr>
          <p:cNvPr id="8" name="Text 6"/>
          <p:cNvSpPr/>
          <p:nvPr/>
        </p:nvSpPr>
        <p:spPr>
          <a:xfrm>
            <a:off x="1073150" y="3200797"/>
            <a:ext cx="8128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01A"/>
                </a:solidFill>
                <a:latin typeface="Arial" pitchFamily="34" charset="0"/>
                <a:ea typeface="Arial" pitchFamily="34" charset="-122"/>
                <a:cs typeface="Arial" pitchFamily="34" charset="-120"/>
              </a:rPr>
              <a:t>FF2</a:t>
            </a:r>
            <a:endParaRPr lang="en-US" sz="2800" dirty="0"/>
          </a:p>
        </p:txBody>
      </p:sp>
      <p:sp>
        <p:nvSpPr>
          <p:cNvPr id="9" name="Text 7"/>
          <p:cNvSpPr/>
          <p:nvPr/>
        </p:nvSpPr>
        <p:spPr>
          <a:xfrm>
            <a:off x="2089150" y="3158331"/>
            <a:ext cx="9300591" cy="60821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E2A26"/>
                </a:solidFill>
                <a:latin typeface="Arial" pitchFamily="34" charset="0"/>
                <a:ea typeface="Arial" pitchFamily="34" charset="-122"/>
                <a:cs typeface="Arial" pitchFamily="34" charset="-120"/>
              </a:rPr>
              <a:t>In welchen Produktkategorien weicht der Nutri-Score am stärksten von Zuckergehalt und Zusatzstoffen ab?</a:t>
            </a:r>
            <a:endParaRPr lang="en-US" sz="1700" dirty="0"/>
          </a:p>
        </p:txBody>
      </p:sp>
      <p:sp>
        <p:nvSpPr>
          <p:cNvPr id="10" name="Shape 8"/>
          <p:cNvSpPr/>
          <p:nvPr/>
        </p:nvSpPr>
        <p:spPr>
          <a:xfrm>
            <a:off x="815975" y="4106267"/>
            <a:ext cx="10560050" cy="910530"/>
          </a:xfrm>
          <a:prstGeom prst="roundRect">
            <a:avLst>
              <a:gd name="adj" fmla="val 10810"/>
            </a:avLst>
          </a:prstGeom>
          <a:solidFill>
            <a:srgbClr val="FFFFFF"/>
          </a:solidFill>
          <a:ln w="6350">
            <a:solidFill>
              <a:srgbClr val="DDD8CC"/>
            </a:solidFill>
            <a:prstDash val="solid"/>
          </a:ln>
        </p:spPr>
        <p:txBody>
          <a:bodyPr/>
          <a:lstStyle/>
          <a:p>
            <a:endParaRPr lang="de-CH"/>
          </a:p>
        </p:txBody>
      </p:sp>
      <p:sp>
        <p:nvSpPr>
          <p:cNvPr id="11" name="Text 9"/>
          <p:cNvSpPr/>
          <p:nvPr/>
        </p:nvSpPr>
        <p:spPr>
          <a:xfrm>
            <a:off x="1073150" y="4312642"/>
            <a:ext cx="8128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F5F7A"/>
                </a:solidFill>
                <a:latin typeface="Arial" pitchFamily="34" charset="0"/>
                <a:ea typeface="Arial" pitchFamily="34" charset="-122"/>
                <a:cs typeface="Arial" pitchFamily="34" charset="-120"/>
              </a:rPr>
              <a:t>FF3</a:t>
            </a:r>
            <a:endParaRPr lang="en-US" sz="2800" dirty="0"/>
          </a:p>
        </p:txBody>
      </p:sp>
      <p:sp>
        <p:nvSpPr>
          <p:cNvPr id="12" name="Text 10"/>
          <p:cNvSpPr/>
          <p:nvPr/>
        </p:nvSpPr>
        <p:spPr>
          <a:xfrm>
            <a:off x="2089150" y="4415830"/>
            <a:ext cx="9300591"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E2A26"/>
                </a:solidFill>
                <a:latin typeface="Arial" pitchFamily="34" charset="0"/>
                <a:ea typeface="Arial" pitchFamily="34" charset="-122"/>
                <a:cs typeface="Arial" pitchFamily="34" charset="-120"/>
              </a:rPr>
              <a:t>Trifft die Kritik auch nach dem Algorithmus-Update 2024 noch zu? </a:t>
            </a:r>
            <a:r>
              <a:rPr lang="en-US" sz="1700" dirty="0">
                <a:solidFill>
                  <a:srgbClr val="5A6660"/>
                </a:solidFill>
                <a:latin typeface="Arial" pitchFamily="34" charset="0"/>
                <a:ea typeface="Arial" pitchFamily="34" charset="-122"/>
                <a:cs typeface="Arial" pitchFamily="34" charset="-120"/>
              </a:rPr>
              <a:t>(vertieft in Teil 2)</a:t>
            </a:r>
            <a:endParaRPr lang="en-US" sz="17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Nutri-Score unter der Lupe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HYPOTHESEN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Vier testbare Annahmen, α = 0,05</a:t>
            </a:r>
            <a:endParaRPr lang="en-US" sz="3200" dirty="0"/>
          </a:p>
        </p:txBody>
      </p:sp>
      <p:sp>
        <p:nvSpPr>
          <p:cNvPr id="4" name="Shape 2"/>
          <p:cNvSpPr/>
          <p:nvPr/>
        </p:nvSpPr>
        <p:spPr>
          <a:xfrm>
            <a:off x="812800" y="1828701"/>
            <a:ext cx="10566400" cy="2733377"/>
          </a:xfrm>
          <a:prstGeom prst="roundRect">
            <a:avLst>
              <a:gd name="adj" fmla="val 2788"/>
            </a:avLst>
          </a:prstGeom>
          <a:solidFill>
            <a:srgbClr val="FFFFFF"/>
          </a:solidFill>
          <a:ln/>
        </p:spPr>
        <p:txBody>
          <a:bodyPr/>
          <a:lstStyle/>
          <a:p>
            <a:endParaRPr lang="de-CH"/>
          </a:p>
        </p:txBody>
      </p:sp>
      <p:sp>
        <p:nvSpPr>
          <p:cNvPr id="5" name="Shape 3"/>
          <p:cNvSpPr/>
          <p:nvPr/>
        </p:nvSpPr>
        <p:spPr>
          <a:xfrm>
            <a:off x="812800" y="1828701"/>
            <a:ext cx="10566400" cy="2733377"/>
          </a:xfrm>
          <a:custGeom>
            <a:avLst/>
            <a:gdLst/>
            <a:ahLst/>
            <a:cxnLst/>
            <a:rect l="l" t="t" r="r" b="b"/>
            <a:pathLst>
              <a:path w="10566400" h="2733377">
                <a:moveTo>
                  <a:pt x="76200" y="2733377"/>
                </a:moveTo>
                <a:lnTo>
                  <a:pt x="76200" y="2733377"/>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2657177"/>
                </a:lnTo>
                <a:arcTo wR="63500" hR="76200" stAng="10800000" swAng="-5400000"/>
                <a:close/>
              </a:path>
            </a:pathLst>
          </a:custGeom>
          <a:solidFill>
            <a:srgbClr val="141413">
              <a:alpha val="22000"/>
            </a:srgbClr>
          </a:solidFill>
          <a:ln/>
        </p:spPr>
        <p:txBody>
          <a:bodyPr/>
          <a:lstStyle/>
          <a:p>
            <a:endParaRPr lang="de-CH"/>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720679"/>
        </p:xfrm>
        <a:graphic>
          <a:graphicData uri="http://schemas.openxmlformats.org/drawingml/2006/table">
            <a:tbl>
              <a:tblPr/>
              <a:tblGrid>
                <a:gridCol w="844296">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1055370">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Nr.</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Hypothese</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Frage</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H1</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Mehr als 20 % der Produkte mit Nutri-Score A/B sind hochverarbeitet (NOVA 4)</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FF1</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Einseitiger Binomialtest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H2</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Nutri-Score-Klasse und NOVA-Gruppe hängen nur schwach zusammen (Cramér's V &lt; 0,3)</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FF1</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χ²-Test, Cramér's V</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H3</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Mindestens 10 % der Frühstückscerealien mit A/B enthalten über 22,5 g Zucker pro 100 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FF2</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Einseitiger Binomialtest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H4</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Anzahl Zusatzstoffe und Nutri-Score-Punkte korrelieren höchstens schwach (|ρ| &lt; 0,2)</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FF2</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Spearman-Korrelation</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22,5 g/100 g = Grenze „hoher Zuckergehalt“ der UK Food Standards Agency · Schwellen vorläufig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VORGEHEN UND METHODEN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Von der Frage zur geprüften Hypothese</a:t>
            </a:r>
            <a:endParaRPr lang="en-US" sz="3200" dirty="0"/>
          </a:p>
        </p:txBody>
      </p:sp>
      <p:sp>
        <p:nvSpPr>
          <p:cNvPr id="4" name="Shape 2"/>
          <p:cNvSpPr/>
          <p:nvPr/>
        </p:nvSpPr>
        <p:spPr>
          <a:xfrm>
            <a:off x="812800" y="1879501"/>
            <a:ext cx="2032000" cy="1541661"/>
          </a:xfrm>
          <a:prstGeom prst="roundRect">
            <a:avLst>
              <a:gd name="adj" fmla="val 4943"/>
            </a:avLst>
          </a:prstGeom>
          <a:solidFill>
            <a:srgbClr val="FFFFFF"/>
          </a:solidFill>
          <a:ln/>
        </p:spPr>
        <p:txBody>
          <a:bodyPr/>
          <a:lstStyle/>
          <a:p>
            <a:endParaRPr lang="de-CH"/>
          </a:p>
        </p:txBody>
      </p:sp>
      <p:sp>
        <p:nvSpPr>
          <p:cNvPr id="5" name="Shape 3"/>
          <p:cNvSpPr/>
          <p:nvPr/>
        </p:nvSpPr>
        <p:spPr>
          <a:xfrm>
            <a:off x="812800" y="1879501"/>
            <a:ext cx="2032000" cy="1541661"/>
          </a:xfrm>
          <a:custGeom>
            <a:avLst/>
            <a:gdLst/>
            <a:ahLst/>
            <a:cxnLst/>
            <a:rect l="l" t="t" r="r" b="b"/>
            <a:pathLst>
              <a:path w="2032000" h="1541661">
                <a:moveTo>
                  <a:pt x="0" y="76200"/>
                </a:moveTo>
                <a:lnTo>
                  <a:pt x="0" y="76200"/>
                </a:lnTo>
                <a:arcTo wR="76200" hR="76200" stAng="10800000" swAng="5400000"/>
                <a:lnTo>
                  <a:pt x="1955800" y="0"/>
                </a:lnTo>
                <a:arcTo wR="76200" hR="76200" stAng="16200000" swAng="5400000"/>
                <a:lnTo>
                  <a:pt x="2032000" y="76200"/>
                </a:lnTo>
                <a:arcTo wR="76200" hR="38100" stAng="0" swAng="-5400000"/>
                <a:lnTo>
                  <a:pt x="76200" y="38100"/>
                </a:lnTo>
                <a:arcTo wR="76200" hR="38100" stAng="16200000" swAng="-5400000"/>
                <a:close/>
              </a:path>
            </a:pathLst>
          </a:custGeom>
          <a:solidFill>
            <a:srgbClr val="B4501A"/>
          </a:solidFill>
          <a:ln/>
        </p:spPr>
        <p:txBody>
          <a:bodyPr/>
          <a:lstStyle/>
          <a:p>
            <a:endParaRPr lang="de-CH"/>
          </a:p>
        </p:txBody>
      </p:sp>
      <p:sp>
        <p:nvSpPr>
          <p:cNvPr id="6" name="Text 4"/>
          <p:cNvSpPr/>
          <p:nvPr/>
        </p:nvSpPr>
        <p:spPr>
          <a:xfrm>
            <a:off x="990600" y="2095401"/>
            <a:ext cx="172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990600" y="2527201"/>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Konzept</a:t>
            </a:r>
            <a:endParaRPr lang="en-US" sz="1400" dirty="0"/>
          </a:p>
        </p:txBody>
      </p:sp>
      <p:sp>
        <p:nvSpPr>
          <p:cNvPr id="8" name="Text 6"/>
          <p:cNvSpPr/>
          <p:nvPr/>
        </p:nvSpPr>
        <p:spPr>
          <a:xfrm>
            <a:off x="990600" y="2816721"/>
            <a:ext cx="1727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Fragen und Hypothesen festlegen</a:t>
            </a:r>
            <a:endParaRPr lang="en-US" sz="1200" dirty="0"/>
          </a:p>
        </p:txBody>
      </p:sp>
      <p:sp>
        <p:nvSpPr>
          <p:cNvPr id="9" name="Shape 7"/>
          <p:cNvSpPr/>
          <p:nvPr/>
        </p:nvSpPr>
        <p:spPr>
          <a:xfrm>
            <a:off x="2946400" y="1879501"/>
            <a:ext cx="2032000" cy="1541661"/>
          </a:xfrm>
          <a:prstGeom prst="roundRect">
            <a:avLst>
              <a:gd name="adj" fmla="val 4943"/>
            </a:avLst>
          </a:prstGeom>
          <a:solidFill>
            <a:srgbClr val="FFFFFF"/>
          </a:solidFill>
          <a:ln/>
        </p:spPr>
        <p:txBody>
          <a:bodyPr/>
          <a:lstStyle/>
          <a:p>
            <a:endParaRPr lang="de-CH"/>
          </a:p>
        </p:txBody>
      </p:sp>
      <p:sp>
        <p:nvSpPr>
          <p:cNvPr id="10" name="Shape 8"/>
          <p:cNvSpPr/>
          <p:nvPr/>
        </p:nvSpPr>
        <p:spPr>
          <a:xfrm>
            <a:off x="2946400" y="1879501"/>
            <a:ext cx="2032000" cy="1541661"/>
          </a:xfrm>
          <a:custGeom>
            <a:avLst/>
            <a:gdLst/>
            <a:ahLst/>
            <a:cxnLst/>
            <a:rect l="l" t="t" r="r" b="b"/>
            <a:pathLst>
              <a:path w="2032000" h="1541661">
                <a:moveTo>
                  <a:pt x="0" y="76200"/>
                </a:moveTo>
                <a:lnTo>
                  <a:pt x="0" y="76200"/>
                </a:lnTo>
                <a:arcTo wR="76200" hR="76200" stAng="10800000" swAng="5400000"/>
                <a:lnTo>
                  <a:pt x="1955800" y="0"/>
                </a:lnTo>
                <a:arcTo wR="76200" hR="76200" stAng="16200000" swAng="5400000"/>
                <a:lnTo>
                  <a:pt x="2032000" y="76200"/>
                </a:lnTo>
                <a:arcTo wR="76200" hR="38100" stAng="0" swAng="-5400000"/>
                <a:lnTo>
                  <a:pt x="76200" y="38100"/>
                </a:lnTo>
                <a:arcTo wR="76200" hR="38100" stAng="16200000" swAng="-5400000"/>
                <a:close/>
              </a:path>
            </a:pathLst>
          </a:custGeom>
          <a:solidFill>
            <a:srgbClr val="B4501A"/>
          </a:solidFill>
          <a:ln/>
        </p:spPr>
        <p:txBody>
          <a:bodyPr/>
          <a:lstStyle/>
          <a:p>
            <a:endParaRPr lang="de-CH"/>
          </a:p>
        </p:txBody>
      </p:sp>
      <p:sp>
        <p:nvSpPr>
          <p:cNvPr id="11" name="Text 9"/>
          <p:cNvSpPr/>
          <p:nvPr/>
        </p:nvSpPr>
        <p:spPr>
          <a:xfrm>
            <a:off x="3124200" y="2095401"/>
            <a:ext cx="172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3124200" y="2527201"/>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Beschaffung</a:t>
            </a:r>
            <a:endParaRPr lang="en-US" sz="1400" dirty="0"/>
          </a:p>
        </p:txBody>
      </p:sp>
      <p:sp>
        <p:nvSpPr>
          <p:cNvPr id="13" name="Text 11"/>
          <p:cNvSpPr/>
          <p:nvPr/>
        </p:nvSpPr>
        <p:spPr>
          <a:xfrm>
            <a:off x="3124200" y="2816721"/>
            <a:ext cx="1727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Bulk-Export laden, auf Schweiz filtern</a:t>
            </a:r>
            <a:endParaRPr lang="en-US" sz="1200" dirty="0"/>
          </a:p>
        </p:txBody>
      </p:sp>
      <p:sp>
        <p:nvSpPr>
          <p:cNvPr id="14" name="Shape 12"/>
          <p:cNvSpPr/>
          <p:nvPr/>
        </p:nvSpPr>
        <p:spPr>
          <a:xfrm>
            <a:off x="5080000" y="1879501"/>
            <a:ext cx="2032000" cy="1541661"/>
          </a:xfrm>
          <a:prstGeom prst="roundRect">
            <a:avLst>
              <a:gd name="adj" fmla="val 4943"/>
            </a:avLst>
          </a:prstGeom>
          <a:solidFill>
            <a:srgbClr val="FFFFFF"/>
          </a:solidFill>
          <a:ln/>
        </p:spPr>
        <p:txBody>
          <a:bodyPr/>
          <a:lstStyle/>
          <a:p>
            <a:endParaRPr lang="de-CH"/>
          </a:p>
        </p:txBody>
      </p:sp>
      <p:sp>
        <p:nvSpPr>
          <p:cNvPr id="15" name="Shape 13"/>
          <p:cNvSpPr/>
          <p:nvPr/>
        </p:nvSpPr>
        <p:spPr>
          <a:xfrm>
            <a:off x="5080000" y="1879501"/>
            <a:ext cx="2032000" cy="1541661"/>
          </a:xfrm>
          <a:custGeom>
            <a:avLst/>
            <a:gdLst/>
            <a:ahLst/>
            <a:cxnLst/>
            <a:rect l="l" t="t" r="r" b="b"/>
            <a:pathLst>
              <a:path w="2032000" h="1541661">
                <a:moveTo>
                  <a:pt x="0" y="76200"/>
                </a:moveTo>
                <a:lnTo>
                  <a:pt x="0" y="76200"/>
                </a:lnTo>
                <a:arcTo wR="76200" hR="76200" stAng="10800000" swAng="5400000"/>
                <a:lnTo>
                  <a:pt x="1955800" y="0"/>
                </a:lnTo>
                <a:arcTo wR="76200" hR="76200" stAng="16200000" swAng="5400000"/>
                <a:lnTo>
                  <a:pt x="2032000" y="76200"/>
                </a:lnTo>
                <a:arcTo wR="76200" hR="38100" stAng="0" swAng="-5400000"/>
                <a:lnTo>
                  <a:pt x="76200" y="38100"/>
                </a:lnTo>
                <a:arcTo wR="76200" hR="38100" stAng="16200000" swAng="-5400000"/>
                <a:close/>
              </a:path>
            </a:pathLst>
          </a:custGeom>
          <a:solidFill>
            <a:srgbClr val="B4501A"/>
          </a:solidFill>
          <a:ln/>
        </p:spPr>
        <p:txBody>
          <a:bodyPr/>
          <a:lstStyle/>
          <a:p>
            <a:endParaRPr lang="de-CH"/>
          </a:p>
        </p:txBody>
      </p:sp>
      <p:sp>
        <p:nvSpPr>
          <p:cNvPr id="16" name="Text 14"/>
          <p:cNvSpPr/>
          <p:nvPr/>
        </p:nvSpPr>
        <p:spPr>
          <a:xfrm>
            <a:off x="5257800" y="2095401"/>
            <a:ext cx="172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3</a:t>
            </a:r>
            <a:endParaRPr lang="en-US" sz="2000" dirty="0"/>
          </a:p>
        </p:txBody>
      </p:sp>
      <p:sp>
        <p:nvSpPr>
          <p:cNvPr id="17" name="Text 15"/>
          <p:cNvSpPr/>
          <p:nvPr/>
        </p:nvSpPr>
        <p:spPr>
          <a:xfrm>
            <a:off x="5257800" y="2527201"/>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Speicherung</a:t>
            </a:r>
            <a:endParaRPr lang="en-US" sz="1400" dirty="0"/>
          </a:p>
        </p:txBody>
      </p:sp>
      <p:sp>
        <p:nvSpPr>
          <p:cNvPr id="18" name="Text 16"/>
          <p:cNvSpPr/>
          <p:nvPr/>
        </p:nvSpPr>
        <p:spPr>
          <a:xfrm>
            <a:off x="5257800" y="2816721"/>
            <a:ext cx="1727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Rohdaten und Stufen in Parquet und DuckDB</a:t>
            </a:r>
            <a:endParaRPr lang="en-US" sz="1200" dirty="0"/>
          </a:p>
        </p:txBody>
      </p:sp>
      <p:sp>
        <p:nvSpPr>
          <p:cNvPr id="19" name="Shape 17"/>
          <p:cNvSpPr/>
          <p:nvPr/>
        </p:nvSpPr>
        <p:spPr>
          <a:xfrm>
            <a:off x="7213600" y="1879501"/>
            <a:ext cx="2032000" cy="1541661"/>
          </a:xfrm>
          <a:prstGeom prst="roundRect">
            <a:avLst>
              <a:gd name="adj" fmla="val 4943"/>
            </a:avLst>
          </a:prstGeom>
          <a:solidFill>
            <a:srgbClr val="FFFFFF"/>
          </a:solidFill>
          <a:ln/>
        </p:spPr>
        <p:txBody>
          <a:bodyPr/>
          <a:lstStyle/>
          <a:p>
            <a:endParaRPr lang="de-CH"/>
          </a:p>
        </p:txBody>
      </p:sp>
      <p:sp>
        <p:nvSpPr>
          <p:cNvPr id="20" name="Shape 18"/>
          <p:cNvSpPr/>
          <p:nvPr/>
        </p:nvSpPr>
        <p:spPr>
          <a:xfrm>
            <a:off x="7213600" y="1879501"/>
            <a:ext cx="2032000" cy="1541661"/>
          </a:xfrm>
          <a:custGeom>
            <a:avLst/>
            <a:gdLst/>
            <a:ahLst/>
            <a:cxnLst/>
            <a:rect l="l" t="t" r="r" b="b"/>
            <a:pathLst>
              <a:path w="2032000" h="1541661">
                <a:moveTo>
                  <a:pt x="0" y="76200"/>
                </a:moveTo>
                <a:lnTo>
                  <a:pt x="0" y="76200"/>
                </a:lnTo>
                <a:arcTo wR="76200" hR="76200" stAng="10800000" swAng="5400000"/>
                <a:lnTo>
                  <a:pt x="1955800" y="0"/>
                </a:lnTo>
                <a:arcTo wR="76200" hR="76200" stAng="16200000" swAng="5400000"/>
                <a:lnTo>
                  <a:pt x="2032000" y="76200"/>
                </a:lnTo>
                <a:arcTo wR="76200" hR="38100" stAng="0" swAng="-5400000"/>
                <a:lnTo>
                  <a:pt x="76200" y="38100"/>
                </a:lnTo>
                <a:arcTo wR="76200" hR="38100" stAng="16200000" swAng="-5400000"/>
                <a:close/>
              </a:path>
            </a:pathLst>
          </a:custGeom>
          <a:solidFill>
            <a:srgbClr val="B4501A"/>
          </a:solidFill>
          <a:ln/>
        </p:spPr>
        <p:txBody>
          <a:bodyPr/>
          <a:lstStyle/>
          <a:p>
            <a:endParaRPr lang="de-CH"/>
          </a:p>
        </p:txBody>
      </p:sp>
      <p:sp>
        <p:nvSpPr>
          <p:cNvPr id="21" name="Text 19"/>
          <p:cNvSpPr/>
          <p:nvPr/>
        </p:nvSpPr>
        <p:spPr>
          <a:xfrm>
            <a:off x="7391400" y="2095401"/>
            <a:ext cx="172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4</a:t>
            </a:r>
            <a:endParaRPr lang="en-US" sz="2000" dirty="0"/>
          </a:p>
        </p:txBody>
      </p:sp>
      <p:sp>
        <p:nvSpPr>
          <p:cNvPr id="22" name="Text 20"/>
          <p:cNvSpPr/>
          <p:nvPr/>
        </p:nvSpPr>
        <p:spPr>
          <a:xfrm>
            <a:off x="7391400" y="2527201"/>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Analyse</a:t>
            </a:r>
            <a:endParaRPr lang="en-US" sz="1400" dirty="0"/>
          </a:p>
        </p:txBody>
      </p:sp>
      <p:sp>
        <p:nvSpPr>
          <p:cNvPr id="23" name="Text 21"/>
          <p:cNvSpPr/>
          <p:nvPr/>
        </p:nvSpPr>
        <p:spPr>
          <a:xfrm>
            <a:off x="7391400" y="2816721"/>
            <a:ext cx="1727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Bereinigen, explorieren, testen</a:t>
            </a:r>
            <a:endParaRPr lang="en-US" sz="1200" dirty="0"/>
          </a:p>
        </p:txBody>
      </p:sp>
      <p:sp>
        <p:nvSpPr>
          <p:cNvPr id="24" name="Shape 22"/>
          <p:cNvSpPr/>
          <p:nvPr/>
        </p:nvSpPr>
        <p:spPr>
          <a:xfrm>
            <a:off x="9347200" y="1879501"/>
            <a:ext cx="2032000" cy="1541661"/>
          </a:xfrm>
          <a:prstGeom prst="roundRect">
            <a:avLst>
              <a:gd name="adj" fmla="val 4943"/>
            </a:avLst>
          </a:prstGeom>
          <a:solidFill>
            <a:srgbClr val="ECEAE3"/>
          </a:solidFill>
          <a:ln/>
        </p:spPr>
        <p:txBody>
          <a:bodyPr/>
          <a:lstStyle/>
          <a:p>
            <a:endParaRPr lang="de-CH"/>
          </a:p>
        </p:txBody>
      </p:sp>
      <p:sp>
        <p:nvSpPr>
          <p:cNvPr id="25" name="Shape 23"/>
          <p:cNvSpPr/>
          <p:nvPr/>
        </p:nvSpPr>
        <p:spPr>
          <a:xfrm>
            <a:off x="9347200" y="1898551"/>
            <a:ext cx="2032000" cy="0"/>
          </a:xfrm>
          <a:prstGeom prst="line">
            <a:avLst/>
          </a:prstGeom>
          <a:noFill/>
          <a:ln w="38100">
            <a:solidFill>
              <a:srgbClr val="2F5F7A"/>
            </a:solidFill>
            <a:prstDash val="dash"/>
          </a:ln>
        </p:spPr>
        <p:txBody>
          <a:bodyPr/>
          <a:lstStyle/>
          <a:p>
            <a:endParaRPr lang="de-CH"/>
          </a:p>
        </p:txBody>
      </p:sp>
      <p:sp>
        <p:nvSpPr>
          <p:cNvPr id="26" name="Text 24"/>
          <p:cNvSpPr/>
          <p:nvPr/>
        </p:nvSpPr>
        <p:spPr>
          <a:xfrm>
            <a:off x="9525000" y="2095401"/>
            <a:ext cx="172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5F7A"/>
                </a:solidFill>
                <a:latin typeface="Arial" pitchFamily="34" charset="0"/>
                <a:ea typeface="Arial" pitchFamily="34" charset="-122"/>
                <a:cs typeface="Arial" pitchFamily="34" charset="-120"/>
              </a:rPr>
              <a:t>5</a:t>
            </a:r>
            <a:endParaRPr lang="en-US" sz="2000" dirty="0"/>
          </a:p>
        </p:txBody>
      </p:sp>
      <p:sp>
        <p:nvSpPr>
          <p:cNvPr id="27" name="Text 25"/>
          <p:cNvSpPr/>
          <p:nvPr/>
        </p:nvSpPr>
        <p:spPr>
          <a:xfrm>
            <a:off x="9525000" y="2527201"/>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Serving</a:t>
            </a:r>
            <a:endParaRPr lang="en-US" sz="1400" dirty="0"/>
          </a:p>
        </p:txBody>
      </p:sp>
      <p:sp>
        <p:nvSpPr>
          <p:cNvPr id="28" name="Text 26"/>
          <p:cNvSpPr/>
          <p:nvPr/>
        </p:nvSpPr>
        <p:spPr>
          <a:xfrm>
            <a:off x="9525000" y="2816721"/>
            <a:ext cx="1727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Teil 2: ML-Modell oder KI-Anwendung</a:t>
            </a:r>
            <a:endParaRPr lang="en-US" sz="1200" dirty="0"/>
          </a:p>
        </p:txBody>
      </p:sp>
      <p:sp>
        <p:nvSpPr>
          <p:cNvPr id="29" name="Text 27"/>
          <p:cNvSpPr/>
          <p:nvPr/>
        </p:nvSpPr>
        <p:spPr>
          <a:xfrm>
            <a:off x="812800" y="3725962"/>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A26"/>
                </a:solidFill>
                <a:latin typeface="Arial" pitchFamily="34" charset="0"/>
                <a:ea typeface="Arial" pitchFamily="34" charset="-122"/>
                <a:cs typeface="Arial" pitchFamily="34" charset="-120"/>
              </a:rPr>
              <a:t>Werkzeuge</a:t>
            </a:r>
            <a:endParaRPr lang="en-US" sz="1600" dirty="0"/>
          </a:p>
        </p:txBody>
      </p:sp>
      <p:sp>
        <p:nvSpPr>
          <p:cNvPr id="30" name="Text 28"/>
          <p:cNvSpPr/>
          <p:nvPr/>
        </p:nvSpPr>
        <p:spPr>
          <a:xfrm>
            <a:off x="812800" y="4071342"/>
            <a:ext cx="1558032" cy="383480"/>
          </a:xfrm>
          <a:prstGeom prst="roundRect">
            <a:avLst>
              <a:gd name="adj" fmla="val 50000"/>
            </a:avLst>
          </a:prstGeom>
          <a:solidFill>
            <a:srgbClr val="E3E9E5"/>
          </a:solidFill>
          <a:ln/>
        </p:spPr>
        <p:txBody>
          <a:bodyPr wrap="none" lIns="0" tIns="0" rIns="0" bIns="0" rtlCol="0" anchor="ctr">
            <a:normAutofit/>
          </a:bodyPr>
          <a:lstStyle/>
          <a:p>
            <a:pPr marL="0" indent="0" algn="ctr">
              <a:lnSpc>
                <a:spcPts val="1820"/>
              </a:lnSpc>
              <a:buNone/>
            </a:pPr>
            <a:r>
              <a:rPr lang="en-US" sz="1300" dirty="0">
                <a:solidFill>
                  <a:srgbClr val="1E2A26"/>
                </a:solidFill>
                <a:latin typeface="Arial" pitchFamily="34" charset="0"/>
                <a:ea typeface="Arial" pitchFamily="34" charset="-122"/>
                <a:cs typeface="Arial" pitchFamily="34" charset="-120"/>
              </a:rPr>
              <a:t>Python · pandas</a:t>
            </a:r>
            <a:endParaRPr lang="en-US" sz="1300" dirty="0"/>
          </a:p>
        </p:txBody>
      </p:sp>
      <p:sp>
        <p:nvSpPr>
          <p:cNvPr id="31" name="Text 29"/>
          <p:cNvSpPr/>
          <p:nvPr/>
        </p:nvSpPr>
        <p:spPr>
          <a:xfrm>
            <a:off x="2472432" y="4071342"/>
            <a:ext cx="1438275" cy="383480"/>
          </a:xfrm>
          <a:prstGeom prst="roundRect">
            <a:avLst>
              <a:gd name="adj" fmla="val 50000"/>
            </a:avLst>
          </a:prstGeom>
          <a:solidFill>
            <a:srgbClr val="E3E9E5"/>
          </a:solidFill>
          <a:ln/>
        </p:spPr>
        <p:txBody>
          <a:bodyPr wrap="none" lIns="0" tIns="0" rIns="0" bIns="0" rtlCol="0" anchor="ctr">
            <a:normAutofit/>
          </a:bodyPr>
          <a:lstStyle/>
          <a:p>
            <a:pPr marL="0" indent="0" algn="ctr">
              <a:lnSpc>
                <a:spcPts val="1820"/>
              </a:lnSpc>
              <a:buNone/>
            </a:pPr>
            <a:r>
              <a:rPr lang="en-US" sz="1300" dirty="0">
                <a:solidFill>
                  <a:srgbClr val="1E2A26"/>
                </a:solidFill>
                <a:latin typeface="Arial" pitchFamily="34" charset="0"/>
                <a:ea typeface="Arial" pitchFamily="34" charset="-122"/>
                <a:cs typeface="Arial" pitchFamily="34" charset="-120"/>
              </a:rPr>
              <a:t>DuckDB · SQL</a:t>
            </a:r>
            <a:endParaRPr lang="en-US" sz="1300" dirty="0"/>
          </a:p>
        </p:txBody>
      </p:sp>
      <p:sp>
        <p:nvSpPr>
          <p:cNvPr id="32" name="Text 30"/>
          <p:cNvSpPr/>
          <p:nvPr/>
        </p:nvSpPr>
        <p:spPr>
          <a:xfrm>
            <a:off x="4012307" y="4071342"/>
            <a:ext cx="1318816" cy="383480"/>
          </a:xfrm>
          <a:prstGeom prst="roundRect">
            <a:avLst>
              <a:gd name="adj" fmla="val 50000"/>
            </a:avLst>
          </a:prstGeom>
          <a:solidFill>
            <a:srgbClr val="E3E9E5"/>
          </a:solidFill>
          <a:ln/>
        </p:spPr>
        <p:txBody>
          <a:bodyPr wrap="none" lIns="0" tIns="0" rIns="0" bIns="0" rtlCol="0" anchor="ctr">
            <a:normAutofit/>
          </a:bodyPr>
          <a:lstStyle/>
          <a:p>
            <a:pPr marL="0" indent="0" algn="ctr">
              <a:lnSpc>
                <a:spcPts val="1820"/>
              </a:lnSpc>
              <a:buNone/>
            </a:pPr>
            <a:r>
              <a:rPr lang="en-US" sz="1300" dirty="0">
                <a:solidFill>
                  <a:srgbClr val="1E2A26"/>
                </a:solidFill>
                <a:latin typeface="Arial" pitchFamily="34" charset="0"/>
                <a:ea typeface="Arial" pitchFamily="34" charset="-122"/>
                <a:cs typeface="Arial" pitchFamily="34" charset="-120"/>
              </a:rPr>
              <a:t>SciPy (Tests)</a:t>
            </a:r>
            <a:endParaRPr lang="en-US" sz="1300" dirty="0"/>
          </a:p>
        </p:txBody>
      </p:sp>
      <p:sp>
        <p:nvSpPr>
          <p:cNvPr id="33" name="Text 31"/>
          <p:cNvSpPr/>
          <p:nvPr/>
        </p:nvSpPr>
        <p:spPr>
          <a:xfrm>
            <a:off x="5432723" y="4071342"/>
            <a:ext cx="1732260" cy="383480"/>
          </a:xfrm>
          <a:prstGeom prst="roundRect">
            <a:avLst>
              <a:gd name="adj" fmla="val 50000"/>
            </a:avLst>
          </a:prstGeom>
          <a:solidFill>
            <a:srgbClr val="E3E9E5"/>
          </a:solidFill>
          <a:ln/>
        </p:spPr>
        <p:txBody>
          <a:bodyPr wrap="none" lIns="0" tIns="0" rIns="0" bIns="0" rtlCol="0" anchor="ctr">
            <a:normAutofit/>
          </a:bodyPr>
          <a:lstStyle/>
          <a:p>
            <a:pPr marL="0" indent="0" algn="ctr">
              <a:lnSpc>
                <a:spcPts val="1820"/>
              </a:lnSpc>
              <a:buNone/>
            </a:pPr>
            <a:r>
              <a:rPr lang="en-US" sz="1300" dirty="0">
                <a:solidFill>
                  <a:srgbClr val="1E2A26"/>
                </a:solidFill>
                <a:latin typeface="Arial" pitchFamily="34" charset="0"/>
                <a:ea typeface="Arial" pitchFamily="34" charset="-122"/>
                <a:cs typeface="Arial" pitchFamily="34" charset="-120"/>
              </a:rPr>
              <a:t>Jupyter Notebooks</a:t>
            </a:r>
            <a:endParaRPr lang="en-US" sz="1300" dirty="0"/>
          </a:p>
        </p:txBody>
      </p:sp>
      <p:sp>
        <p:nvSpPr>
          <p:cNvPr id="34" name="Text 32"/>
          <p:cNvSpPr/>
          <p:nvPr/>
        </p:nvSpPr>
        <p:spPr>
          <a:xfrm>
            <a:off x="7266583" y="4071342"/>
            <a:ext cx="2172593" cy="383480"/>
          </a:xfrm>
          <a:prstGeom prst="roundRect">
            <a:avLst>
              <a:gd name="adj" fmla="val 50000"/>
            </a:avLst>
          </a:prstGeom>
          <a:solidFill>
            <a:srgbClr val="E3E9E5"/>
          </a:solidFill>
          <a:ln/>
        </p:spPr>
        <p:txBody>
          <a:bodyPr wrap="none" lIns="0" tIns="0" rIns="0" bIns="0" rtlCol="0" anchor="ctr">
            <a:normAutofit/>
          </a:bodyPr>
          <a:lstStyle/>
          <a:p>
            <a:pPr marL="0" indent="0" algn="ctr">
              <a:lnSpc>
                <a:spcPts val="1820"/>
              </a:lnSpc>
              <a:buNone/>
            </a:pPr>
            <a:r>
              <a:rPr lang="en-US" sz="1300" dirty="0">
                <a:solidFill>
                  <a:srgbClr val="1E2A26"/>
                </a:solidFill>
                <a:latin typeface="Arial" pitchFamily="34" charset="0"/>
                <a:ea typeface="Arial" pitchFamily="34" charset="-122"/>
                <a:cs typeface="Arial" pitchFamily="34" charset="-120"/>
              </a:rPr>
              <a:t>GitHub (Abgabe-Branch)</a:t>
            </a:r>
            <a:endParaRPr lang="en-US" sz="1300" dirty="0"/>
          </a:p>
        </p:txBody>
      </p:sp>
      <p:sp>
        <p:nvSpPr>
          <p:cNvPr id="35" name="Text 3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Schritte 1–4: Teil 1 · Schritt 5: Teil 2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Arial" pitchFamily="34" charset="0"/>
                <a:ea typeface="Arial" pitchFamily="34" charset="-122"/>
                <a:cs typeface="Arial" pitchFamily="34" charset="-120"/>
              </a:rPr>
              <a:t>ENTWURF DATA-ENGINEERING-LEBENSZYKLUS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Fünf Phasen, getragen von sechs Unterströmungen</a:t>
            </a:r>
            <a:endParaRPr lang="en-US" sz="3200" dirty="0"/>
          </a:p>
        </p:txBody>
      </p:sp>
      <p:sp>
        <p:nvSpPr>
          <p:cNvPr id="4" name="Shape 2"/>
          <p:cNvSpPr/>
          <p:nvPr/>
        </p:nvSpPr>
        <p:spPr>
          <a:xfrm>
            <a:off x="819150" y="1784251"/>
            <a:ext cx="1775420" cy="1183382"/>
          </a:xfrm>
          <a:prstGeom prst="roundRect">
            <a:avLst>
              <a:gd name="adj" fmla="val 5903"/>
            </a:avLst>
          </a:prstGeom>
          <a:solidFill>
            <a:srgbClr val="FFFFFF"/>
          </a:solidFill>
          <a:ln w="12700">
            <a:solidFill>
              <a:srgbClr val="1E2A26"/>
            </a:solidFill>
            <a:prstDash val="solid"/>
          </a:ln>
        </p:spPr>
        <p:txBody>
          <a:bodyPr/>
          <a:lstStyle/>
          <a:p>
            <a:endParaRPr lang="de-CH"/>
          </a:p>
        </p:txBody>
      </p:sp>
      <p:sp>
        <p:nvSpPr>
          <p:cNvPr id="5" name="Text 3"/>
          <p:cNvSpPr/>
          <p:nvPr/>
        </p:nvSpPr>
        <p:spPr>
          <a:xfrm>
            <a:off x="977900" y="1943001"/>
            <a:ext cx="15087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2A26"/>
                </a:solidFill>
                <a:latin typeface="Arial" pitchFamily="34" charset="0"/>
                <a:ea typeface="Arial" pitchFamily="34" charset="-122"/>
                <a:cs typeface="Arial" pitchFamily="34" charset="-120"/>
              </a:rPr>
              <a:t>Generation</a:t>
            </a:r>
            <a:endParaRPr lang="en-US" sz="1300" dirty="0"/>
          </a:p>
        </p:txBody>
      </p:sp>
      <p:sp>
        <p:nvSpPr>
          <p:cNvPr id="6" name="Text 4"/>
          <p:cNvSpPr/>
          <p:nvPr/>
        </p:nvSpPr>
        <p:spPr>
          <a:xfrm>
            <a:off x="977900" y="2191841"/>
            <a:ext cx="1508720"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45"/>
                </a:solidFill>
                <a:latin typeface="Arial" pitchFamily="34" charset="0"/>
                <a:ea typeface="Arial" pitchFamily="34" charset="-122"/>
                <a:cs typeface="Arial" pitchFamily="34" charset="-120"/>
              </a:rPr>
              <a:t>Hersteller und Freiwillige erfassen Produkte</a:t>
            </a:r>
            <a:endParaRPr lang="en-US" sz="1200" dirty="0"/>
          </a:p>
        </p:txBody>
      </p:sp>
      <p:sp>
        <p:nvSpPr>
          <p:cNvPr id="7" name="Text 5"/>
          <p:cNvSpPr/>
          <p:nvPr/>
        </p:nvSpPr>
        <p:spPr>
          <a:xfrm>
            <a:off x="2677120" y="2198092"/>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3013670" y="1784251"/>
            <a:ext cx="1775520" cy="1183382"/>
          </a:xfrm>
          <a:prstGeom prst="roundRect">
            <a:avLst>
              <a:gd name="adj" fmla="val 5903"/>
            </a:avLst>
          </a:prstGeom>
          <a:solidFill>
            <a:srgbClr val="FFFFFF"/>
          </a:solidFill>
          <a:ln w="12700">
            <a:solidFill>
              <a:srgbClr val="1E2A26"/>
            </a:solidFill>
            <a:prstDash val="solid"/>
          </a:ln>
        </p:spPr>
        <p:txBody>
          <a:bodyPr/>
          <a:lstStyle/>
          <a:p>
            <a:endParaRPr lang="de-CH"/>
          </a:p>
        </p:txBody>
      </p:sp>
      <p:sp>
        <p:nvSpPr>
          <p:cNvPr id="9" name="Text 7"/>
          <p:cNvSpPr/>
          <p:nvPr/>
        </p:nvSpPr>
        <p:spPr>
          <a:xfrm>
            <a:off x="3172420" y="1943001"/>
            <a:ext cx="15088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2A26"/>
                </a:solidFill>
                <a:latin typeface="Arial" pitchFamily="34" charset="0"/>
                <a:ea typeface="Arial" pitchFamily="34" charset="-122"/>
                <a:cs typeface="Arial" pitchFamily="34" charset="-120"/>
              </a:rPr>
              <a:t>Ingestion</a:t>
            </a:r>
            <a:endParaRPr lang="en-US" sz="1300" dirty="0"/>
          </a:p>
        </p:txBody>
      </p:sp>
      <p:sp>
        <p:nvSpPr>
          <p:cNvPr id="10" name="Text 8"/>
          <p:cNvSpPr/>
          <p:nvPr/>
        </p:nvSpPr>
        <p:spPr>
          <a:xfrm>
            <a:off x="3172420" y="2191841"/>
            <a:ext cx="15088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45"/>
                </a:solidFill>
                <a:latin typeface="Arial" pitchFamily="34" charset="0"/>
                <a:ea typeface="Arial" pitchFamily="34" charset="-122"/>
                <a:cs typeface="Arial" pitchFamily="34" charset="-120"/>
              </a:rPr>
              <a:t>Nächtlicher Bulk-Export, Batch</a:t>
            </a:r>
            <a:endParaRPr lang="en-US" sz="1200" dirty="0"/>
          </a:p>
        </p:txBody>
      </p:sp>
      <p:sp>
        <p:nvSpPr>
          <p:cNvPr id="11" name="Text 9"/>
          <p:cNvSpPr/>
          <p:nvPr/>
        </p:nvSpPr>
        <p:spPr>
          <a:xfrm>
            <a:off x="4871740" y="2198092"/>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208290" y="1784251"/>
            <a:ext cx="1775420" cy="1183382"/>
          </a:xfrm>
          <a:prstGeom prst="roundRect">
            <a:avLst>
              <a:gd name="adj" fmla="val 5903"/>
            </a:avLst>
          </a:prstGeom>
          <a:solidFill>
            <a:srgbClr val="FFFFFF"/>
          </a:solidFill>
          <a:ln w="12700">
            <a:solidFill>
              <a:srgbClr val="1E2A26"/>
            </a:solidFill>
            <a:prstDash val="solid"/>
          </a:ln>
        </p:spPr>
        <p:txBody>
          <a:bodyPr/>
          <a:lstStyle/>
          <a:p>
            <a:endParaRPr lang="de-CH"/>
          </a:p>
        </p:txBody>
      </p:sp>
      <p:sp>
        <p:nvSpPr>
          <p:cNvPr id="13" name="Text 11"/>
          <p:cNvSpPr/>
          <p:nvPr/>
        </p:nvSpPr>
        <p:spPr>
          <a:xfrm>
            <a:off x="5367040" y="1943001"/>
            <a:ext cx="15087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2A26"/>
                </a:solidFill>
                <a:latin typeface="Arial" pitchFamily="34" charset="0"/>
                <a:ea typeface="Arial" pitchFamily="34" charset="-122"/>
                <a:cs typeface="Arial" pitchFamily="34" charset="-120"/>
              </a:rPr>
              <a:t>Storage</a:t>
            </a:r>
            <a:endParaRPr lang="en-US" sz="1300" dirty="0"/>
          </a:p>
        </p:txBody>
      </p:sp>
      <p:sp>
        <p:nvSpPr>
          <p:cNvPr id="14" name="Text 12"/>
          <p:cNvSpPr/>
          <p:nvPr/>
        </p:nvSpPr>
        <p:spPr>
          <a:xfrm>
            <a:off x="5367040" y="2191841"/>
            <a:ext cx="15087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45"/>
                </a:solidFill>
                <a:latin typeface="Arial" pitchFamily="34" charset="0"/>
                <a:ea typeface="Arial" pitchFamily="34" charset="-122"/>
                <a:cs typeface="Arial" pitchFamily="34" charset="-120"/>
              </a:rPr>
              <a:t>Parquet und DuckDB in drei Stufen</a:t>
            </a:r>
            <a:endParaRPr lang="en-US" sz="1200" dirty="0"/>
          </a:p>
        </p:txBody>
      </p:sp>
      <p:sp>
        <p:nvSpPr>
          <p:cNvPr id="15" name="Text 13"/>
          <p:cNvSpPr/>
          <p:nvPr/>
        </p:nvSpPr>
        <p:spPr>
          <a:xfrm>
            <a:off x="7066260" y="2198092"/>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7402810" y="1784251"/>
            <a:ext cx="1775520" cy="1183382"/>
          </a:xfrm>
          <a:prstGeom prst="roundRect">
            <a:avLst>
              <a:gd name="adj" fmla="val 5903"/>
            </a:avLst>
          </a:prstGeom>
          <a:solidFill>
            <a:srgbClr val="FFFFFF"/>
          </a:solidFill>
          <a:ln w="12700">
            <a:solidFill>
              <a:srgbClr val="1E2A26"/>
            </a:solidFill>
            <a:prstDash val="solid"/>
          </a:ln>
        </p:spPr>
        <p:txBody>
          <a:bodyPr/>
          <a:lstStyle/>
          <a:p>
            <a:endParaRPr lang="de-CH"/>
          </a:p>
        </p:txBody>
      </p:sp>
      <p:sp>
        <p:nvSpPr>
          <p:cNvPr id="17" name="Text 15"/>
          <p:cNvSpPr/>
          <p:nvPr/>
        </p:nvSpPr>
        <p:spPr>
          <a:xfrm>
            <a:off x="7561560" y="1943001"/>
            <a:ext cx="15088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2A26"/>
                </a:solidFill>
                <a:latin typeface="Arial" pitchFamily="34" charset="0"/>
                <a:ea typeface="Arial" pitchFamily="34" charset="-122"/>
                <a:cs typeface="Arial" pitchFamily="34" charset="-120"/>
              </a:rPr>
              <a:t>Transformation</a:t>
            </a:r>
            <a:endParaRPr lang="en-US" sz="1300" dirty="0"/>
          </a:p>
        </p:txBody>
      </p:sp>
      <p:sp>
        <p:nvSpPr>
          <p:cNvPr id="18" name="Text 16"/>
          <p:cNvSpPr/>
          <p:nvPr/>
        </p:nvSpPr>
        <p:spPr>
          <a:xfrm>
            <a:off x="7561560" y="2191841"/>
            <a:ext cx="1508820"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45"/>
                </a:solidFill>
                <a:latin typeface="Arial" pitchFamily="34" charset="0"/>
                <a:ea typeface="Arial" pitchFamily="34" charset="-122"/>
                <a:cs typeface="Arial" pitchFamily="34" charset="-120"/>
              </a:rPr>
              <a:t>Bereinigen, Merkmale bilden, testen</a:t>
            </a:r>
            <a:endParaRPr lang="en-US" sz="1200" dirty="0"/>
          </a:p>
        </p:txBody>
      </p:sp>
      <p:sp>
        <p:nvSpPr>
          <p:cNvPr id="19" name="Text 17"/>
          <p:cNvSpPr/>
          <p:nvPr/>
        </p:nvSpPr>
        <p:spPr>
          <a:xfrm>
            <a:off x="9260880" y="2198092"/>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A"/>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9597430" y="1784251"/>
            <a:ext cx="1775420" cy="1183382"/>
          </a:xfrm>
          <a:prstGeom prst="roundRect">
            <a:avLst>
              <a:gd name="adj" fmla="val 5903"/>
            </a:avLst>
          </a:prstGeom>
          <a:solidFill>
            <a:srgbClr val="ECEAE3"/>
          </a:solidFill>
          <a:ln w="12700">
            <a:solidFill>
              <a:srgbClr val="2F5F7A"/>
            </a:solidFill>
            <a:prstDash val="dash"/>
          </a:ln>
        </p:spPr>
        <p:txBody>
          <a:bodyPr/>
          <a:lstStyle/>
          <a:p>
            <a:endParaRPr lang="de-CH"/>
          </a:p>
        </p:txBody>
      </p:sp>
      <p:sp>
        <p:nvSpPr>
          <p:cNvPr id="21" name="Text 19"/>
          <p:cNvSpPr/>
          <p:nvPr/>
        </p:nvSpPr>
        <p:spPr>
          <a:xfrm>
            <a:off x="9756180" y="1943001"/>
            <a:ext cx="15087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2A26"/>
                </a:solidFill>
                <a:latin typeface="Arial" pitchFamily="34" charset="0"/>
                <a:ea typeface="Arial" pitchFamily="34" charset="-122"/>
                <a:cs typeface="Arial" pitchFamily="34" charset="-120"/>
              </a:rPr>
              <a:t>Serving</a:t>
            </a:r>
            <a:endParaRPr lang="en-US" sz="1300" dirty="0"/>
          </a:p>
        </p:txBody>
      </p:sp>
      <p:sp>
        <p:nvSpPr>
          <p:cNvPr id="22" name="Text 20"/>
          <p:cNvSpPr/>
          <p:nvPr/>
        </p:nvSpPr>
        <p:spPr>
          <a:xfrm>
            <a:off x="9756180" y="2191841"/>
            <a:ext cx="15087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45"/>
                </a:solidFill>
                <a:latin typeface="Arial" pitchFamily="34" charset="0"/>
                <a:ea typeface="Arial" pitchFamily="34" charset="-122"/>
                <a:cs typeface="Arial" pitchFamily="34" charset="-120"/>
              </a:rPr>
              <a:t>Teil 2: Modell oder KI-App</a:t>
            </a:r>
            <a:endParaRPr lang="en-US" sz="1200" dirty="0"/>
          </a:p>
        </p:txBody>
      </p:sp>
      <p:sp>
        <p:nvSpPr>
          <p:cNvPr id="23" name="Shape 21"/>
          <p:cNvSpPr/>
          <p:nvPr/>
        </p:nvSpPr>
        <p:spPr>
          <a:xfrm>
            <a:off x="812800" y="3177183"/>
            <a:ext cx="10566400" cy="1493242"/>
          </a:xfrm>
          <a:prstGeom prst="roundRect">
            <a:avLst>
              <a:gd name="adj" fmla="val 6804"/>
            </a:avLst>
          </a:prstGeom>
          <a:solidFill>
            <a:srgbClr val="E3E9E5"/>
          </a:solidFill>
          <a:ln/>
        </p:spPr>
        <p:txBody>
          <a:bodyPr/>
          <a:lstStyle/>
          <a:p>
            <a:endParaRPr lang="de-CH"/>
          </a:p>
        </p:txBody>
      </p:sp>
      <p:sp>
        <p:nvSpPr>
          <p:cNvPr id="24" name="Text 22"/>
          <p:cNvSpPr/>
          <p:nvPr/>
        </p:nvSpPr>
        <p:spPr>
          <a:xfrm>
            <a:off x="1016000" y="3354983"/>
            <a:ext cx="104648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Unterströmungen</a:t>
            </a:r>
            <a:endParaRPr lang="en-US" sz="1400" dirty="0"/>
          </a:p>
        </p:txBody>
      </p:sp>
      <p:sp>
        <p:nvSpPr>
          <p:cNvPr id="25" name="Text 23"/>
          <p:cNvSpPr/>
          <p:nvPr/>
        </p:nvSpPr>
        <p:spPr>
          <a:xfrm>
            <a:off x="1016000" y="3669903"/>
            <a:ext cx="34882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Security:</a:t>
            </a:r>
            <a:r>
              <a:rPr lang="en-US" sz="1200" dirty="0">
                <a:solidFill>
                  <a:srgbClr val="1E2A26"/>
                </a:solidFill>
                <a:latin typeface="Arial" pitchFamily="34" charset="0"/>
                <a:ea typeface="Arial" pitchFamily="34" charset="-122"/>
                <a:cs typeface="Arial" pitchFamily="34" charset="-120"/>
              </a:rPr>
              <a:t> keine Personendaten, Lizenz (ODbL) beachten</a:t>
            </a:r>
            <a:endParaRPr lang="en-US" sz="1200" dirty="0"/>
          </a:p>
        </p:txBody>
      </p:sp>
      <p:sp>
        <p:nvSpPr>
          <p:cNvPr id="26" name="Text 24"/>
          <p:cNvSpPr/>
          <p:nvPr/>
        </p:nvSpPr>
        <p:spPr>
          <a:xfrm>
            <a:off x="4402634" y="3669903"/>
            <a:ext cx="34882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Data Management:</a:t>
            </a:r>
            <a:r>
              <a:rPr lang="en-US" sz="1200" dirty="0">
                <a:solidFill>
                  <a:srgbClr val="1E2A26"/>
                </a:solidFill>
                <a:latin typeface="Arial" pitchFamily="34" charset="0"/>
                <a:ea typeface="Arial" pitchFamily="34" charset="-122"/>
                <a:cs typeface="Arial" pitchFamily="34" charset="-120"/>
              </a:rPr>
              <a:t> Data Dictionary, Snapshot-Datum</a:t>
            </a:r>
            <a:endParaRPr lang="en-US" sz="1200" dirty="0"/>
          </a:p>
        </p:txBody>
      </p:sp>
      <p:sp>
        <p:nvSpPr>
          <p:cNvPr id="27" name="Text 25"/>
          <p:cNvSpPr/>
          <p:nvPr/>
        </p:nvSpPr>
        <p:spPr>
          <a:xfrm>
            <a:off x="7789267" y="3669903"/>
            <a:ext cx="34882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DataOps:</a:t>
            </a:r>
            <a:r>
              <a:rPr lang="en-US" sz="1200" dirty="0">
                <a:solidFill>
                  <a:srgbClr val="1E2A26"/>
                </a:solidFill>
                <a:latin typeface="Arial" pitchFamily="34" charset="0"/>
                <a:ea typeface="Arial" pitchFamily="34" charset="-122"/>
                <a:cs typeface="Arial" pitchFamily="34" charset="-120"/>
              </a:rPr>
              <a:t> Qualitätschecks mit Protokoll</a:t>
            </a:r>
            <a:endParaRPr lang="en-US" sz="1200" dirty="0"/>
          </a:p>
        </p:txBody>
      </p:sp>
      <p:sp>
        <p:nvSpPr>
          <p:cNvPr id="28" name="Text 26"/>
          <p:cNvSpPr/>
          <p:nvPr/>
        </p:nvSpPr>
        <p:spPr>
          <a:xfrm>
            <a:off x="1016000" y="4081264"/>
            <a:ext cx="34882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Architektur:</a:t>
            </a:r>
            <a:r>
              <a:rPr lang="en-US" sz="1200" dirty="0">
                <a:solidFill>
                  <a:srgbClr val="1E2A26"/>
                </a:solidFill>
                <a:latin typeface="Arial" pitchFamily="34" charset="0"/>
                <a:ea typeface="Arial" pitchFamily="34" charset="-122"/>
                <a:cs typeface="Arial" pitchFamily="34" charset="-120"/>
              </a:rPr>
              <a:t> lokal, schlank, umkehrbare Entscheide</a:t>
            </a:r>
            <a:endParaRPr lang="en-US" sz="1200" dirty="0"/>
          </a:p>
        </p:txBody>
      </p:sp>
      <p:sp>
        <p:nvSpPr>
          <p:cNvPr id="29" name="Text 27"/>
          <p:cNvSpPr/>
          <p:nvPr/>
        </p:nvSpPr>
        <p:spPr>
          <a:xfrm>
            <a:off x="4402634" y="4081264"/>
            <a:ext cx="34882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Orchestrierung:</a:t>
            </a:r>
            <a:r>
              <a:rPr lang="en-US" sz="1200" dirty="0">
                <a:solidFill>
                  <a:srgbClr val="1E2A26"/>
                </a:solidFill>
                <a:latin typeface="Arial" pitchFamily="34" charset="0"/>
                <a:ea typeface="Arial" pitchFamily="34" charset="-122"/>
                <a:cs typeface="Arial" pitchFamily="34" charset="-120"/>
              </a:rPr>
              <a:t> ein Skript pro Schritt, feste Reihenfolge</a:t>
            </a:r>
            <a:endParaRPr lang="en-US" sz="1200" dirty="0"/>
          </a:p>
        </p:txBody>
      </p:sp>
      <p:sp>
        <p:nvSpPr>
          <p:cNvPr id="30" name="Text 28"/>
          <p:cNvSpPr/>
          <p:nvPr/>
        </p:nvSpPr>
        <p:spPr>
          <a:xfrm>
            <a:off x="7789267" y="4081264"/>
            <a:ext cx="3589933"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26"/>
                </a:solidFill>
                <a:latin typeface="Arial" pitchFamily="34" charset="0"/>
                <a:ea typeface="Arial" pitchFamily="34" charset="-122"/>
                <a:cs typeface="Arial" pitchFamily="34" charset="-120"/>
              </a:rPr>
              <a:t>Software Engineering:</a:t>
            </a:r>
            <a:r>
              <a:rPr lang="en-US" sz="1200" dirty="0">
                <a:solidFill>
                  <a:srgbClr val="1E2A26"/>
                </a:solidFill>
                <a:latin typeface="Arial" pitchFamily="34" charset="0"/>
                <a:ea typeface="Arial" pitchFamily="34" charset="-122"/>
                <a:cs typeface="Arial" pitchFamily="34" charset="-120"/>
              </a:rPr>
              <a:t> Git, kommentierter Code</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Modell nach Reis &amp; Housley (2022)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INGESTION · DATENQUELLEN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Eine Hauptquelle, zwei Referenzen</a:t>
            </a:r>
            <a:endParaRPr lang="en-US" sz="3200" dirty="0"/>
          </a:p>
        </p:txBody>
      </p:sp>
      <p:sp>
        <p:nvSpPr>
          <p:cNvPr id="4" name="Shape 2"/>
          <p:cNvSpPr/>
          <p:nvPr/>
        </p:nvSpPr>
        <p:spPr>
          <a:xfrm>
            <a:off x="812800" y="1828701"/>
            <a:ext cx="7518400" cy="2143026"/>
          </a:xfrm>
          <a:prstGeom prst="roundRect">
            <a:avLst>
              <a:gd name="adj" fmla="val 3556"/>
            </a:avLst>
          </a:prstGeom>
          <a:solidFill>
            <a:srgbClr val="FFFFFF"/>
          </a:solidFill>
          <a:ln/>
        </p:spPr>
        <p:txBody>
          <a:bodyPr/>
          <a:lstStyle/>
          <a:p>
            <a:endParaRPr lang="de-CH"/>
          </a:p>
        </p:txBody>
      </p:sp>
      <p:sp>
        <p:nvSpPr>
          <p:cNvPr id="5" name="Shape 3"/>
          <p:cNvSpPr/>
          <p:nvPr/>
        </p:nvSpPr>
        <p:spPr>
          <a:xfrm>
            <a:off x="812800" y="1828701"/>
            <a:ext cx="7518400" cy="2143026"/>
          </a:xfrm>
          <a:custGeom>
            <a:avLst/>
            <a:gdLst/>
            <a:ahLst/>
            <a:cxnLst/>
            <a:rect l="l" t="t" r="r" b="b"/>
            <a:pathLst>
              <a:path w="7518400" h="2143026">
                <a:moveTo>
                  <a:pt x="76200" y="2143026"/>
                </a:moveTo>
                <a:lnTo>
                  <a:pt x="76200" y="2143026"/>
                </a:lnTo>
                <a:arcTo wR="76200" hR="76200" stAng="5400000" swAng="5400000"/>
                <a:lnTo>
                  <a:pt x="0" y="76200"/>
                </a:lnTo>
                <a:arcTo wR="76200" hR="76200" stAng="10800000" swAng="5400000"/>
                <a:lnTo>
                  <a:pt x="7442200" y="0"/>
                </a:lnTo>
                <a:arcTo wR="76200" hR="76200" stAng="16200000" swAng="5400000"/>
                <a:lnTo>
                  <a:pt x="7518400" y="76200"/>
                </a:lnTo>
                <a:arcTo wR="76200" hR="63500" stAng="0" swAng="-5400000"/>
                <a:lnTo>
                  <a:pt x="76200" y="12700"/>
                </a:lnTo>
                <a:arcTo wR="63500" hR="63500" stAng="16200000" swAng="-5400000"/>
                <a:lnTo>
                  <a:pt x="12700" y="2066826"/>
                </a:lnTo>
                <a:arcTo wR="63500" hR="76200" stAng="10800000" swAng="-5400000"/>
                <a:close/>
              </a:path>
            </a:pathLst>
          </a:custGeom>
          <a:solidFill>
            <a:srgbClr val="141413">
              <a:alpha val="22000"/>
            </a:srgbClr>
          </a:solidFill>
          <a:ln/>
        </p:spPr>
        <p:txBody>
          <a:bodyPr/>
          <a:lstStyle/>
          <a:p>
            <a:endParaRPr lang="de-CH"/>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7505700" cy="2130327"/>
        </p:xfrm>
        <a:graphic>
          <a:graphicData uri="http://schemas.openxmlformats.org/drawingml/2006/table">
            <a:tbl>
              <a:tblPr/>
              <a:tblGrid>
                <a:gridCol w="2101596">
                  <a:extLst>
                    <a:ext uri="{9D8B030D-6E8A-4147-A177-3AD203B41FA5}">
                      <a16:colId xmlns:a16="http://schemas.microsoft.com/office/drawing/2014/main" val="20000"/>
                    </a:ext>
                  </a:extLst>
                </a:gridCol>
                <a:gridCol w="3152394">
                  <a:extLst>
                    <a:ext uri="{9D8B030D-6E8A-4147-A177-3AD203B41FA5}">
                      <a16:colId xmlns:a16="http://schemas.microsoft.com/office/drawing/2014/main" val="20001"/>
                    </a:ext>
                  </a:extLst>
                </a:gridCol>
                <a:gridCol w="225171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Quelle</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Inhalt</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Rolle</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Open Food Facts</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Nährwerte, Nutri-Score, NOVA, Zusatzstoffe, Kategorien</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Hauptquelle</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UK Food Standards Agency</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Ampel-Grenzwerte für Zucker, Fett, Salz</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Referenz für H3</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BLV</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Liste der Nutri-Score-Marken in der Schweiz</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Kontext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585200" y="1828701"/>
            <a:ext cx="2794000" cy="1879402"/>
          </a:xfrm>
          <a:prstGeom prst="roundRect">
            <a:avLst>
              <a:gd name="adj" fmla="val 5406"/>
            </a:avLst>
          </a:prstGeom>
          <a:solidFill>
            <a:srgbClr val="1E2A26"/>
          </a:solidFill>
          <a:ln/>
        </p:spPr>
        <p:txBody>
          <a:bodyPr/>
          <a:lstStyle/>
          <a:p>
            <a:endParaRPr lang="de-CH"/>
          </a:p>
        </p:txBody>
      </p:sp>
      <p:sp>
        <p:nvSpPr>
          <p:cNvPr id="8" name="Text 5"/>
          <p:cNvSpPr/>
          <p:nvPr/>
        </p:nvSpPr>
        <p:spPr>
          <a:xfrm>
            <a:off x="8839200" y="2082701"/>
            <a:ext cx="2354580"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0A56B"/>
                </a:solidFill>
                <a:latin typeface="Arial" pitchFamily="34" charset="0"/>
                <a:ea typeface="Arial" pitchFamily="34" charset="-122"/>
                <a:cs typeface="Arial" pitchFamily="34" charset="-120"/>
              </a:rPr>
              <a:t>105'693</a:t>
            </a:r>
            <a:endParaRPr lang="en-US" sz="4000" dirty="0"/>
          </a:p>
        </p:txBody>
      </p:sp>
      <p:sp>
        <p:nvSpPr>
          <p:cNvPr id="9" name="Text 6"/>
          <p:cNvSpPr/>
          <p:nvPr/>
        </p:nvSpPr>
        <p:spPr>
          <a:xfrm>
            <a:off x="8839200" y="2666901"/>
            <a:ext cx="235458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0E8"/>
                </a:solidFill>
                <a:latin typeface="Arial" pitchFamily="34" charset="0"/>
                <a:ea typeface="Arial" pitchFamily="34" charset="-122"/>
                <a:cs typeface="Arial" pitchFamily="34" charset="-120"/>
              </a:rPr>
              <a:t>Produkte mit Bezug Schweiz in Open Food Facts</a:t>
            </a:r>
            <a:endParaRPr lang="en-US" sz="1400" dirty="0"/>
          </a:p>
        </p:txBody>
      </p:sp>
      <p:sp>
        <p:nvSpPr>
          <p:cNvPr id="10" name="Text 7"/>
          <p:cNvSpPr/>
          <p:nvPr/>
        </p:nvSpPr>
        <p:spPr>
          <a:xfrm>
            <a:off x="8839200" y="324078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CC"/>
                </a:solidFill>
                <a:latin typeface="Arial" pitchFamily="34" charset="0"/>
                <a:ea typeface="Arial" pitchFamily="34" charset="-122"/>
                <a:cs typeface="Arial" pitchFamily="34" charset="-120"/>
              </a:rPr>
              <a:t>Snapshot 6.10.2026</a:t>
            </a:r>
            <a:endParaRPr lang="en-US" sz="1200" dirty="0"/>
          </a:p>
        </p:txBody>
      </p:sp>
      <p:sp>
        <p:nvSpPr>
          <p:cNvPr id="11" name="Text 8"/>
          <p:cNvSpPr/>
          <p:nvPr/>
        </p:nvSpPr>
        <p:spPr>
          <a:xfrm>
            <a:off x="812800" y="4225727"/>
            <a:ext cx="5337048"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E2A26"/>
                </a:solidFill>
                <a:latin typeface="Arial" pitchFamily="34" charset="0"/>
                <a:ea typeface="Arial" pitchFamily="34" charset="-122"/>
                <a:cs typeface="Arial" pitchFamily="34" charset="-120"/>
              </a:rPr>
              <a:t>Offene Daten:</a:t>
            </a:r>
            <a:r>
              <a:rPr lang="en-US" sz="1400" dirty="0">
                <a:solidFill>
                  <a:srgbClr val="3E4A45"/>
                </a:solidFill>
                <a:latin typeface="Arial" pitchFamily="34" charset="0"/>
                <a:ea typeface="Arial" pitchFamily="34" charset="-122"/>
                <a:cs typeface="Arial" pitchFamily="34" charset="-120"/>
              </a:rPr>
              <a:t> Lizenz ODbL, frei nutzbar mit Quellenangabe.</a:t>
            </a:r>
            <a:endParaRPr lang="en-US" sz="1400" dirty="0"/>
          </a:p>
        </p:txBody>
      </p:sp>
      <p:sp>
        <p:nvSpPr>
          <p:cNvPr id="12" name="Text 9"/>
          <p:cNvSpPr/>
          <p:nvPr/>
        </p:nvSpPr>
        <p:spPr>
          <a:xfrm>
            <a:off x="6197600" y="4225727"/>
            <a:ext cx="5337048"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E2A26"/>
                </a:solidFill>
                <a:latin typeface="Arial" pitchFamily="34" charset="0"/>
                <a:ea typeface="Arial" pitchFamily="34" charset="-122"/>
                <a:cs typeface="Arial" pitchFamily="34" charset="-120"/>
              </a:rPr>
              <a:t>Achtung:</a:t>
            </a:r>
            <a:r>
              <a:rPr lang="en-US" sz="1400" dirty="0">
                <a:solidFill>
                  <a:srgbClr val="3E4A45"/>
                </a:solidFill>
                <a:latin typeface="Arial" pitchFamily="34" charset="0"/>
                <a:ea typeface="Arial" pitchFamily="34" charset="-122"/>
                <a:cs typeface="Arial" pitchFamily="34" charset="-120"/>
              </a:rPr>
              <a:t> Daten von Freiwilligen erfasst, also lückenhaft und fehleranfällig.</a:t>
            </a:r>
            <a:endParaRPr lang="en-US" sz="14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Quellen: Open Food Facts (2026); BLV (2025)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INGESTION · DATENBESCHAFFUNG</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Batch-Import aus dem nächtlichen Export</a:t>
            </a:r>
            <a:endParaRPr lang="en-US" sz="3200" dirty="0"/>
          </a:p>
        </p:txBody>
      </p:sp>
      <p:sp>
        <p:nvSpPr>
          <p:cNvPr id="4" name="Shape 2"/>
          <p:cNvSpPr/>
          <p:nvPr/>
        </p:nvSpPr>
        <p:spPr>
          <a:xfrm>
            <a:off x="819150" y="1885851"/>
            <a:ext cx="2311400" cy="1059061"/>
          </a:xfrm>
          <a:prstGeom prst="roundRect">
            <a:avLst>
              <a:gd name="adj" fmla="val 6595"/>
            </a:avLst>
          </a:prstGeom>
          <a:solidFill>
            <a:srgbClr val="FFFFFF"/>
          </a:solidFill>
          <a:ln w="12700">
            <a:solidFill>
              <a:srgbClr val="1E2A26"/>
            </a:solidFill>
            <a:prstDash val="solid"/>
          </a:ln>
        </p:spPr>
        <p:txBody>
          <a:bodyPr/>
          <a:lstStyle/>
          <a:p>
            <a:endParaRPr lang="de-CH"/>
          </a:p>
        </p:txBody>
      </p:sp>
      <p:sp>
        <p:nvSpPr>
          <p:cNvPr id="5" name="Text 3"/>
          <p:cNvSpPr/>
          <p:nvPr/>
        </p:nvSpPr>
        <p:spPr>
          <a:xfrm>
            <a:off x="1003300" y="2070001"/>
            <a:ext cx="200139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Export laden</a:t>
            </a:r>
            <a:endParaRPr lang="en-US" sz="1400" dirty="0"/>
          </a:p>
        </p:txBody>
      </p:sp>
      <p:sp>
        <p:nvSpPr>
          <p:cNvPr id="6" name="Text 4"/>
          <p:cNvSpPr/>
          <p:nvPr/>
        </p:nvSpPr>
        <p:spPr>
          <a:xfrm>
            <a:off x="1003300" y="2334121"/>
            <a:ext cx="20013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Parquet-Datei von Hugging Face</a:t>
            </a:r>
            <a:endParaRPr lang="en-US" sz="1200" dirty="0"/>
          </a:p>
        </p:txBody>
      </p:sp>
      <p:sp>
        <p:nvSpPr>
          <p:cNvPr id="7" name="Text 5"/>
          <p:cNvSpPr/>
          <p:nvPr/>
        </p:nvSpPr>
        <p:spPr>
          <a:xfrm>
            <a:off x="3213100" y="2219821"/>
            <a:ext cx="3352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7A"/>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575050" y="1885851"/>
            <a:ext cx="2311400" cy="1059061"/>
          </a:xfrm>
          <a:prstGeom prst="roundRect">
            <a:avLst>
              <a:gd name="adj" fmla="val 6595"/>
            </a:avLst>
          </a:prstGeom>
          <a:solidFill>
            <a:srgbClr val="FFFFFF"/>
          </a:solidFill>
          <a:ln w="12700">
            <a:solidFill>
              <a:srgbClr val="1E2A26"/>
            </a:solidFill>
            <a:prstDash val="solid"/>
          </a:ln>
        </p:spPr>
        <p:txBody>
          <a:bodyPr/>
          <a:lstStyle/>
          <a:p>
            <a:endParaRPr lang="de-CH"/>
          </a:p>
        </p:txBody>
      </p:sp>
      <p:sp>
        <p:nvSpPr>
          <p:cNvPr id="9" name="Text 7"/>
          <p:cNvSpPr/>
          <p:nvPr/>
        </p:nvSpPr>
        <p:spPr>
          <a:xfrm>
            <a:off x="3759200" y="2070001"/>
            <a:ext cx="200139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Filtern</a:t>
            </a:r>
            <a:endParaRPr lang="en-US" sz="1400" dirty="0"/>
          </a:p>
        </p:txBody>
      </p:sp>
      <p:sp>
        <p:nvSpPr>
          <p:cNvPr id="10" name="Text 8"/>
          <p:cNvSpPr/>
          <p:nvPr/>
        </p:nvSpPr>
        <p:spPr>
          <a:xfrm>
            <a:off x="3759200" y="2334121"/>
            <a:ext cx="20013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Nur Produkte mit Land Schweiz</a:t>
            </a:r>
            <a:endParaRPr lang="en-US" sz="1200" dirty="0"/>
          </a:p>
        </p:txBody>
      </p:sp>
      <p:sp>
        <p:nvSpPr>
          <p:cNvPr id="11" name="Text 9"/>
          <p:cNvSpPr/>
          <p:nvPr/>
        </p:nvSpPr>
        <p:spPr>
          <a:xfrm>
            <a:off x="5969000" y="2219821"/>
            <a:ext cx="3352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7A"/>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6330950" y="1885851"/>
            <a:ext cx="2311400" cy="1059061"/>
          </a:xfrm>
          <a:prstGeom prst="roundRect">
            <a:avLst>
              <a:gd name="adj" fmla="val 6595"/>
            </a:avLst>
          </a:prstGeom>
          <a:solidFill>
            <a:srgbClr val="FFFFFF"/>
          </a:solidFill>
          <a:ln w="12700">
            <a:solidFill>
              <a:srgbClr val="1E2A26"/>
            </a:solidFill>
            <a:prstDash val="solid"/>
          </a:ln>
        </p:spPr>
        <p:txBody>
          <a:bodyPr/>
          <a:lstStyle/>
          <a:p>
            <a:endParaRPr lang="de-CH"/>
          </a:p>
        </p:txBody>
      </p:sp>
      <p:sp>
        <p:nvSpPr>
          <p:cNvPr id="13" name="Text 11"/>
          <p:cNvSpPr/>
          <p:nvPr/>
        </p:nvSpPr>
        <p:spPr>
          <a:xfrm>
            <a:off x="6515100" y="2070001"/>
            <a:ext cx="200139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2A26"/>
                </a:solidFill>
                <a:latin typeface="Arial" pitchFamily="34" charset="0"/>
                <a:ea typeface="Arial" pitchFamily="34" charset="-122"/>
                <a:cs typeface="Arial" pitchFamily="34" charset="-120"/>
              </a:rPr>
              <a:t>Auswählen</a:t>
            </a:r>
            <a:endParaRPr lang="en-US" sz="1400" dirty="0"/>
          </a:p>
        </p:txBody>
      </p:sp>
      <p:sp>
        <p:nvSpPr>
          <p:cNvPr id="14" name="Text 12"/>
          <p:cNvSpPr/>
          <p:nvPr/>
        </p:nvSpPr>
        <p:spPr>
          <a:xfrm>
            <a:off x="6515100" y="2334121"/>
            <a:ext cx="20013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15 relevante Spalten, Nährwerte entpackt</a:t>
            </a:r>
            <a:endParaRPr lang="en-US" sz="1200" dirty="0"/>
          </a:p>
        </p:txBody>
      </p:sp>
      <p:sp>
        <p:nvSpPr>
          <p:cNvPr id="15" name="Text 13"/>
          <p:cNvSpPr/>
          <p:nvPr/>
        </p:nvSpPr>
        <p:spPr>
          <a:xfrm>
            <a:off x="8724900" y="2219821"/>
            <a:ext cx="3352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7A"/>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9080500" y="1879501"/>
            <a:ext cx="2298700" cy="1071761"/>
          </a:xfrm>
          <a:prstGeom prst="roundRect">
            <a:avLst>
              <a:gd name="adj" fmla="val 7110"/>
            </a:avLst>
          </a:prstGeom>
          <a:solidFill>
            <a:srgbClr val="1E2A26"/>
          </a:solidFill>
          <a:ln/>
        </p:spPr>
        <p:txBody>
          <a:bodyPr/>
          <a:lstStyle/>
          <a:p>
            <a:endParaRPr lang="de-CH"/>
          </a:p>
        </p:txBody>
      </p:sp>
      <p:sp>
        <p:nvSpPr>
          <p:cNvPr id="17" name="Text 15"/>
          <p:cNvSpPr/>
          <p:nvPr/>
        </p:nvSpPr>
        <p:spPr>
          <a:xfrm>
            <a:off x="9258300" y="2057301"/>
            <a:ext cx="200139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0E8"/>
                </a:solidFill>
                <a:latin typeface="Arial" pitchFamily="34" charset="0"/>
                <a:ea typeface="Arial" pitchFamily="34" charset="-122"/>
                <a:cs typeface="Arial" pitchFamily="34" charset="-120"/>
              </a:rPr>
              <a:t>Ablegen</a:t>
            </a:r>
            <a:endParaRPr lang="en-US" sz="1400" dirty="0"/>
          </a:p>
        </p:txBody>
      </p:sp>
      <p:sp>
        <p:nvSpPr>
          <p:cNvPr id="18" name="Text 16"/>
          <p:cNvSpPr/>
          <p:nvPr/>
        </p:nvSpPr>
        <p:spPr>
          <a:xfrm>
            <a:off x="9258300" y="2321421"/>
            <a:ext cx="20013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CC"/>
                </a:solidFill>
                <a:latin typeface="Arial" pitchFamily="34" charset="0"/>
                <a:ea typeface="Arial" pitchFamily="34" charset="-122"/>
                <a:cs typeface="Arial" pitchFamily="34" charset="-120"/>
              </a:rPr>
              <a:t>Bronze-Stufe, mit Datum im Namen</a:t>
            </a:r>
            <a:endParaRPr lang="en-US" sz="1200" dirty="0"/>
          </a:p>
        </p:txBody>
      </p:sp>
      <p:sp>
        <p:nvSpPr>
          <p:cNvPr id="19" name="Shape 17"/>
          <p:cNvSpPr/>
          <p:nvPr/>
        </p:nvSpPr>
        <p:spPr>
          <a:xfrm>
            <a:off x="815975" y="3259237"/>
            <a:ext cx="5175250" cy="1262162"/>
          </a:xfrm>
          <a:prstGeom prst="roundRect">
            <a:avLst>
              <a:gd name="adj" fmla="val 7798"/>
            </a:avLst>
          </a:prstGeom>
          <a:solidFill>
            <a:srgbClr val="FFFFFF"/>
          </a:solidFill>
          <a:ln w="6350">
            <a:solidFill>
              <a:srgbClr val="DDD8CC"/>
            </a:solidFill>
            <a:prstDash val="solid"/>
          </a:ln>
        </p:spPr>
        <p:txBody>
          <a:bodyPr/>
          <a:lstStyle/>
          <a:p>
            <a:endParaRPr lang="de-CH"/>
          </a:p>
        </p:txBody>
      </p:sp>
      <p:sp>
        <p:nvSpPr>
          <p:cNvPr id="20" name="Text 18"/>
          <p:cNvSpPr/>
          <p:nvPr/>
        </p:nvSpPr>
        <p:spPr>
          <a:xfrm>
            <a:off x="1047750" y="3491012"/>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A26"/>
                </a:solidFill>
                <a:latin typeface="Arial" pitchFamily="34" charset="0"/>
                <a:ea typeface="Arial" pitchFamily="34" charset="-122"/>
                <a:cs typeface="Arial" pitchFamily="34" charset="-120"/>
              </a:rPr>
              <a:t>Warum Batch statt Streaming?</a:t>
            </a:r>
            <a:endParaRPr lang="en-US" sz="1600" dirty="0"/>
          </a:p>
        </p:txBody>
      </p:sp>
      <p:sp>
        <p:nvSpPr>
          <p:cNvPr id="21" name="Text 19"/>
          <p:cNvSpPr/>
          <p:nvPr/>
        </p:nvSpPr>
        <p:spPr>
          <a:xfrm>
            <a:off x="1047750" y="3810992"/>
            <a:ext cx="4853051"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A45"/>
                </a:solidFill>
                <a:latin typeface="Arial" pitchFamily="34" charset="0"/>
                <a:ea typeface="Arial" pitchFamily="34" charset="-122"/>
                <a:cs typeface="Arial" pitchFamily="34" charset="-120"/>
              </a:rPr>
              <a:t>Die Quelle aktualisiert nur einmal pro Nacht, und unsere Analyse ist nicht zeitkritisch.</a:t>
            </a:r>
            <a:endParaRPr lang="en-US" sz="1300" dirty="0"/>
          </a:p>
        </p:txBody>
      </p:sp>
      <p:sp>
        <p:nvSpPr>
          <p:cNvPr id="22" name="Shape 20"/>
          <p:cNvSpPr/>
          <p:nvPr/>
        </p:nvSpPr>
        <p:spPr>
          <a:xfrm>
            <a:off x="6200775" y="3259237"/>
            <a:ext cx="5175250" cy="1262162"/>
          </a:xfrm>
          <a:prstGeom prst="roundRect">
            <a:avLst>
              <a:gd name="adj" fmla="val 7798"/>
            </a:avLst>
          </a:prstGeom>
          <a:solidFill>
            <a:srgbClr val="FFFFFF"/>
          </a:solidFill>
          <a:ln w="6350">
            <a:solidFill>
              <a:srgbClr val="DDD8CC"/>
            </a:solidFill>
            <a:prstDash val="solid"/>
          </a:ln>
        </p:spPr>
        <p:txBody>
          <a:bodyPr/>
          <a:lstStyle/>
          <a:p>
            <a:endParaRPr lang="de-CH"/>
          </a:p>
        </p:txBody>
      </p:sp>
      <p:sp>
        <p:nvSpPr>
          <p:cNvPr id="23" name="Text 21"/>
          <p:cNvSpPr/>
          <p:nvPr/>
        </p:nvSpPr>
        <p:spPr>
          <a:xfrm>
            <a:off x="6432550" y="3491012"/>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A26"/>
                </a:solidFill>
                <a:latin typeface="Arial" pitchFamily="34" charset="0"/>
                <a:ea typeface="Arial" pitchFamily="34" charset="-122"/>
                <a:cs typeface="Arial" pitchFamily="34" charset="-120"/>
              </a:rPr>
              <a:t>Warum Export statt API?</a:t>
            </a:r>
            <a:endParaRPr lang="en-US" sz="1600" dirty="0"/>
          </a:p>
        </p:txBody>
      </p:sp>
      <p:sp>
        <p:nvSpPr>
          <p:cNvPr id="24" name="Text 22"/>
          <p:cNvSpPr/>
          <p:nvPr/>
        </p:nvSpPr>
        <p:spPr>
          <a:xfrm>
            <a:off x="6432550" y="3810992"/>
            <a:ext cx="4853051"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A45"/>
                </a:solidFill>
                <a:latin typeface="Arial" pitchFamily="34" charset="0"/>
                <a:ea typeface="Arial" pitchFamily="34" charset="-122"/>
                <a:cs typeface="Arial" pitchFamily="34" charset="-120"/>
              </a:rPr>
              <a:t>Die API ist für Einzelabfragen gedacht. Massenabfragen werden blockiert, der Export ist der vorgesehene Weg.</a:t>
            </a:r>
            <a:endParaRPr lang="en-US" sz="13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Gesamtdatenbank als CSV: ca. 0,9 GB komprimiert, ca. 9 GB entpackt (Open Food Facts, 2026)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STORAGE · EVALUATION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Drei Optionen im Vergleich</a:t>
            </a:r>
            <a:endParaRPr lang="en-US" sz="3200" dirty="0"/>
          </a:p>
        </p:txBody>
      </p:sp>
      <p:sp>
        <p:nvSpPr>
          <p:cNvPr id="4" name="Shape 2"/>
          <p:cNvSpPr/>
          <p:nvPr/>
        </p:nvSpPr>
        <p:spPr>
          <a:xfrm>
            <a:off x="812800" y="1828701"/>
            <a:ext cx="10566400" cy="2168327"/>
          </a:xfrm>
          <a:prstGeom prst="roundRect">
            <a:avLst>
              <a:gd name="adj" fmla="val 3514"/>
            </a:avLst>
          </a:prstGeom>
          <a:solidFill>
            <a:srgbClr val="FFFFFF"/>
          </a:solidFill>
          <a:ln/>
        </p:spPr>
        <p:txBody>
          <a:bodyPr/>
          <a:lstStyle/>
          <a:p>
            <a:endParaRPr lang="de-CH"/>
          </a:p>
        </p:txBody>
      </p:sp>
      <p:sp>
        <p:nvSpPr>
          <p:cNvPr id="5" name="Shape 3"/>
          <p:cNvSpPr/>
          <p:nvPr/>
        </p:nvSpPr>
        <p:spPr>
          <a:xfrm>
            <a:off x="812800" y="1828701"/>
            <a:ext cx="10566400" cy="2168327"/>
          </a:xfrm>
          <a:custGeom>
            <a:avLst/>
            <a:gdLst/>
            <a:ahLst/>
            <a:cxnLst/>
            <a:rect l="l" t="t" r="r" b="b"/>
            <a:pathLst>
              <a:path w="10566400" h="2168327">
                <a:moveTo>
                  <a:pt x="76200" y="2168327"/>
                </a:moveTo>
                <a:lnTo>
                  <a:pt x="76200" y="2168327"/>
                </a:lnTo>
                <a:arcTo wR="76200" hR="76200" stAng="5400000" swAng="5400000"/>
                <a:lnTo>
                  <a:pt x="0" y="76200"/>
                </a:lnTo>
                <a:arcTo wR="76200" hR="76200" stAng="10800000" swAng="5400000"/>
                <a:lnTo>
                  <a:pt x="10490200" y="0"/>
                </a:lnTo>
                <a:arcTo wR="76200" hR="76200" stAng="16200000" swAng="5400000"/>
                <a:lnTo>
                  <a:pt x="10566400" y="76200"/>
                </a:lnTo>
                <a:arcTo wR="76200" hR="63500" stAng="0" swAng="-5400000"/>
                <a:lnTo>
                  <a:pt x="76200" y="12700"/>
                </a:lnTo>
                <a:arcTo wR="63500" hR="63500" stAng="16200000" swAng="-5400000"/>
                <a:lnTo>
                  <a:pt x="12700" y="2092127"/>
                </a:lnTo>
                <a:arcTo wR="63500" hR="76200" stAng="10800000" swAng="-5400000"/>
                <a:close/>
              </a:path>
            </a:pathLst>
          </a:custGeom>
          <a:solidFill>
            <a:srgbClr val="141413">
              <a:alpha val="22000"/>
            </a:srgbClr>
          </a:solidFill>
          <a:ln/>
        </p:spPr>
        <p:txBody>
          <a:bodyPr/>
          <a:lstStyle/>
          <a:p>
            <a:endParaRPr lang="de-CH"/>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155626"/>
        </p:xfrm>
        <a:graphic>
          <a:graphicData uri="http://schemas.openxmlformats.org/drawingml/2006/table">
            <a:tbl>
              <a:tblPr/>
              <a:tblGrid>
                <a:gridCol w="3271647">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Kriterium</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PostgreSQL</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MongoDB</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820"/>
                        </a:lnSpc>
                        <a:buNone/>
                      </a:pPr>
                      <a:r>
                        <a:rPr lang="en-US" sz="1300" b="1" dirty="0">
                          <a:solidFill>
                            <a:srgbClr val="F3F0E8"/>
                          </a:solidFill>
                          <a:latin typeface="Arial" pitchFamily="34" charset="0"/>
                          <a:ea typeface="Arial" pitchFamily="34" charset="-122"/>
                          <a:cs typeface="Arial" pitchFamily="34" charset="-120"/>
                        </a:rPr>
                        <a:t>DuckDB + Parquet</a:t>
                      </a:r>
                      <a:endParaRPr lang="en-US" sz="1300" dirty="0">
                        <a:latin typeface="Arial" charset="0"/>
                        <a:ea typeface="Arial" charset="0"/>
                        <a:cs typeface="Arial" charset="0"/>
                      </a:endParaRPr>
                    </a:p>
                  </a:txBody>
                  <a:tcPr marL="57785" marR="57785" marT="57785" marB="57785">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Verschachtelte Felder</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mittel (JSONB)</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 (Struct, List)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Analytische Abfragen</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mittel</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schwach</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 (spaltenbasiert)</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Einrichtung</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Server nötig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Server nötig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eingebettet, ohne Server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Datenmenge lokal</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 liest nur benötigte Spalten</a:t>
                      </a:r>
                      <a:endParaRPr lang="en-US" sz="1300" dirty="0">
                        <a:latin typeface="Arial" charset="0"/>
                        <a:ea typeface="Arial" charset="0"/>
                        <a:cs typeface="Arial"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Viele Nutzer gleichzeitig</a:t>
                      </a:r>
                      <a:endParaRPr lang="en-US" sz="1300" dirty="0">
                        <a:latin typeface="Arial" charset="0"/>
                        <a:ea typeface="Arial" charset="0"/>
                        <a:cs typeface="Arial"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gut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2A26"/>
                          </a:solidFill>
                          <a:latin typeface="Arial" pitchFamily="34" charset="0"/>
                          <a:ea typeface="Arial" pitchFamily="34" charset="-122"/>
                          <a:cs typeface="Arial" pitchFamily="34" charset="-120"/>
                        </a:rPr>
                        <a:t>schwach</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2800" y="4251027"/>
            <a:ext cx="10566400" cy="604441"/>
          </a:xfrm>
          <a:prstGeom prst="roundRect">
            <a:avLst>
              <a:gd name="adj" fmla="val 16809"/>
            </a:avLst>
          </a:prstGeom>
          <a:solidFill>
            <a:srgbClr val="1E2A26"/>
          </a:solidFill>
          <a:ln/>
        </p:spPr>
        <p:txBody>
          <a:bodyPr/>
          <a:lstStyle/>
          <a:p>
            <a:endParaRPr lang="de-CH"/>
          </a:p>
        </p:txBody>
      </p:sp>
      <p:sp>
        <p:nvSpPr>
          <p:cNvPr id="8" name="Text 5"/>
          <p:cNvSpPr/>
          <p:nvPr/>
        </p:nvSpPr>
        <p:spPr>
          <a:xfrm>
            <a:off x="1066800" y="4428827"/>
            <a:ext cx="959743" cy="274241"/>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0A56B"/>
                </a:solidFill>
                <a:latin typeface="Arial" pitchFamily="34" charset="0"/>
                <a:ea typeface="Arial" pitchFamily="34" charset="-122"/>
                <a:cs typeface="Arial" pitchFamily="34" charset="-120"/>
              </a:rPr>
              <a:t>Entscheid:</a:t>
            </a:r>
            <a:endParaRPr lang="en-US" sz="1400" dirty="0"/>
          </a:p>
        </p:txBody>
      </p:sp>
      <p:sp>
        <p:nvSpPr>
          <p:cNvPr id="9" name="Text 6"/>
          <p:cNvSpPr/>
          <p:nvPr/>
        </p:nvSpPr>
        <p:spPr>
          <a:xfrm>
            <a:off x="2128143" y="4428827"/>
            <a:ext cx="926696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0E8"/>
                </a:solidFill>
                <a:latin typeface="Arial" pitchFamily="34" charset="0"/>
                <a:ea typeface="Arial" pitchFamily="34" charset="-122"/>
                <a:cs typeface="Arial" pitchFamily="34" charset="-120"/>
              </a:rPr>
              <a:t>DuckDB + Parquet. Unser Fall ist Analyse durch zwei Personen, kein Mehrbenutzerbetrieb.</a:t>
            </a:r>
            <a:endParaRPr lang="en-US" sz="14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Bewertung der Gruppe · Trade-off: für Serving in Teil 2 evtl. PostgreSQL ergänzen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STORAGE · IMPLEMENTIERUNG</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Drei Stufen von roh bis auswertbar</a:t>
            </a:r>
            <a:endParaRPr lang="en-US" sz="3200" dirty="0"/>
          </a:p>
        </p:txBody>
      </p:sp>
      <p:sp>
        <p:nvSpPr>
          <p:cNvPr id="4" name="Shape 2"/>
          <p:cNvSpPr/>
          <p:nvPr/>
        </p:nvSpPr>
        <p:spPr>
          <a:xfrm>
            <a:off x="812800" y="1828701"/>
            <a:ext cx="3234234" cy="1286272"/>
          </a:xfrm>
          <a:prstGeom prst="roundRect">
            <a:avLst>
              <a:gd name="adj" fmla="val 5924"/>
            </a:avLst>
          </a:prstGeom>
          <a:solidFill>
            <a:srgbClr val="FFFFFF"/>
          </a:solidFill>
          <a:ln/>
        </p:spPr>
        <p:txBody>
          <a:bodyPr/>
          <a:lstStyle/>
          <a:p>
            <a:endParaRPr lang="de-CH"/>
          </a:p>
        </p:txBody>
      </p:sp>
      <p:sp>
        <p:nvSpPr>
          <p:cNvPr id="5" name="Shape 3"/>
          <p:cNvSpPr/>
          <p:nvPr/>
        </p:nvSpPr>
        <p:spPr>
          <a:xfrm>
            <a:off x="812800" y="1828701"/>
            <a:ext cx="3234234" cy="1286272"/>
          </a:xfrm>
          <a:custGeom>
            <a:avLst/>
            <a:gdLst/>
            <a:ahLst/>
            <a:cxnLst/>
            <a:rect l="l" t="t" r="r" b="b"/>
            <a:pathLst>
              <a:path w="3234234" h="1286272">
                <a:moveTo>
                  <a:pt x="0" y="76200"/>
                </a:moveTo>
                <a:lnTo>
                  <a:pt x="0" y="76200"/>
                </a:lnTo>
                <a:arcTo wR="76200" hR="76200" stAng="10800000" swAng="5400000"/>
                <a:lnTo>
                  <a:pt x="3158034" y="0"/>
                </a:lnTo>
                <a:arcTo wR="76200" hR="76200" stAng="16200000" swAng="5400000"/>
                <a:lnTo>
                  <a:pt x="3234234" y="76200"/>
                </a:lnTo>
                <a:arcTo wR="76200" hR="25400" stAng="0" swAng="-5400000"/>
                <a:lnTo>
                  <a:pt x="76200" y="50800"/>
                </a:lnTo>
                <a:arcTo wR="76200" hR="25400" stAng="16200000" swAng="-5400000"/>
                <a:close/>
              </a:path>
            </a:pathLst>
          </a:custGeom>
          <a:solidFill>
            <a:srgbClr val="A86B3C"/>
          </a:solidFill>
          <a:ln/>
        </p:spPr>
        <p:txBody>
          <a:bodyPr/>
          <a:lstStyle/>
          <a:p>
            <a:endParaRPr lang="de-CH"/>
          </a:p>
        </p:txBody>
      </p:sp>
      <p:sp>
        <p:nvSpPr>
          <p:cNvPr id="6" name="Text 4"/>
          <p:cNvSpPr/>
          <p:nvPr/>
        </p:nvSpPr>
        <p:spPr>
          <a:xfrm>
            <a:off x="1016000" y="2082701"/>
            <a:ext cx="291266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A26"/>
                </a:solidFill>
                <a:latin typeface="Arial" pitchFamily="34" charset="0"/>
                <a:ea typeface="Arial" pitchFamily="34" charset="-122"/>
                <a:cs typeface="Arial" pitchFamily="34" charset="-120"/>
              </a:rPr>
              <a:t>Bronze</a:t>
            </a:r>
            <a:endParaRPr lang="en-US" sz="1800" dirty="0"/>
          </a:p>
        </p:txBody>
      </p:sp>
      <p:sp>
        <p:nvSpPr>
          <p:cNvPr id="7" name="Text 5"/>
          <p:cNvSpPr/>
          <p:nvPr/>
        </p:nvSpPr>
        <p:spPr>
          <a:xfrm>
            <a:off x="1016000" y="2433141"/>
            <a:ext cx="291266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A45"/>
                </a:solidFill>
                <a:latin typeface="Arial" pitchFamily="34" charset="0"/>
                <a:ea typeface="Arial" pitchFamily="34" charset="-122"/>
                <a:cs typeface="Arial" pitchFamily="34" charset="-120"/>
              </a:rPr>
              <a:t>Rohdaten als Parquet, unverändert, mit Snapshot-Datum</a:t>
            </a:r>
            <a:endParaRPr lang="en-US" sz="1300" dirty="0"/>
          </a:p>
        </p:txBody>
      </p:sp>
      <p:sp>
        <p:nvSpPr>
          <p:cNvPr id="8" name="Text 6"/>
          <p:cNvSpPr/>
          <p:nvPr/>
        </p:nvSpPr>
        <p:spPr>
          <a:xfrm>
            <a:off x="4123234" y="2276277"/>
            <a:ext cx="3352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7A"/>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4478834" y="1828701"/>
            <a:ext cx="3234333" cy="1286272"/>
          </a:xfrm>
          <a:prstGeom prst="roundRect">
            <a:avLst>
              <a:gd name="adj" fmla="val 5924"/>
            </a:avLst>
          </a:prstGeom>
          <a:solidFill>
            <a:srgbClr val="FFFFFF"/>
          </a:solidFill>
          <a:ln/>
        </p:spPr>
        <p:txBody>
          <a:bodyPr/>
          <a:lstStyle/>
          <a:p>
            <a:endParaRPr lang="de-CH"/>
          </a:p>
        </p:txBody>
      </p:sp>
      <p:sp>
        <p:nvSpPr>
          <p:cNvPr id="10" name="Shape 8"/>
          <p:cNvSpPr/>
          <p:nvPr/>
        </p:nvSpPr>
        <p:spPr>
          <a:xfrm>
            <a:off x="4478834" y="1828701"/>
            <a:ext cx="3234333" cy="1286272"/>
          </a:xfrm>
          <a:custGeom>
            <a:avLst/>
            <a:gdLst/>
            <a:ahLst/>
            <a:cxnLst/>
            <a:rect l="l" t="t" r="r" b="b"/>
            <a:pathLst>
              <a:path w="3234333" h="1286272">
                <a:moveTo>
                  <a:pt x="0" y="76200"/>
                </a:moveTo>
                <a:lnTo>
                  <a:pt x="0" y="76200"/>
                </a:lnTo>
                <a:arcTo wR="76200" hR="76200" stAng="10800000" swAng="5400000"/>
                <a:lnTo>
                  <a:pt x="3158133" y="0"/>
                </a:lnTo>
                <a:arcTo wR="76200" hR="76200" stAng="16200000" swAng="5400000"/>
                <a:lnTo>
                  <a:pt x="3234333" y="76200"/>
                </a:lnTo>
                <a:arcTo wR="76200" hR="25400" stAng="0" swAng="-5400000"/>
                <a:lnTo>
                  <a:pt x="76200" y="50800"/>
                </a:lnTo>
                <a:arcTo wR="76200" hR="25400" stAng="16200000" swAng="-5400000"/>
                <a:close/>
              </a:path>
            </a:pathLst>
          </a:custGeom>
          <a:solidFill>
            <a:srgbClr val="8A9199"/>
          </a:solidFill>
          <a:ln/>
        </p:spPr>
        <p:txBody>
          <a:bodyPr/>
          <a:lstStyle/>
          <a:p>
            <a:endParaRPr lang="de-CH"/>
          </a:p>
        </p:txBody>
      </p:sp>
      <p:sp>
        <p:nvSpPr>
          <p:cNvPr id="11" name="Text 9"/>
          <p:cNvSpPr/>
          <p:nvPr/>
        </p:nvSpPr>
        <p:spPr>
          <a:xfrm>
            <a:off x="4682034" y="2082701"/>
            <a:ext cx="291277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A26"/>
                </a:solidFill>
                <a:latin typeface="Arial" pitchFamily="34" charset="0"/>
                <a:ea typeface="Arial" pitchFamily="34" charset="-122"/>
                <a:cs typeface="Arial" pitchFamily="34" charset="-120"/>
              </a:rPr>
              <a:t>Silver</a:t>
            </a:r>
            <a:endParaRPr lang="en-US" sz="1800" dirty="0"/>
          </a:p>
        </p:txBody>
      </p:sp>
      <p:sp>
        <p:nvSpPr>
          <p:cNvPr id="12" name="Text 10"/>
          <p:cNvSpPr/>
          <p:nvPr/>
        </p:nvSpPr>
        <p:spPr>
          <a:xfrm>
            <a:off x="4682034" y="2433141"/>
            <a:ext cx="2912771"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A45"/>
                </a:solidFill>
                <a:latin typeface="Arial" pitchFamily="34" charset="0"/>
                <a:ea typeface="Arial" pitchFamily="34" charset="-122"/>
                <a:cs typeface="Arial" pitchFamily="34" charset="-120"/>
              </a:rPr>
              <a:t>DuckDB-Tabelle: bereinigt, typisiert, ohne Duplikate</a:t>
            </a:r>
            <a:endParaRPr lang="en-US" sz="1300" dirty="0"/>
          </a:p>
        </p:txBody>
      </p:sp>
      <p:sp>
        <p:nvSpPr>
          <p:cNvPr id="13" name="Text 11"/>
          <p:cNvSpPr/>
          <p:nvPr/>
        </p:nvSpPr>
        <p:spPr>
          <a:xfrm>
            <a:off x="7789366" y="2276277"/>
            <a:ext cx="3352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7A"/>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8144966" y="1828701"/>
            <a:ext cx="3234234" cy="1286272"/>
          </a:xfrm>
          <a:prstGeom prst="roundRect">
            <a:avLst>
              <a:gd name="adj" fmla="val 5924"/>
            </a:avLst>
          </a:prstGeom>
          <a:solidFill>
            <a:srgbClr val="FFFFFF"/>
          </a:solidFill>
          <a:ln/>
        </p:spPr>
        <p:txBody>
          <a:bodyPr/>
          <a:lstStyle/>
          <a:p>
            <a:endParaRPr lang="de-CH"/>
          </a:p>
        </p:txBody>
      </p:sp>
      <p:sp>
        <p:nvSpPr>
          <p:cNvPr id="15" name="Shape 13"/>
          <p:cNvSpPr/>
          <p:nvPr/>
        </p:nvSpPr>
        <p:spPr>
          <a:xfrm>
            <a:off x="8144966" y="1828701"/>
            <a:ext cx="3234234" cy="1286272"/>
          </a:xfrm>
          <a:custGeom>
            <a:avLst/>
            <a:gdLst/>
            <a:ahLst/>
            <a:cxnLst/>
            <a:rect l="l" t="t" r="r" b="b"/>
            <a:pathLst>
              <a:path w="3234234" h="1286272">
                <a:moveTo>
                  <a:pt x="0" y="76200"/>
                </a:moveTo>
                <a:lnTo>
                  <a:pt x="0" y="76200"/>
                </a:lnTo>
                <a:arcTo wR="76200" hR="76200" stAng="10800000" swAng="5400000"/>
                <a:lnTo>
                  <a:pt x="3158034" y="0"/>
                </a:lnTo>
                <a:arcTo wR="76200" hR="76200" stAng="16200000" swAng="5400000"/>
                <a:lnTo>
                  <a:pt x="3234234" y="76200"/>
                </a:lnTo>
                <a:arcTo wR="76200" hR="25400" stAng="0" swAng="-5400000"/>
                <a:lnTo>
                  <a:pt x="76200" y="50800"/>
                </a:lnTo>
                <a:arcTo wR="76200" hR="25400" stAng="16200000" swAng="-5400000"/>
                <a:close/>
              </a:path>
            </a:pathLst>
          </a:custGeom>
          <a:solidFill>
            <a:srgbClr val="C9A227"/>
          </a:solidFill>
          <a:ln/>
        </p:spPr>
        <p:txBody>
          <a:bodyPr/>
          <a:lstStyle/>
          <a:p>
            <a:endParaRPr lang="de-CH"/>
          </a:p>
        </p:txBody>
      </p:sp>
      <p:sp>
        <p:nvSpPr>
          <p:cNvPr id="16" name="Text 14"/>
          <p:cNvSpPr/>
          <p:nvPr/>
        </p:nvSpPr>
        <p:spPr>
          <a:xfrm>
            <a:off x="8348166" y="2082701"/>
            <a:ext cx="291266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A26"/>
                </a:solidFill>
                <a:latin typeface="Arial" pitchFamily="34" charset="0"/>
                <a:ea typeface="Arial" pitchFamily="34" charset="-122"/>
                <a:cs typeface="Arial" pitchFamily="34" charset="-120"/>
              </a:rPr>
              <a:t>Gold</a:t>
            </a:r>
            <a:endParaRPr lang="en-US" sz="1800" dirty="0"/>
          </a:p>
        </p:txBody>
      </p:sp>
      <p:sp>
        <p:nvSpPr>
          <p:cNvPr id="17" name="Text 15"/>
          <p:cNvSpPr/>
          <p:nvPr/>
        </p:nvSpPr>
        <p:spPr>
          <a:xfrm>
            <a:off x="8348166" y="2433141"/>
            <a:ext cx="291266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A45"/>
                </a:solidFill>
                <a:latin typeface="Arial" pitchFamily="34" charset="0"/>
                <a:ea typeface="Arial" pitchFamily="34" charset="-122"/>
                <a:cs typeface="Arial" pitchFamily="34" charset="-120"/>
              </a:rPr>
              <a:t>Auswertungstabellen pro Hypothese, z. B. Nutri-Score × NOVA</a:t>
            </a:r>
            <a:endParaRPr lang="en-US" sz="1300" dirty="0"/>
          </a:p>
        </p:txBody>
      </p:sp>
      <p:sp>
        <p:nvSpPr>
          <p:cNvPr id="18" name="Shape 16"/>
          <p:cNvSpPr/>
          <p:nvPr/>
        </p:nvSpPr>
        <p:spPr>
          <a:xfrm>
            <a:off x="812800" y="3368973"/>
            <a:ext cx="10566400" cy="1661120"/>
          </a:xfrm>
          <a:prstGeom prst="roundRect">
            <a:avLst>
              <a:gd name="adj" fmla="val 6116"/>
            </a:avLst>
          </a:prstGeom>
          <a:solidFill>
            <a:srgbClr val="1E2A26"/>
          </a:solidFill>
          <a:ln/>
        </p:spPr>
        <p:txBody>
          <a:bodyPr/>
          <a:lstStyle/>
          <a:p>
            <a:endParaRPr lang="de-CH"/>
          </a:p>
        </p:txBody>
      </p:sp>
      <p:sp>
        <p:nvSpPr>
          <p:cNvPr id="19" name="Text 17"/>
          <p:cNvSpPr/>
          <p:nvPr/>
        </p:nvSpPr>
        <p:spPr>
          <a:xfrm>
            <a:off x="1066800" y="3572173"/>
            <a:ext cx="103601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CC"/>
                </a:solidFill>
                <a:latin typeface="Arial" pitchFamily="34" charset="0"/>
                <a:ea typeface="Arial" pitchFamily="34" charset="-122"/>
                <a:cs typeface="Arial" pitchFamily="34" charset="-120"/>
              </a:rPr>
              <a:t>Beispiel: Silver-Tabelle aus Bronze erzeugen</a:t>
            </a:r>
            <a:endParaRPr lang="en-US" sz="1200" dirty="0"/>
          </a:p>
        </p:txBody>
      </p:sp>
      <p:sp>
        <p:nvSpPr>
          <p:cNvPr id="20" name="Text 18"/>
          <p:cNvSpPr/>
          <p:nvPr/>
        </p:nvSpPr>
        <p:spPr>
          <a:xfrm>
            <a:off x="1066800" y="3836293"/>
            <a:ext cx="10360152" cy="10160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3F0E8"/>
                </a:solidFill>
                <a:latin typeface="Courier New" pitchFamily="49" charset="0"/>
                <a:ea typeface="Courier New" pitchFamily="49" charset="-122"/>
                <a:cs typeface="Courier New" pitchFamily="49" charset="-120"/>
              </a:rPr>
              <a:t>CREATE TABLE silver_products AS</a:t>
            </a:r>
            <a:endParaRPr lang="en-US" sz="1300" dirty="0"/>
          </a:p>
          <a:p>
            <a:pPr marL="0" indent="0" algn="l">
              <a:lnSpc>
                <a:spcPts val="1950"/>
              </a:lnSpc>
              <a:buNone/>
            </a:pPr>
            <a:r>
              <a:rPr lang="en-US" sz="1300" dirty="0">
                <a:solidFill>
                  <a:srgbClr val="F3F0E8"/>
                </a:solidFill>
                <a:latin typeface="Courier New" pitchFamily="49" charset="0"/>
                <a:ea typeface="Courier New" pitchFamily="49" charset="-122"/>
                <a:cs typeface="Courier New" pitchFamily="49" charset="-120"/>
              </a:rPr>
              <a:t>SELECT * EXCLUDE (f_duplikat, f_unmoeglich, …)</a:t>
            </a:r>
            <a:endParaRPr lang="en-US" sz="1300" dirty="0"/>
          </a:p>
          <a:p>
            <a:pPr marL="0" indent="0" algn="l">
              <a:lnSpc>
                <a:spcPts val="1950"/>
              </a:lnSpc>
              <a:buNone/>
            </a:pPr>
            <a:r>
              <a:rPr lang="en-US" sz="1300" dirty="0">
                <a:solidFill>
                  <a:srgbClr val="F3F0E8"/>
                </a:solidFill>
                <a:latin typeface="Courier New" pitchFamily="49" charset="0"/>
                <a:ea typeface="Courier New" pitchFamily="49" charset="-122"/>
                <a:cs typeface="Courier New" pitchFamily="49" charset="-120"/>
              </a:rPr>
              <a:t>FROM silver_flagged -- Bronze + ein Flag pro Regel</a:t>
            </a:r>
            <a:endParaRPr lang="en-US" sz="1300" dirty="0"/>
          </a:p>
          <a:p>
            <a:pPr marL="0" indent="0" algn="l">
              <a:lnSpc>
                <a:spcPts val="1950"/>
              </a:lnSpc>
              <a:buNone/>
            </a:pPr>
            <a:r>
              <a:rPr lang="en-US" sz="1300" dirty="0">
                <a:solidFill>
                  <a:srgbClr val="F3F0E8"/>
                </a:solidFill>
                <a:latin typeface="Courier New" pitchFamily="49" charset="0"/>
                <a:ea typeface="Courier New" pitchFamily="49" charset="-122"/>
                <a:cs typeface="Courier New" pitchFamily="49" charset="-120"/>
              </a:rPr>
              <a:t>WHERE NOT (f_duplikat OR f_unmoeglich OR …)</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Medallion-Architektur · Code: nutri_score_teil1.ipynb, Abschnitte 3, 4 und 6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TRANSFORMATION 1 · INITIALE BEREINIGUNG</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Nur jedes fünfte Produkt ist auswertbar</a:t>
            </a:r>
            <a:endParaRPr lang="en-US" sz="3200" dirty="0"/>
          </a:p>
        </p:txBody>
      </p:sp>
      <p:sp>
        <p:nvSpPr>
          <p:cNvPr id="4" name="Shape 2"/>
          <p:cNvSpPr/>
          <p:nvPr/>
        </p:nvSpPr>
        <p:spPr>
          <a:xfrm>
            <a:off x="812800" y="1828701"/>
            <a:ext cx="7772400" cy="2340769"/>
          </a:xfrm>
          <a:prstGeom prst="roundRect">
            <a:avLst>
              <a:gd name="adj" fmla="val 3255"/>
            </a:avLst>
          </a:prstGeom>
          <a:solidFill>
            <a:srgbClr val="FFFFFF"/>
          </a:solidFill>
          <a:ln/>
        </p:spPr>
        <p:txBody>
          <a:bodyPr/>
          <a:lstStyle/>
          <a:p>
            <a:endParaRPr lang="de-CH"/>
          </a:p>
        </p:txBody>
      </p:sp>
      <p:sp>
        <p:nvSpPr>
          <p:cNvPr id="5" name="Shape 3"/>
          <p:cNvSpPr/>
          <p:nvPr/>
        </p:nvSpPr>
        <p:spPr>
          <a:xfrm>
            <a:off x="812800" y="1828701"/>
            <a:ext cx="7772400" cy="2340769"/>
          </a:xfrm>
          <a:custGeom>
            <a:avLst/>
            <a:gdLst/>
            <a:ahLst/>
            <a:cxnLst/>
            <a:rect l="l" t="t" r="r" b="b"/>
            <a:pathLst>
              <a:path w="7772400" h="2340769">
                <a:moveTo>
                  <a:pt x="76200" y="2340769"/>
                </a:moveTo>
                <a:lnTo>
                  <a:pt x="76200" y="2340769"/>
                </a:lnTo>
                <a:arcTo wR="76200" hR="76200" stAng="5400000" swAng="5400000"/>
                <a:lnTo>
                  <a:pt x="0" y="76200"/>
                </a:lnTo>
                <a:arcTo wR="76200" hR="76200" stAng="10800000" swAng="5400000"/>
                <a:lnTo>
                  <a:pt x="7696200" y="0"/>
                </a:lnTo>
                <a:arcTo wR="76200" hR="76200" stAng="16200000" swAng="5400000"/>
                <a:lnTo>
                  <a:pt x="7772400" y="76200"/>
                </a:lnTo>
                <a:arcTo wR="76200" hR="63500" stAng="0" swAng="-5400000"/>
                <a:lnTo>
                  <a:pt x="76200" y="12700"/>
                </a:lnTo>
                <a:arcTo wR="63500" hR="63500" stAng="16200000" swAng="-5400000"/>
                <a:lnTo>
                  <a:pt x="12700" y="2264569"/>
                </a:lnTo>
                <a:arcTo wR="63500" hR="76200" stAng="10800000" swAng="-5400000"/>
                <a:close/>
              </a:path>
            </a:pathLst>
          </a:custGeom>
          <a:solidFill>
            <a:srgbClr val="141413">
              <a:alpha val="22000"/>
            </a:srgbClr>
          </a:solidFill>
          <a:ln/>
        </p:spPr>
        <p:txBody>
          <a:bodyPr/>
          <a:lstStyle/>
          <a:p>
            <a:endParaRPr lang="de-CH"/>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7759700" cy="2328067"/>
        </p:xfrm>
        <a:graphic>
          <a:graphicData uri="http://schemas.openxmlformats.org/drawingml/2006/table">
            <a:tbl>
              <a:tblPr/>
              <a:tblGrid>
                <a:gridCol w="2172716">
                  <a:extLst>
                    <a:ext uri="{9D8B030D-6E8A-4147-A177-3AD203B41FA5}">
                      <a16:colId xmlns:a16="http://schemas.microsoft.com/office/drawing/2014/main" val="20000"/>
                    </a:ext>
                  </a:extLst>
                </a:gridCol>
                <a:gridCol w="4035044">
                  <a:extLst>
                    <a:ext uri="{9D8B030D-6E8A-4147-A177-3AD203B41FA5}">
                      <a16:colId xmlns:a16="http://schemas.microsoft.com/office/drawing/2014/main" val="20001"/>
                    </a:ext>
                  </a:extLst>
                </a:gridCol>
                <a:gridCol w="155194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3F0E8"/>
                          </a:solidFill>
                          <a:latin typeface="Arial" pitchFamily="34" charset="0"/>
                          <a:ea typeface="Arial" pitchFamily="34" charset="-122"/>
                          <a:cs typeface="Arial" pitchFamily="34" charset="-120"/>
                        </a:rPr>
                        <a:t>Regel</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nSpc>
                          <a:spcPts val="1680"/>
                        </a:lnSpc>
                        <a:buNone/>
                      </a:pPr>
                      <a:r>
                        <a:rPr lang="en-US" sz="1200" b="1" dirty="0">
                          <a:solidFill>
                            <a:srgbClr val="F3F0E8"/>
                          </a:solidFill>
                          <a:latin typeface="Arial" pitchFamily="34" charset="0"/>
                          <a:ea typeface="Arial" pitchFamily="34" charset="-122"/>
                          <a:cs typeface="Arial" pitchFamily="34" charset="-120"/>
                        </a:rPr>
                        <a:t>Prüfung</a:t>
                      </a:r>
                      <a:endParaRPr lang="en-US" sz="1200" dirty="0">
                        <a:latin typeface="Arial" charset="0"/>
                        <a:ea typeface="Arial" charset="0"/>
                        <a:cs typeface="Arial" charset="0"/>
                      </a:endParaRPr>
                    </a:p>
                  </a:txBody>
                  <a:tcPr marL="53340" marR="53340" marT="53340" marB="53340">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tc>
                  <a:txBody>
                    <a:bodyPr/>
                    <a:lstStyle/>
                    <a:p>
                      <a:pPr marL="0" indent="0" algn="r">
                        <a:lnSpc>
                          <a:spcPts val="1680"/>
                        </a:lnSpc>
                        <a:buNone/>
                      </a:pPr>
                      <a:r>
                        <a:rPr lang="en-US" sz="1200" b="1" dirty="0">
                          <a:solidFill>
                            <a:srgbClr val="F3F0E8"/>
                          </a:solidFill>
                          <a:latin typeface="Arial" pitchFamily="34" charset="0"/>
                          <a:ea typeface="Arial" pitchFamily="34" charset="-122"/>
                          <a:cs typeface="Arial" pitchFamily="34" charset="-120"/>
                        </a:rPr>
                        <a:t>Betroffen</a:t>
                      </a:r>
                      <a:endParaRPr lang="en-US" sz="1200" dirty="0">
                        <a:latin typeface="Arial" charset="0"/>
                        <a:ea typeface="Arial" charset="0"/>
                        <a:cs typeface="Arial" charset="0"/>
                      </a:endParaRPr>
                    </a:p>
                  </a:txBody>
                  <a:tcPr marL="53340" marR="53340" marT="53340" marB="53340">
                    <a:lnL w="12700" cap="flat" cmpd="sng" algn="ctr">
                      <a:solidFill>
                        <a:srgbClr val="1C2522"/>
                      </a:solidFill>
                      <a:prstDash val="solid"/>
                      <a:round/>
                      <a:headEnd type="none" w="med" len="med"/>
                      <a:tailEnd type="none" w="med" len="med"/>
                    </a:lnL>
                    <a:lnR w="12700" cap="flat" cmpd="sng" algn="ctr">
                      <a:solidFill>
                        <a:srgbClr val="1C2522"/>
                      </a:solidFill>
                      <a:prstDash val="solid"/>
                      <a:round/>
                      <a:headEnd type="none" w="med" len="med"/>
                      <a:tailEnd type="none" w="med" len="med"/>
                    </a:lnR>
                    <a:lnT w="0" cap="flat" cmpd="sng" algn="ctr">
                      <a:noFill/>
                    </a:lnT>
                    <a:lnB w="12700" cap="flat" cmpd="sng" algn="ctr">
                      <a:solidFill>
                        <a:srgbClr val="1C2522"/>
                      </a:solidFill>
                      <a:prstDash val="solid"/>
                      <a:round/>
                      <a:headEnd type="none" w="med" len="med"/>
                      <a:tailEnd type="none" w="med" len="med"/>
                    </a:lnB>
                    <a:solidFill>
                      <a:srgbClr val="1E2A26"/>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Duplikate</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Gleicher Barcode mehrfach</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52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Unmögliche Werte</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Nährwert unter 0 oder über 100 g pro 100 g</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267</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Summe</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Fett + Kohlenhydrate + Protein + Salz über 100 g</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218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Energie</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Abweichung über 20 % von 4·KH + 4·Protein + 9·Fett</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3'933</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Zielwerte fehlen</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Kein Nutri-Score oder keine NOVA-Gruppe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82'186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Getränke</a:t>
                      </a:r>
                      <a:endParaRPr lang="en-US" sz="1200" dirty="0">
                        <a:latin typeface="Arial" charset="0"/>
                        <a:ea typeface="Arial" charset="0"/>
                        <a:cs typeface="Arial" charset="0"/>
                      </a:endParaRPr>
                    </a:p>
                  </a:txBody>
                  <a:tcPr marL="53340" marR="53340" marT="53340" marB="53340">
                    <a:lnL w="0" cap="flat" cmpd="sng" algn="ctr">
                      <a:noFill/>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E2A26"/>
                          </a:solidFill>
                          <a:latin typeface="Arial" pitchFamily="34" charset="0"/>
                          <a:ea typeface="Arial" pitchFamily="34" charset="-122"/>
                          <a:cs typeface="Arial" pitchFamily="34" charset="-120"/>
                        </a:rPr>
                        <a:t>Separat, eigener Algorithmus</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gn="r">
                        <a:lnSpc>
                          <a:spcPts val="1680"/>
                        </a:lnSpc>
                        <a:buNone/>
                      </a:pPr>
                      <a:r>
                        <a:rPr lang="en-US" sz="1200" dirty="0">
                          <a:solidFill>
                            <a:srgbClr val="1E2A26"/>
                          </a:solidFill>
                          <a:latin typeface="Arial" pitchFamily="34" charset="0"/>
                          <a:ea typeface="Arial" pitchFamily="34" charset="-122"/>
                          <a:cs typeface="Arial" pitchFamily="34" charset="-120"/>
                        </a:rPr>
                        <a:t>8'225</a:t>
                      </a:r>
                      <a:endParaRPr lang="en-US" sz="1200" dirty="0">
                        <a:latin typeface="Arial" charset="0"/>
                        <a:ea typeface="Arial" charset="0"/>
                        <a:cs typeface="Arial"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7" name="Shape 4"/>
          <p:cNvSpPr/>
          <p:nvPr/>
        </p:nvSpPr>
        <p:spPr>
          <a:xfrm>
            <a:off x="8839200" y="1828701"/>
            <a:ext cx="2540000" cy="2616002"/>
          </a:xfrm>
          <a:prstGeom prst="roundRect">
            <a:avLst>
              <a:gd name="adj" fmla="val 4000"/>
            </a:avLst>
          </a:prstGeom>
          <a:solidFill>
            <a:srgbClr val="1E2A26"/>
          </a:solidFill>
          <a:ln/>
        </p:spPr>
        <p:txBody>
          <a:bodyPr/>
          <a:lstStyle/>
          <a:p>
            <a:endParaRPr lang="de-CH"/>
          </a:p>
        </p:txBody>
      </p:sp>
      <p:sp>
        <p:nvSpPr>
          <p:cNvPr id="8" name="Text 5"/>
          <p:cNvSpPr/>
          <p:nvPr/>
        </p:nvSpPr>
        <p:spPr>
          <a:xfrm>
            <a:off x="9093200" y="2082701"/>
            <a:ext cx="20929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CC"/>
                </a:solidFill>
                <a:latin typeface="Arial" pitchFamily="34" charset="0"/>
                <a:ea typeface="Arial" pitchFamily="34" charset="-122"/>
                <a:cs typeface="Arial" pitchFamily="34" charset="-120"/>
              </a:rPr>
              <a:t>Vorher (Bronze)</a:t>
            </a:r>
            <a:endParaRPr lang="en-US" sz="1300" dirty="0"/>
          </a:p>
        </p:txBody>
      </p:sp>
      <p:sp>
        <p:nvSpPr>
          <p:cNvPr id="9" name="Text 6"/>
          <p:cNvSpPr/>
          <p:nvPr/>
        </p:nvSpPr>
        <p:spPr>
          <a:xfrm>
            <a:off x="9093200" y="2415381"/>
            <a:ext cx="209296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3F0E8"/>
                </a:solidFill>
                <a:latin typeface="Arial" pitchFamily="34" charset="0"/>
                <a:ea typeface="Arial" pitchFamily="34" charset="-122"/>
                <a:cs typeface="Arial" pitchFamily="34" charset="-120"/>
              </a:rPr>
              <a:t>105'693</a:t>
            </a:r>
            <a:endParaRPr lang="en-US" sz="3200" dirty="0"/>
          </a:p>
        </p:txBody>
      </p:sp>
      <p:sp>
        <p:nvSpPr>
          <p:cNvPr id="10" name="Text 7"/>
          <p:cNvSpPr/>
          <p:nvPr/>
        </p:nvSpPr>
        <p:spPr>
          <a:xfrm>
            <a:off x="9093200" y="2923381"/>
            <a:ext cx="20929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CC"/>
                </a:solidFill>
                <a:latin typeface="Arial" pitchFamily="34" charset="0"/>
                <a:ea typeface="Arial" pitchFamily="34" charset="-122"/>
                <a:cs typeface="Arial" pitchFamily="34" charset="-120"/>
              </a:rPr>
              <a:t>Nachher (Silver)</a:t>
            </a:r>
            <a:endParaRPr lang="en-US" sz="1300" dirty="0"/>
          </a:p>
        </p:txBody>
      </p:sp>
      <p:sp>
        <p:nvSpPr>
          <p:cNvPr id="11" name="Text 8"/>
          <p:cNvSpPr/>
          <p:nvPr/>
        </p:nvSpPr>
        <p:spPr>
          <a:xfrm>
            <a:off x="9093200" y="3256062"/>
            <a:ext cx="209296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0A56B"/>
                </a:solidFill>
                <a:latin typeface="Arial" pitchFamily="34" charset="0"/>
                <a:ea typeface="Arial" pitchFamily="34" charset="-122"/>
                <a:cs typeface="Arial" pitchFamily="34" charset="-120"/>
              </a:rPr>
              <a:t>22'949</a:t>
            </a:r>
            <a:endParaRPr lang="en-US" sz="3200" dirty="0"/>
          </a:p>
        </p:txBody>
      </p:sp>
      <p:sp>
        <p:nvSpPr>
          <p:cNvPr id="12" name="Text 9"/>
          <p:cNvSpPr/>
          <p:nvPr/>
        </p:nvSpPr>
        <p:spPr>
          <a:xfrm>
            <a:off x="9093200" y="3764062"/>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CC"/>
                </a:solidFill>
                <a:latin typeface="Arial" pitchFamily="34" charset="0"/>
                <a:ea typeface="Arial" pitchFamily="34" charset="-122"/>
                <a:cs typeface="Arial" pitchFamily="34" charset="-120"/>
              </a:rPr>
              <a:t>davon 20'454 Lebensmittel ohne Getränke</a:t>
            </a:r>
            <a:endParaRPr lang="en-US" sz="12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Snapshot 6.10.2026 · Mehrfachnennung möglich · entfernte Einträge mit Grund protokolliert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7530"/>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2F5F7A"/>
                </a:solidFill>
                <a:latin typeface="Arial" pitchFamily="34" charset="0"/>
                <a:ea typeface="Arial" pitchFamily="34" charset="-122"/>
                <a:cs typeface="Arial" pitchFamily="34" charset="-120"/>
              </a:rPr>
              <a:t>TRANSFORMATION 1 · INITIALE ANALYSE</a:t>
            </a:r>
            <a:endParaRPr lang="en-US" sz="1196" dirty="0"/>
          </a:p>
        </p:txBody>
      </p:sp>
      <p:sp>
        <p:nvSpPr>
          <p:cNvPr id="3" name="Text 1"/>
          <p:cNvSpPr>
            <a:spLocks noGrp="1"/>
          </p:cNvSpPr>
          <p:nvPr>
            <p:ph type="title"/>
          </p:nvPr>
        </p:nvSpPr>
        <p:spPr>
          <a:xfrm>
            <a:off x="812800" y="1126530"/>
            <a:ext cx="10883392" cy="914202"/>
          </a:xfrm>
          <a:prstGeom prst="rect">
            <a:avLst/>
          </a:prstGeom>
          <a:noFill/>
          <a:ln/>
        </p:spPr>
        <p:txBody>
          <a:bodyPr wrap="square" lIns="0" tIns="0" rIns="0" bIns="0" rtlCol="0" anchor="t">
            <a:normAutofit/>
          </a:bodyPr>
          <a:lstStyle/>
          <a:p>
            <a:pPr marL="0" indent="0" algn="l">
              <a:lnSpc>
                <a:spcPts val="3509"/>
              </a:lnSpc>
              <a:buNone/>
            </a:pPr>
            <a:r>
              <a:rPr lang="en-US" sz="3190" b="1" i="0" dirty="0">
                <a:solidFill>
                  <a:srgbClr val="1E2A26"/>
                </a:solidFill>
                <a:latin typeface="Arial" pitchFamily="34" charset="0"/>
                <a:ea typeface="Arial" pitchFamily="34" charset="-122"/>
                <a:cs typeface="Arial" pitchFamily="34" charset="-120"/>
              </a:rPr>
              <a:t>Je schlechter der Score, desto mehr Hochverarbeitetes</a:t>
            </a:r>
            <a:endParaRPr lang="en-US" sz="3190" dirty="0"/>
          </a:p>
        </p:txBody>
      </p:sp>
      <p:sp>
        <p:nvSpPr>
          <p:cNvPr id="4" name="Shape 2"/>
          <p:cNvSpPr/>
          <p:nvPr/>
        </p:nvSpPr>
        <p:spPr>
          <a:xfrm>
            <a:off x="1473200" y="2236291"/>
            <a:ext cx="177800" cy="177800"/>
          </a:xfrm>
          <a:prstGeom prst="roundRect">
            <a:avLst>
              <a:gd name="adj" fmla="val 14286"/>
            </a:avLst>
          </a:prstGeom>
          <a:solidFill>
            <a:srgbClr val="2F5F7A"/>
          </a:solidFill>
          <a:ln/>
        </p:spPr>
        <p:txBody>
          <a:bodyPr/>
          <a:lstStyle/>
          <a:p>
            <a:endParaRPr lang="de-CH"/>
          </a:p>
        </p:txBody>
      </p:sp>
      <p:sp>
        <p:nvSpPr>
          <p:cNvPr id="5" name="Text 3"/>
          <p:cNvSpPr/>
          <p:nvPr/>
        </p:nvSpPr>
        <p:spPr>
          <a:xfrm>
            <a:off x="1714500" y="2218531"/>
            <a:ext cx="16744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2A26"/>
                </a:solidFill>
                <a:latin typeface="Arial" pitchFamily="34" charset="0"/>
                <a:ea typeface="Arial" pitchFamily="34" charset="-122"/>
                <a:cs typeface="Arial" pitchFamily="34" charset="-120"/>
              </a:rPr>
              <a:t>NOVA 1 unverarbeitet</a:t>
            </a:r>
            <a:endParaRPr lang="en-US" sz="1200" dirty="0"/>
          </a:p>
        </p:txBody>
      </p:sp>
      <p:sp>
        <p:nvSpPr>
          <p:cNvPr id="6" name="Shape 4"/>
          <p:cNvSpPr/>
          <p:nvPr/>
        </p:nvSpPr>
        <p:spPr>
          <a:xfrm>
            <a:off x="3388916" y="2236291"/>
            <a:ext cx="177800" cy="177800"/>
          </a:xfrm>
          <a:prstGeom prst="roundRect">
            <a:avLst>
              <a:gd name="adj" fmla="val 14286"/>
            </a:avLst>
          </a:prstGeom>
          <a:solidFill>
            <a:srgbClr val="7FA3B8"/>
          </a:solidFill>
          <a:ln/>
        </p:spPr>
        <p:txBody>
          <a:bodyPr/>
          <a:lstStyle/>
          <a:p>
            <a:endParaRPr lang="de-CH"/>
          </a:p>
        </p:txBody>
      </p:sp>
      <p:sp>
        <p:nvSpPr>
          <p:cNvPr id="7" name="Text 5"/>
          <p:cNvSpPr/>
          <p:nvPr/>
        </p:nvSpPr>
        <p:spPr>
          <a:xfrm>
            <a:off x="3630216" y="2218531"/>
            <a:ext cx="6472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2A26"/>
                </a:solidFill>
                <a:latin typeface="Arial" pitchFamily="34" charset="0"/>
                <a:ea typeface="Arial" pitchFamily="34" charset="-122"/>
                <a:cs typeface="Arial" pitchFamily="34" charset="-120"/>
              </a:rPr>
              <a:t>NOVA 2</a:t>
            </a:r>
            <a:endParaRPr lang="en-US" sz="1200" dirty="0"/>
          </a:p>
        </p:txBody>
      </p:sp>
      <p:sp>
        <p:nvSpPr>
          <p:cNvPr id="8" name="Shape 6"/>
          <p:cNvSpPr/>
          <p:nvPr/>
        </p:nvSpPr>
        <p:spPr>
          <a:xfrm>
            <a:off x="4372769" y="2236291"/>
            <a:ext cx="177800" cy="177800"/>
          </a:xfrm>
          <a:prstGeom prst="roundRect">
            <a:avLst>
              <a:gd name="adj" fmla="val 14286"/>
            </a:avLst>
          </a:prstGeom>
          <a:solidFill>
            <a:srgbClr val="E3B58C"/>
          </a:solidFill>
          <a:ln/>
        </p:spPr>
        <p:txBody>
          <a:bodyPr/>
          <a:lstStyle/>
          <a:p>
            <a:endParaRPr lang="de-CH"/>
          </a:p>
        </p:txBody>
      </p:sp>
      <p:sp>
        <p:nvSpPr>
          <p:cNvPr id="9" name="Text 7"/>
          <p:cNvSpPr/>
          <p:nvPr/>
        </p:nvSpPr>
        <p:spPr>
          <a:xfrm>
            <a:off x="4614069" y="2218531"/>
            <a:ext cx="6472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2A26"/>
                </a:solidFill>
                <a:latin typeface="Arial" pitchFamily="34" charset="0"/>
                <a:ea typeface="Arial" pitchFamily="34" charset="-122"/>
                <a:cs typeface="Arial" pitchFamily="34" charset="-120"/>
              </a:rPr>
              <a:t>NOVA 3</a:t>
            </a:r>
            <a:endParaRPr lang="en-US" sz="1200" dirty="0"/>
          </a:p>
        </p:txBody>
      </p:sp>
      <p:sp>
        <p:nvSpPr>
          <p:cNvPr id="10" name="Shape 8"/>
          <p:cNvSpPr/>
          <p:nvPr/>
        </p:nvSpPr>
        <p:spPr>
          <a:xfrm>
            <a:off x="5356622" y="2236291"/>
            <a:ext cx="177800" cy="177800"/>
          </a:xfrm>
          <a:prstGeom prst="roundRect">
            <a:avLst>
              <a:gd name="adj" fmla="val 14286"/>
            </a:avLst>
          </a:prstGeom>
          <a:solidFill>
            <a:srgbClr val="B4501A"/>
          </a:solidFill>
          <a:ln/>
        </p:spPr>
        <p:txBody>
          <a:bodyPr/>
          <a:lstStyle/>
          <a:p>
            <a:endParaRPr lang="de-CH"/>
          </a:p>
        </p:txBody>
      </p:sp>
      <p:sp>
        <p:nvSpPr>
          <p:cNvPr id="11" name="Text 9"/>
          <p:cNvSpPr/>
          <p:nvPr/>
        </p:nvSpPr>
        <p:spPr>
          <a:xfrm>
            <a:off x="5597922" y="2218531"/>
            <a:ext cx="19585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2A26"/>
                </a:solidFill>
                <a:latin typeface="Arial" pitchFamily="34" charset="0"/>
                <a:ea typeface="Arial" pitchFamily="34" charset="-122"/>
                <a:cs typeface="Arial" pitchFamily="34" charset="-120"/>
              </a:rPr>
              <a:t>NOVA 4 hochverarbeitet</a:t>
            </a:r>
            <a:endParaRPr lang="en-US" sz="1200" dirty="0"/>
          </a:p>
        </p:txBody>
      </p:sp>
      <p:sp>
        <p:nvSpPr>
          <p:cNvPr id="12" name="Text 10"/>
          <p:cNvSpPr/>
          <p:nvPr/>
        </p:nvSpPr>
        <p:spPr>
          <a:xfrm>
            <a:off x="787400" y="2642691"/>
            <a:ext cx="558800"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E2A26"/>
                </a:solidFill>
                <a:latin typeface="Arial" pitchFamily="34" charset="0"/>
                <a:ea typeface="Arial" pitchFamily="34" charset="-122"/>
                <a:cs typeface="Arial" pitchFamily="34" charset="-120"/>
              </a:rPr>
              <a:t>A</a:t>
            </a:r>
            <a:endParaRPr lang="en-US" sz="2200" dirty="0"/>
          </a:p>
        </p:txBody>
      </p:sp>
      <p:sp>
        <p:nvSpPr>
          <p:cNvPr id="13" name="Text 11"/>
          <p:cNvSpPr/>
          <p:nvPr/>
        </p:nvSpPr>
        <p:spPr>
          <a:xfrm>
            <a:off x="1473200" y="2558852"/>
            <a:ext cx="3810000" cy="558800"/>
          </a:xfrm>
          <a:custGeom>
            <a:avLst/>
            <a:gdLst/>
            <a:ahLst/>
            <a:cxnLst/>
            <a:rect l="l" t="t" r="r" b="b"/>
            <a:pathLst>
              <a:path w="3810000" h="558800">
                <a:moveTo>
                  <a:pt x="0" y="50800"/>
                </a:moveTo>
                <a:arcTo wR="50800" hR="50800" stAng="10800000" swAng="5400000"/>
                <a:lnTo>
                  <a:pt x="3810000" y="0"/>
                </a:lnTo>
                <a:lnTo>
                  <a:pt x="3810000" y="558800"/>
                </a:lnTo>
                <a:lnTo>
                  <a:pt x="50800" y="558800"/>
                </a:lnTo>
                <a:arcTo wR="50800" hR="50800" stAng="5400000" swAng="5400000"/>
                <a:close/>
              </a:path>
            </a:pathLst>
          </a:custGeom>
          <a:solidFill>
            <a:srgbClr val="2F5F7A"/>
          </a:solidFill>
          <a:ln/>
        </p:spPr>
        <p:txBody>
          <a:bodyPr wrap="square" lIns="101600" tIns="0" rIns="101600" bIns="0" rtlCol="0" anchor="ctr">
            <a:normAutofit/>
          </a:bodyPr>
          <a:lstStyle/>
          <a:p>
            <a:pPr marL="0" indent="0" algn="l">
              <a:lnSpc>
                <a:spcPts val="1820"/>
              </a:lnSpc>
              <a:buNone/>
            </a:pPr>
            <a:r>
              <a:rPr lang="en-US" sz="1300" b="1" dirty="0">
                <a:solidFill>
                  <a:srgbClr val="F3F0E8"/>
                </a:solidFill>
                <a:latin typeface="Arial" pitchFamily="34" charset="0"/>
                <a:ea typeface="Arial" pitchFamily="34" charset="-122"/>
                <a:cs typeface="Arial" pitchFamily="34" charset="-120"/>
              </a:rPr>
              <a:t>50 %</a:t>
            </a:r>
            <a:endParaRPr lang="en-US" sz="1300" dirty="0"/>
          </a:p>
        </p:txBody>
      </p:sp>
      <p:sp>
        <p:nvSpPr>
          <p:cNvPr id="14" name="Shape 12"/>
          <p:cNvSpPr/>
          <p:nvPr/>
        </p:nvSpPr>
        <p:spPr>
          <a:xfrm>
            <a:off x="5283200" y="2558852"/>
            <a:ext cx="2057400" cy="558800"/>
          </a:xfrm>
          <a:prstGeom prst="rect">
            <a:avLst/>
          </a:prstGeom>
          <a:solidFill>
            <a:srgbClr val="E3B58C"/>
          </a:solidFill>
          <a:ln/>
        </p:spPr>
        <p:txBody>
          <a:bodyPr/>
          <a:lstStyle/>
          <a:p>
            <a:endParaRPr lang="de-CH"/>
          </a:p>
        </p:txBody>
      </p:sp>
      <p:sp>
        <p:nvSpPr>
          <p:cNvPr id="15" name="Text 13"/>
          <p:cNvSpPr/>
          <p:nvPr/>
        </p:nvSpPr>
        <p:spPr>
          <a:xfrm>
            <a:off x="7340600" y="2558852"/>
            <a:ext cx="1752600" cy="558800"/>
          </a:xfrm>
          <a:custGeom>
            <a:avLst/>
            <a:gdLst/>
            <a:ahLst/>
            <a:cxnLst/>
            <a:rect l="l" t="t" r="r" b="b"/>
            <a:pathLst>
              <a:path w="1752600" h="558800">
                <a:moveTo>
                  <a:pt x="1701800" y="0"/>
                </a:moveTo>
                <a:arcTo wR="50800" hR="50800" stAng="16200000" swAng="5400000"/>
                <a:lnTo>
                  <a:pt x="1752600" y="508000"/>
                </a:lnTo>
                <a:arcTo wR="50800" hR="50800" stAng="0" swAng="5400000"/>
                <a:lnTo>
                  <a:pt x="0" y="558800"/>
                </a:lnTo>
                <a:lnTo>
                  <a:pt x="0" y="0"/>
                </a:lnTo>
                <a:close/>
              </a:path>
            </a:pathLst>
          </a:custGeom>
          <a:solidFill>
            <a:srgbClr val="B4501A"/>
          </a:solidFill>
          <a:ln/>
        </p:spPr>
        <p:txBody>
          <a:bodyPr wrap="square" lIns="101600" tIns="0" rIns="101600" bIns="0" rtlCol="0" anchor="ctr">
            <a:normAutofit/>
          </a:bodyPr>
          <a:lstStyle/>
          <a:p>
            <a:pPr marL="0" indent="0" algn="r">
              <a:lnSpc>
                <a:spcPts val="1820"/>
              </a:lnSpc>
              <a:buNone/>
            </a:pPr>
            <a:r>
              <a:rPr lang="en-US" sz="1300" b="1" dirty="0">
                <a:solidFill>
                  <a:srgbClr val="FFFFFF"/>
                </a:solidFill>
                <a:latin typeface="Arial" pitchFamily="34" charset="0"/>
                <a:ea typeface="Arial" pitchFamily="34" charset="-122"/>
                <a:cs typeface="Arial" pitchFamily="34" charset="-120"/>
              </a:rPr>
              <a:t>23 %</a:t>
            </a:r>
            <a:endParaRPr lang="en-US" sz="1300" dirty="0"/>
          </a:p>
        </p:txBody>
      </p:sp>
      <p:sp>
        <p:nvSpPr>
          <p:cNvPr id="16" name="Text 14"/>
          <p:cNvSpPr/>
          <p:nvPr/>
        </p:nvSpPr>
        <p:spPr>
          <a:xfrm>
            <a:off x="787400" y="3328491"/>
            <a:ext cx="558800"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E2A26"/>
                </a:solidFill>
                <a:latin typeface="Arial" pitchFamily="34" charset="0"/>
                <a:ea typeface="Arial" pitchFamily="34" charset="-122"/>
                <a:cs typeface="Arial" pitchFamily="34" charset="-120"/>
              </a:rPr>
              <a:t>B</a:t>
            </a:r>
            <a:endParaRPr lang="en-US" sz="2200" dirty="0"/>
          </a:p>
        </p:txBody>
      </p:sp>
      <p:sp>
        <p:nvSpPr>
          <p:cNvPr id="17" name="Shape 15"/>
          <p:cNvSpPr/>
          <p:nvPr/>
        </p:nvSpPr>
        <p:spPr>
          <a:xfrm>
            <a:off x="1473200" y="3244652"/>
            <a:ext cx="1447800" cy="558800"/>
          </a:xfrm>
          <a:custGeom>
            <a:avLst/>
            <a:gdLst/>
            <a:ahLst/>
            <a:cxnLst/>
            <a:rect l="l" t="t" r="r" b="b"/>
            <a:pathLst>
              <a:path w="1447800" h="558800">
                <a:moveTo>
                  <a:pt x="0" y="50800"/>
                </a:moveTo>
                <a:arcTo wR="50800" hR="50800" stAng="10800000" swAng="5400000"/>
                <a:lnTo>
                  <a:pt x="1447800" y="0"/>
                </a:lnTo>
                <a:lnTo>
                  <a:pt x="1447800" y="558800"/>
                </a:lnTo>
                <a:lnTo>
                  <a:pt x="50800" y="558800"/>
                </a:lnTo>
                <a:arcTo wR="50800" hR="50800" stAng="5400000" swAng="5400000"/>
                <a:close/>
              </a:path>
            </a:pathLst>
          </a:custGeom>
          <a:solidFill>
            <a:srgbClr val="2F5F7A"/>
          </a:solidFill>
          <a:ln/>
        </p:spPr>
        <p:txBody>
          <a:bodyPr/>
          <a:lstStyle/>
          <a:p>
            <a:endParaRPr lang="de-CH"/>
          </a:p>
        </p:txBody>
      </p:sp>
      <p:sp>
        <p:nvSpPr>
          <p:cNvPr id="18" name="Shape 16"/>
          <p:cNvSpPr/>
          <p:nvPr/>
        </p:nvSpPr>
        <p:spPr>
          <a:xfrm>
            <a:off x="2921000" y="3244652"/>
            <a:ext cx="1600200" cy="558800"/>
          </a:xfrm>
          <a:prstGeom prst="rect">
            <a:avLst/>
          </a:prstGeom>
          <a:solidFill>
            <a:srgbClr val="7FA3B8"/>
          </a:solidFill>
          <a:ln/>
        </p:spPr>
        <p:txBody>
          <a:bodyPr/>
          <a:lstStyle/>
          <a:p>
            <a:endParaRPr lang="de-CH"/>
          </a:p>
        </p:txBody>
      </p:sp>
      <p:sp>
        <p:nvSpPr>
          <p:cNvPr id="19" name="Shape 17"/>
          <p:cNvSpPr/>
          <p:nvPr/>
        </p:nvSpPr>
        <p:spPr>
          <a:xfrm>
            <a:off x="4521200" y="3244652"/>
            <a:ext cx="1905000" cy="558800"/>
          </a:xfrm>
          <a:prstGeom prst="rect">
            <a:avLst/>
          </a:prstGeom>
          <a:solidFill>
            <a:srgbClr val="E3B58C"/>
          </a:solidFill>
          <a:ln/>
        </p:spPr>
        <p:txBody>
          <a:bodyPr/>
          <a:lstStyle/>
          <a:p>
            <a:endParaRPr lang="de-CH"/>
          </a:p>
        </p:txBody>
      </p:sp>
      <p:sp>
        <p:nvSpPr>
          <p:cNvPr id="20" name="Text 18"/>
          <p:cNvSpPr/>
          <p:nvPr/>
        </p:nvSpPr>
        <p:spPr>
          <a:xfrm>
            <a:off x="6426200" y="3244652"/>
            <a:ext cx="2667000" cy="558800"/>
          </a:xfrm>
          <a:custGeom>
            <a:avLst/>
            <a:gdLst/>
            <a:ahLst/>
            <a:cxnLst/>
            <a:rect l="l" t="t" r="r" b="b"/>
            <a:pathLst>
              <a:path w="2667000" h="558800">
                <a:moveTo>
                  <a:pt x="2616200" y="0"/>
                </a:moveTo>
                <a:arcTo wR="50800" hR="50800" stAng="16200000" swAng="5400000"/>
                <a:lnTo>
                  <a:pt x="2667000" y="508000"/>
                </a:lnTo>
                <a:arcTo wR="50800" hR="50800" stAng="0" swAng="5400000"/>
                <a:lnTo>
                  <a:pt x="0" y="558800"/>
                </a:lnTo>
                <a:lnTo>
                  <a:pt x="0" y="0"/>
                </a:lnTo>
                <a:close/>
              </a:path>
            </a:pathLst>
          </a:custGeom>
          <a:solidFill>
            <a:srgbClr val="B4501A"/>
          </a:solidFill>
          <a:ln/>
        </p:spPr>
        <p:txBody>
          <a:bodyPr wrap="square" lIns="101600" tIns="0" rIns="101600" bIns="0" rtlCol="0" anchor="ctr">
            <a:normAutofit/>
          </a:bodyPr>
          <a:lstStyle/>
          <a:p>
            <a:pPr marL="0" indent="0" algn="r">
              <a:lnSpc>
                <a:spcPts val="1820"/>
              </a:lnSpc>
              <a:buNone/>
            </a:pPr>
            <a:r>
              <a:rPr lang="en-US" sz="1300" b="1" dirty="0">
                <a:solidFill>
                  <a:srgbClr val="FFFFFF"/>
                </a:solidFill>
                <a:latin typeface="Arial" pitchFamily="34" charset="0"/>
                <a:ea typeface="Arial" pitchFamily="34" charset="-122"/>
                <a:cs typeface="Arial" pitchFamily="34" charset="-120"/>
              </a:rPr>
              <a:t>35 %</a:t>
            </a:r>
            <a:endParaRPr lang="en-US" sz="1300" dirty="0"/>
          </a:p>
        </p:txBody>
      </p:sp>
      <p:sp>
        <p:nvSpPr>
          <p:cNvPr id="21" name="Text 19"/>
          <p:cNvSpPr/>
          <p:nvPr/>
        </p:nvSpPr>
        <p:spPr>
          <a:xfrm>
            <a:off x="787400" y="4014291"/>
            <a:ext cx="558800"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E2A26"/>
                </a:solidFill>
                <a:latin typeface="Arial" pitchFamily="34" charset="0"/>
                <a:ea typeface="Arial" pitchFamily="34" charset="-122"/>
                <a:cs typeface="Arial" pitchFamily="34" charset="-120"/>
              </a:rPr>
              <a:t>C</a:t>
            </a:r>
            <a:endParaRPr lang="en-US" sz="2200" dirty="0"/>
          </a:p>
        </p:txBody>
      </p:sp>
      <p:sp>
        <p:nvSpPr>
          <p:cNvPr id="22" name="Shape 20"/>
          <p:cNvSpPr/>
          <p:nvPr/>
        </p:nvSpPr>
        <p:spPr>
          <a:xfrm>
            <a:off x="1473200" y="3930452"/>
            <a:ext cx="406400" cy="558800"/>
          </a:xfrm>
          <a:custGeom>
            <a:avLst/>
            <a:gdLst/>
            <a:ahLst/>
            <a:cxnLst/>
            <a:rect l="l" t="t" r="r" b="b"/>
            <a:pathLst>
              <a:path w="406400" h="558800">
                <a:moveTo>
                  <a:pt x="0" y="50800"/>
                </a:moveTo>
                <a:arcTo wR="50800" hR="50800" stAng="10800000" swAng="5400000"/>
                <a:lnTo>
                  <a:pt x="406400" y="0"/>
                </a:lnTo>
                <a:lnTo>
                  <a:pt x="406400" y="558800"/>
                </a:lnTo>
                <a:lnTo>
                  <a:pt x="50800" y="558800"/>
                </a:lnTo>
                <a:arcTo wR="50800" hR="50800" stAng="5400000" swAng="5400000"/>
                <a:close/>
              </a:path>
            </a:pathLst>
          </a:custGeom>
          <a:solidFill>
            <a:srgbClr val="2F5F7A"/>
          </a:solidFill>
          <a:ln/>
        </p:spPr>
        <p:txBody>
          <a:bodyPr/>
          <a:lstStyle/>
          <a:p>
            <a:endParaRPr lang="de-CH"/>
          </a:p>
        </p:txBody>
      </p:sp>
      <p:sp>
        <p:nvSpPr>
          <p:cNvPr id="23" name="Shape 21"/>
          <p:cNvSpPr/>
          <p:nvPr/>
        </p:nvSpPr>
        <p:spPr>
          <a:xfrm>
            <a:off x="1879600" y="3930452"/>
            <a:ext cx="190500" cy="558800"/>
          </a:xfrm>
          <a:prstGeom prst="rect">
            <a:avLst/>
          </a:prstGeom>
          <a:solidFill>
            <a:srgbClr val="7FA3B8"/>
          </a:solidFill>
          <a:ln/>
        </p:spPr>
        <p:txBody>
          <a:bodyPr/>
          <a:lstStyle/>
          <a:p>
            <a:endParaRPr lang="de-CH"/>
          </a:p>
        </p:txBody>
      </p:sp>
      <p:sp>
        <p:nvSpPr>
          <p:cNvPr id="24" name="Shape 22"/>
          <p:cNvSpPr/>
          <p:nvPr/>
        </p:nvSpPr>
        <p:spPr>
          <a:xfrm>
            <a:off x="2070100" y="3930452"/>
            <a:ext cx="2184400" cy="558800"/>
          </a:xfrm>
          <a:prstGeom prst="rect">
            <a:avLst/>
          </a:prstGeom>
          <a:solidFill>
            <a:srgbClr val="E3B58C"/>
          </a:solidFill>
          <a:ln/>
        </p:spPr>
        <p:txBody>
          <a:bodyPr/>
          <a:lstStyle/>
          <a:p>
            <a:endParaRPr lang="de-CH"/>
          </a:p>
        </p:txBody>
      </p:sp>
      <p:sp>
        <p:nvSpPr>
          <p:cNvPr id="25" name="Text 23"/>
          <p:cNvSpPr/>
          <p:nvPr/>
        </p:nvSpPr>
        <p:spPr>
          <a:xfrm>
            <a:off x="4254500" y="3930452"/>
            <a:ext cx="4838700" cy="558800"/>
          </a:xfrm>
          <a:custGeom>
            <a:avLst/>
            <a:gdLst/>
            <a:ahLst/>
            <a:cxnLst/>
            <a:rect l="l" t="t" r="r" b="b"/>
            <a:pathLst>
              <a:path w="4838700" h="558800">
                <a:moveTo>
                  <a:pt x="4787900" y="0"/>
                </a:moveTo>
                <a:arcTo wR="50800" hR="50800" stAng="16200000" swAng="5400000"/>
                <a:lnTo>
                  <a:pt x="4838700" y="508000"/>
                </a:lnTo>
                <a:arcTo wR="50800" hR="50800" stAng="0" swAng="5400000"/>
                <a:lnTo>
                  <a:pt x="0" y="558800"/>
                </a:lnTo>
                <a:lnTo>
                  <a:pt x="0" y="0"/>
                </a:lnTo>
                <a:close/>
              </a:path>
            </a:pathLst>
          </a:custGeom>
          <a:solidFill>
            <a:srgbClr val="B4501A"/>
          </a:solidFill>
          <a:ln/>
        </p:spPr>
        <p:txBody>
          <a:bodyPr wrap="square" lIns="101600" tIns="0" rIns="101600" bIns="0" rtlCol="0" anchor="ctr">
            <a:normAutofit/>
          </a:bodyPr>
          <a:lstStyle/>
          <a:p>
            <a:pPr marL="0" indent="0" algn="r">
              <a:lnSpc>
                <a:spcPts val="1820"/>
              </a:lnSpc>
              <a:buNone/>
            </a:pPr>
            <a:r>
              <a:rPr lang="en-US" sz="1300" b="1" dirty="0">
                <a:solidFill>
                  <a:srgbClr val="FFFFFF"/>
                </a:solidFill>
                <a:latin typeface="Arial" pitchFamily="34" charset="0"/>
                <a:ea typeface="Arial" pitchFamily="34" charset="-122"/>
                <a:cs typeface="Arial" pitchFamily="34" charset="-120"/>
              </a:rPr>
              <a:t>64 %</a:t>
            </a:r>
            <a:endParaRPr lang="en-US" sz="1300" dirty="0"/>
          </a:p>
        </p:txBody>
      </p:sp>
      <p:sp>
        <p:nvSpPr>
          <p:cNvPr id="26" name="Text 24"/>
          <p:cNvSpPr/>
          <p:nvPr/>
        </p:nvSpPr>
        <p:spPr>
          <a:xfrm>
            <a:off x="787400" y="4700091"/>
            <a:ext cx="558800"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E2A26"/>
                </a:solidFill>
                <a:latin typeface="Arial" pitchFamily="34" charset="0"/>
                <a:ea typeface="Arial" pitchFamily="34" charset="-122"/>
                <a:cs typeface="Arial" pitchFamily="34" charset="-120"/>
              </a:rPr>
              <a:t>D</a:t>
            </a:r>
            <a:endParaRPr lang="en-US" sz="2200" dirty="0"/>
          </a:p>
        </p:txBody>
      </p:sp>
      <p:sp>
        <p:nvSpPr>
          <p:cNvPr id="27" name="Shape 25"/>
          <p:cNvSpPr/>
          <p:nvPr/>
        </p:nvSpPr>
        <p:spPr>
          <a:xfrm>
            <a:off x="1473200" y="4616252"/>
            <a:ext cx="165100" cy="558800"/>
          </a:xfrm>
          <a:custGeom>
            <a:avLst/>
            <a:gdLst/>
            <a:ahLst/>
            <a:cxnLst/>
            <a:rect l="l" t="t" r="r" b="b"/>
            <a:pathLst>
              <a:path w="165100" h="558800">
                <a:moveTo>
                  <a:pt x="0" y="50800"/>
                </a:moveTo>
                <a:arcTo wR="50800" hR="50800" stAng="10800000" swAng="5400000"/>
                <a:lnTo>
                  <a:pt x="165100" y="0"/>
                </a:lnTo>
                <a:lnTo>
                  <a:pt x="165100" y="558800"/>
                </a:lnTo>
                <a:lnTo>
                  <a:pt x="50800" y="558800"/>
                </a:lnTo>
                <a:arcTo wR="50800" hR="50800" stAng="5400000" swAng="5400000"/>
                <a:close/>
              </a:path>
            </a:pathLst>
          </a:custGeom>
          <a:solidFill>
            <a:srgbClr val="2F5F7A"/>
          </a:solidFill>
          <a:ln/>
        </p:spPr>
        <p:txBody>
          <a:bodyPr/>
          <a:lstStyle/>
          <a:p>
            <a:endParaRPr lang="de-CH"/>
          </a:p>
        </p:txBody>
      </p:sp>
      <p:sp>
        <p:nvSpPr>
          <p:cNvPr id="28" name="Shape 26"/>
          <p:cNvSpPr/>
          <p:nvPr/>
        </p:nvSpPr>
        <p:spPr>
          <a:xfrm>
            <a:off x="1638300" y="4616252"/>
            <a:ext cx="127000" cy="558800"/>
          </a:xfrm>
          <a:prstGeom prst="rect">
            <a:avLst/>
          </a:prstGeom>
          <a:solidFill>
            <a:srgbClr val="7FA3B8"/>
          </a:solidFill>
          <a:ln/>
        </p:spPr>
        <p:txBody>
          <a:bodyPr/>
          <a:lstStyle/>
          <a:p>
            <a:endParaRPr lang="de-CH"/>
          </a:p>
        </p:txBody>
      </p:sp>
      <p:sp>
        <p:nvSpPr>
          <p:cNvPr id="29" name="Shape 27"/>
          <p:cNvSpPr/>
          <p:nvPr/>
        </p:nvSpPr>
        <p:spPr>
          <a:xfrm>
            <a:off x="1765300" y="4616252"/>
            <a:ext cx="2222500" cy="558800"/>
          </a:xfrm>
          <a:prstGeom prst="rect">
            <a:avLst/>
          </a:prstGeom>
          <a:solidFill>
            <a:srgbClr val="E3B58C"/>
          </a:solidFill>
          <a:ln/>
        </p:spPr>
        <p:txBody>
          <a:bodyPr/>
          <a:lstStyle/>
          <a:p>
            <a:endParaRPr lang="de-CH"/>
          </a:p>
        </p:txBody>
      </p:sp>
      <p:sp>
        <p:nvSpPr>
          <p:cNvPr id="30" name="Text 28"/>
          <p:cNvSpPr/>
          <p:nvPr/>
        </p:nvSpPr>
        <p:spPr>
          <a:xfrm>
            <a:off x="3987800" y="4616252"/>
            <a:ext cx="5105400" cy="558800"/>
          </a:xfrm>
          <a:custGeom>
            <a:avLst/>
            <a:gdLst/>
            <a:ahLst/>
            <a:cxnLst/>
            <a:rect l="l" t="t" r="r" b="b"/>
            <a:pathLst>
              <a:path w="5105400" h="558800">
                <a:moveTo>
                  <a:pt x="5054600" y="0"/>
                </a:moveTo>
                <a:arcTo wR="50800" hR="50800" stAng="16200000" swAng="5400000"/>
                <a:lnTo>
                  <a:pt x="5105400" y="508000"/>
                </a:lnTo>
                <a:arcTo wR="50800" hR="50800" stAng="0" swAng="5400000"/>
                <a:lnTo>
                  <a:pt x="0" y="558800"/>
                </a:lnTo>
                <a:lnTo>
                  <a:pt x="0" y="0"/>
                </a:lnTo>
                <a:close/>
              </a:path>
            </a:pathLst>
          </a:custGeom>
          <a:solidFill>
            <a:srgbClr val="B4501A"/>
          </a:solidFill>
          <a:ln/>
        </p:spPr>
        <p:txBody>
          <a:bodyPr wrap="square" lIns="101600" tIns="0" rIns="101600" bIns="0" rtlCol="0" anchor="ctr">
            <a:normAutofit/>
          </a:bodyPr>
          <a:lstStyle/>
          <a:p>
            <a:pPr marL="0" indent="0" algn="r">
              <a:lnSpc>
                <a:spcPts val="1820"/>
              </a:lnSpc>
              <a:buNone/>
            </a:pPr>
            <a:r>
              <a:rPr lang="en-US" sz="1300" b="1" dirty="0">
                <a:solidFill>
                  <a:srgbClr val="FFFFFF"/>
                </a:solidFill>
                <a:latin typeface="Arial" pitchFamily="34" charset="0"/>
                <a:ea typeface="Arial" pitchFamily="34" charset="-122"/>
                <a:cs typeface="Arial" pitchFamily="34" charset="-120"/>
              </a:rPr>
              <a:t>67 %</a:t>
            </a:r>
            <a:endParaRPr lang="en-US" sz="1300" dirty="0"/>
          </a:p>
        </p:txBody>
      </p:sp>
      <p:sp>
        <p:nvSpPr>
          <p:cNvPr id="31" name="Text 29"/>
          <p:cNvSpPr/>
          <p:nvPr/>
        </p:nvSpPr>
        <p:spPr>
          <a:xfrm>
            <a:off x="787400" y="5385891"/>
            <a:ext cx="558800"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E2A26"/>
                </a:solidFill>
                <a:latin typeface="Arial" pitchFamily="34" charset="0"/>
                <a:ea typeface="Arial" pitchFamily="34" charset="-122"/>
                <a:cs typeface="Arial" pitchFamily="34" charset="-120"/>
              </a:rPr>
              <a:t>E</a:t>
            </a:r>
            <a:endParaRPr lang="en-US" sz="2200" dirty="0"/>
          </a:p>
        </p:txBody>
      </p:sp>
      <p:sp>
        <p:nvSpPr>
          <p:cNvPr id="32" name="Shape 30"/>
          <p:cNvSpPr/>
          <p:nvPr/>
        </p:nvSpPr>
        <p:spPr>
          <a:xfrm>
            <a:off x="1473200" y="5302052"/>
            <a:ext cx="685800" cy="558800"/>
          </a:xfrm>
          <a:custGeom>
            <a:avLst/>
            <a:gdLst/>
            <a:ahLst/>
            <a:cxnLst/>
            <a:rect l="l" t="t" r="r" b="b"/>
            <a:pathLst>
              <a:path w="685800" h="558800">
                <a:moveTo>
                  <a:pt x="0" y="50800"/>
                </a:moveTo>
                <a:arcTo wR="50800" hR="50800" stAng="10800000" swAng="5400000"/>
                <a:lnTo>
                  <a:pt x="685800" y="0"/>
                </a:lnTo>
                <a:lnTo>
                  <a:pt x="685800" y="558800"/>
                </a:lnTo>
                <a:lnTo>
                  <a:pt x="50800" y="558800"/>
                </a:lnTo>
                <a:arcTo wR="50800" hR="50800" stAng="5400000" swAng="5400000"/>
                <a:close/>
              </a:path>
            </a:pathLst>
          </a:custGeom>
          <a:solidFill>
            <a:srgbClr val="7FA3B8"/>
          </a:solidFill>
          <a:ln/>
        </p:spPr>
        <p:txBody>
          <a:bodyPr/>
          <a:lstStyle/>
          <a:p>
            <a:endParaRPr lang="de-CH"/>
          </a:p>
        </p:txBody>
      </p:sp>
      <p:sp>
        <p:nvSpPr>
          <p:cNvPr id="33" name="Shape 31"/>
          <p:cNvSpPr/>
          <p:nvPr/>
        </p:nvSpPr>
        <p:spPr>
          <a:xfrm>
            <a:off x="2159000" y="5302052"/>
            <a:ext cx="1270000" cy="558800"/>
          </a:xfrm>
          <a:prstGeom prst="rect">
            <a:avLst/>
          </a:prstGeom>
          <a:solidFill>
            <a:srgbClr val="E3B58C"/>
          </a:solidFill>
          <a:ln/>
        </p:spPr>
        <p:txBody>
          <a:bodyPr/>
          <a:lstStyle/>
          <a:p>
            <a:endParaRPr lang="de-CH"/>
          </a:p>
        </p:txBody>
      </p:sp>
      <p:sp>
        <p:nvSpPr>
          <p:cNvPr id="34" name="Text 32"/>
          <p:cNvSpPr/>
          <p:nvPr/>
        </p:nvSpPr>
        <p:spPr>
          <a:xfrm>
            <a:off x="3429000" y="5302052"/>
            <a:ext cx="5664200" cy="558800"/>
          </a:xfrm>
          <a:custGeom>
            <a:avLst/>
            <a:gdLst/>
            <a:ahLst/>
            <a:cxnLst/>
            <a:rect l="l" t="t" r="r" b="b"/>
            <a:pathLst>
              <a:path w="5664200" h="558800">
                <a:moveTo>
                  <a:pt x="5613400" y="0"/>
                </a:moveTo>
                <a:arcTo wR="50800" hR="50800" stAng="16200000" swAng="5400000"/>
                <a:lnTo>
                  <a:pt x="5664200" y="508000"/>
                </a:lnTo>
                <a:arcTo wR="50800" hR="50800" stAng="0" swAng="5400000"/>
                <a:lnTo>
                  <a:pt x="0" y="558800"/>
                </a:lnTo>
                <a:lnTo>
                  <a:pt x="0" y="0"/>
                </a:lnTo>
                <a:close/>
              </a:path>
            </a:pathLst>
          </a:custGeom>
          <a:solidFill>
            <a:srgbClr val="B4501A"/>
          </a:solidFill>
          <a:ln/>
        </p:spPr>
        <p:txBody>
          <a:bodyPr wrap="square" lIns="101600" tIns="0" rIns="101600" bIns="0" rtlCol="0" anchor="ctr">
            <a:normAutofit/>
          </a:bodyPr>
          <a:lstStyle/>
          <a:p>
            <a:pPr marL="0" indent="0" algn="r">
              <a:lnSpc>
                <a:spcPts val="1820"/>
              </a:lnSpc>
              <a:buNone/>
            </a:pPr>
            <a:r>
              <a:rPr lang="en-US" sz="1300" b="1" dirty="0">
                <a:solidFill>
                  <a:srgbClr val="FFFFFF"/>
                </a:solidFill>
                <a:latin typeface="Arial" pitchFamily="34" charset="0"/>
                <a:ea typeface="Arial" pitchFamily="34" charset="-122"/>
                <a:cs typeface="Arial" pitchFamily="34" charset="-120"/>
              </a:rPr>
              <a:t>74 %</a:t>
            </a:r>
            <a:endParaRPr lang="en-US" sz="1300" dirty="0"/>
          </a:p>
        </p:txBody>
      </p:sp>
      <p:sp>
        <p:nvSpPr>
          <p:cNvPr id="35" name="Shape 33"/>
          <p:cNvSpPr/>
          <p:nvPr/>
        </p:nvSpPr>
        <p:spPr>
          <a:xfrm>
            <a:off x="9347200" y="3143945"/>
            <a:ext cx="2032000" cy="1772543"/>
          </a:xfrm>
          <a:prstGeom prst="roundRect">
            <a:avLst>
              <a:gd name="adj" fmla="val 5732"/>
            </a:avLst>
          </a:prstGeom>
          <a:solidFill>
            <a:srgbClr val="1E2A26"/>
          </a:solidFill>
          <a:ln/>
        </p:spPr>
        <p:txBody>
          <a:bodyPr/>
          <a:lstStyle/>
          <a:p>
            <a:endParaRPr lang="de-CH"/>
          </a:p>
        </p:txBody>
      </p:sp>
      <p:sp>
        <p:nvSpPr>
          <p:cNvPr id="36" name="Text 34"/>
          <p:cNvSpPr/>
          <p:nvPr/>
        </p:nvSpPr>
        <p:spPr>
          <a:xfrm>
            <a:off x="9550400" y="3347145"/>
            <a:ext cx="1676400"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0A56B"/>
                </a:solidFill>
                <a:latin typeface="Arial" pitchFamily="34" charset="0"/>
                <a:ea typeface="Arial" pitchFamily="34" charset="-122"/>
                <a:cs typeface="Arial" pitchFamily="34" charset="-120"/>
              </a:rPr>
              <a:t>Aber:</a:t>
            </a:r>
            <a:endParaRPr lang="en-US" sz="2200" dirty="0"/>
          </a:p>
        </p:txBody>
      </p:sp>
      <p:sp>
        <p:nvSpPr>
          <p:cNvPr id="37" name="Text 35"/>
          <p:cNvSpPr/>
          <p:nvPr/>
        </p:nvSpPr>
        <p:spPr>
          <a:xfrm>
            <a:off x="9550400" y="3756025"/>
            <a:ext cx="1676400"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3F0E8"/>
                </a:solidFill>
                <a:latin typeface="Arial" pitchFamily="34" charset="0"/>
                <a:ea typeface="Arial" pitchFamily="34" charset="-122"/>
                <a:cs typeface="Arial" pitchFamily="34" charset="-120"/>
              </a:rPr>
              <a:t>Auch bei A ist fast jedes vierte Produkt hochverarbeitet, bei B mehr als jedes dritte.</a:t>
            </a:r>
            <a:endParaRPr lang="en-US" sz="1300" dirty="0"/>
          </a:p>
        </p:txBody>
      </p:sp>
      <p:sp>
        <p:nvSpPr>
          <p:cNvPr id="38" name="Text 3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Anteil je Nutri-Score-Klasse, Werte gerundet · n = 20'454 Lebensmittel ohne Getränke · Snapshot 6.10.2026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7A"/>
                </a:solidFill>
                <a:latin typeface="Arial" pitchFamily="34" charset="0"/>
                <a:ea typeface="Arial" pitchFamily="34" charset="-122"/>
                <a:cs typeface="Arial" pitchFamily="34" charset="-120"/>
              </a:rPr>
              <a:t>TRANSFORMATION 1 · INITIALE ANALYSE UND HYPOTHESENTEST</a:t>
            </a:r>
            <a:endParaRPr lang="en-US" sz="1200" dirty="0"/>
          </a:p>
        </p:txBody>
      </p:sp>
      <p:sp>
        <p:nvSpPr>
          <p:cNvPr id="3" name="Text 1"/>
          <p:cNvSpPr>
            <a:spLocks noGrp="1"/>
          </p:cNvSpPr>
          <p:nvPr>
            <p:ph type="title"/>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Jedes vierte gute Label steht auf hochverarbeiteten Produkten</a:t>
            </a:r>
            <a:endParaRPr lang="en-US" sz="3200" dirty="0"/>
          </a:p>
        </p:txBody>
      </p:sp>
      <p:sp>
        <p:nvSpPr>
          <p:cNvPr id="4" name="Shape 2"/>
          <p:cNvSpPr/>
          <p:nvPr/>
        </p:nvSpPr>
        <p:spPr>
          <a:xfrm>
            <a:off x="815975" y="2278856"/>
            <a:ext cx="5200650" cy="1332111"/>
          </a:xfrm>
          <a:prstGeom prst="roundRect">
            <a:avLst>
              <a:gd name="adj" fmla="val 7389"/>
            </a:avLst>
          </a:prstGeom>
          <a:solidFill>
            <a:srgbClr val="FFFFFF"/>
          </a:solidFill>
          <a:ln w="6350">
            <a:solidFill>
              <a:srgbClr val="DDD8CC"/>
            </a:solidFill>
            <a:prstDash val="solid"/>
          </a:ln>
        </p:spPr>
        <p:txBody>
          <a:bodyPr/>
          <a:lstStyle/>
          <a:p>
            <a:endParaRPr lang="de-CH"/>
          </a:p>
        </p:txBody>
      </p:sp>
      <p:sp>
        <p:nvSpPr>
          <p:cNvPr id="5" name="Text 3"/>
          <p:cNvSpPr/>
          <p:nvPr/>
        </p:nvSpPr>
        <p:spPr>
          <a:xfrm>
            <a:off x="1022350" y="245983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5F7A"/>
                </a:solidFill>
                <a:latin typeface="Arial" pitchFamily="34" charset="0"/>
                <a:ea typeface="Arial" pitchFamily="34" charset="-122"/>
                <a:cs typeface="Arial" pitchFamily="34" charset="-120"/>
              </a:rPr>
              <a:t>H1 · NOVA 4 unter A/B · bestätigt</a:t>
            </a:r>
            <a:endParaRPr lang="en-US" sz="1200" dirty="0"/>
          </a:p>
        </p:txBody>
      </p:sp>
      <p:sp>
        <p:nvSpPr>
          <p:cNvPr id="6" name="Text 4"/>
          <p:cNvSpPr/>
          <p:nvPr/>
        </p:nvSpPr>
        <p:spPr>
          <a:xfrm>
            <a:off x="1022350" y="2749352"/>
            <a:ext cx="4931537"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2A26"/>
                </a:solidFill>
                <a:latin typeface="Arial" pitchFamily="34" charset="0"/>
                <a:ea typeface="Arial" pitchFamily="34" charset="-122"/>
                <a:cs typeface="Arial" pitchFamily="34" charset="-120"/>
              </a:rPr>
              <a:t>27,7 %</a:t>
            </a:r>
            <a:endParaRPr lang="en-US" sz="2800" dirty="0"/>
          </a:p>
        </p:txBody>
      </p:sp>
      <p:sp>
        <p:nvSpPr>
          <p:cNvPr id="7" name="Text 5"/>
          <p:cNvSpPr/>
          <p:nvPr/>
        </p:nvSpPr>
        <p:spPr>
          <a:xfrm>
            <a:off x="1022350" y="3216672"/>
            <a:ext cx="4931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über der 20-%-Schwelle · n = 4'936 · p &lt; 0,001</a:t>
            </a:r>
            <a:endParaRPr lang="en-US" sz="1200" dirty="0"/>
          </a:p>
        </p:txBody>
      </p:sp>
      <p:sp>
        <p:nvSpPr>
          <p:cNvPr id="8" name="Shape 6"/>
          <p:cNvSpPr/>
          <p:nvPr/>
        </p:nvSpPr>
        <p:spPr>
          <a:xfrm>
            <a:off x="6175375" y="2278856"/>
            <a:ext cx="5200650" cy="1332111"/>
          </a:xfrm>
          <a:prstGeom prst="roundRect">
            <a:avLst>
              <a:gd name="adj" fmla="val 7389"/>
            </a:avLst>
          </a:prstGeom>
          <a:solidFill>
            <a:srgbClr val="FFFFFF"/>
          </a:solidFill>
          <a:ln w="6350">
            <a:solidFill>
              <a:srgbClr val="DDD8CC"/>
            </a:solidFill>
            <a:prstDash val="solid"/>
          </a:ln>
        </p:spPr>
        <p:txBody>
          <a:bodyPr/>
          <a:lstStyle/>
          <a:p>
            <a:endParaRPr lang="de-CH"/>
          </a:p>
        </p:txBody>
      </p:sp>
      <p:sp>
        <p:nvSpPr>
          <p:cNvPr id="9" name="Text 7"/>
          <p:cNvSpPr/>
          <p:nvPr/>
        </p:nvSpPr>
        <p:spPr>
          <a:xfrm>
            <a:off x="6381750" y="245983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01A"/>
                </a:solidFill>
                <a:latin typeface="Arial" pitchFamily="34" charset="0"/>
                <a:ea typeface="Arial" pitchFamily="34" charset="-122"/>
                <a:cs typeface="Arial" pitchFamily="34" charset="-120"/>
              </a:rPr>
              <a:t>H2 · Nutri-Score × NOVA · verworfen</a:t>
            </a:r>
            <a:endParaRPr lang="en-US" sz="1200" dirty="0"/>
          </a:p>
        </p:txBody>
      </p:sp>
      <p:sp>
        <p:nvSpPr>
          <p:cNvPr id="10" name="Text 8"/>
          <p:cNvSpPr/>
          <p:nvPr/>
        </p:nvSpPr>
        <p:spPr>
          <a:xfrm>
            <a:off x="6381750" y="2749352"/>
            <a:ext cx="4931537"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2A26"/>
                </a:solidFill>
                <a:latin typeface="Arial" pitchFamily="34" charset="0"/>
                <a:ea typeface="Arial" pitchFamily="34" charset="-122"/>
                <a:cs typeface="Arial" pitchFamily="34" charset="-120"/>
              </a:rPr>
              <a:t>V = 0,36</a:t>
            </a:r>
            <a:endParaRPr lang="en-US" sz="2800" dirty="0"/>
          </a:p>
        </p:txBody>
      </p:sp>
      <p:sp>
        <p:nvSpPr>
          <p:cNvPr id="11" name="Text 9"/>
          <p:cNvSpPr/>
          <p:nvPr/>
        </p:nvSpPr>
        <p:spPr>
          <a:xfrm>
            <a:off x="6381750" y="3216672"/>
            <a:ext cx="4931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mittlerer statt schwacher Zusammenhang · n = 20'454</a:t>
            </a:r>
            <a:endParaRPr lang="en-US" sz="1200" dirty="0"/>
          </a:p>
        </p:txBody>
      </p:sp>
      <p:sp>
        <p:nvSpPr>
          <p:cNvPr id="12" name="Shape 10"/>
          <p:cNvSpPr/>
          <p:nvPr/>
        </p:nvSpPr>
        <p:spPr>
          <a:xfrm>
            <a:off x="815975" y="3769717"/>
            <a:ext cx="5200650" cy="1332111"/>
          </a:xfrm>
          <a:prstGeom prst="roundRect">
            <a:avLst>
              <a:gd name="adj" fmla="val 7389"/>
            </a:avLst>
          </a:prstGeom>
          <a:solidFill>
            <a:srgbClr val="FFFFFF"/>
          </a:solidFill>
          <a:ln w="6350">
            <a:solidFill>
              <a:srgbClr val="DDD8CC"/>
            </a:solidFill>
            <a:prstDash val="solid"/>
          </a:ln>
        </p:spPr>
        <p:txBody>
          <a:bodyPr/>
          <a:lstStyle/>
          <a:p>
            <a:endParaRPr lang="de-CH"/>
          </a:p>
        </p:txBody>
      </p:sp>
      <p:sp>
        <p:nvSpPr>
          <p:cNvPr id="13" name="Text 11"/>
          <p:cNvSpPr/>
          <p:nvPr/>
        </p:nvSpPr>
        <p:spPr>
          <a:xfrm>
            <a:off x="1022350" y="3950692"/>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01A"/>
                </a:solidFill>
                <a:latin typeface="Arial" pitchFamily="34" charset="0"/>
                <a:ea typeface="Arial" pitchFamily="34" charset="-122"/>
                <a:cs typeface="Arial" pitchFamily="34" charset="-120"/>
              </a:rPr>
              <a:t>H3 · Zuckerreiche Cerealien mit A/B · verworfen</a:t>
            </a:r>
            <a:endParaRPr lang="en-US" sz="1200" dirty="0"/>
          </a:p>
        </p:txBody>
      </p:sp>
      <p:sp>
        <p:nvSpPr>
          <p:cNvPr id="14" name="Text 12"/>
          <p:cNvSpPr/>
          <p:nvPr/>
        </p:nvSpPr>
        <p:spPr>
          <a:xfrm>
            <a:off x="1022350" y="4240213"/>
            <a:ext cx="4931537"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2A26"/>
                </a:solidFill>
                <a:latin typeface="Arial" pitchFamily="34" charset="0"/>
                <a:ea typeface="Arial" pitchFamily="34" charset="-122"/>
                <a:cs typeface="Arial" pitchFamily="34" charset="-120"/>
              </a:rPr>
              <a:t>1,1 %</a:t>
            </a:r>
            <a:endParaRPr lang="en-US" sz="2800" dirty="0"/>
          </a:p>
        </p:txBody>
      </p:sp>
      <p:sp>
        <p:nvSpPr>
          <p:cNvPr id="15" name="Text 13"/>
          <p:cNvSpPr/>
          <p:nvPr/>
        </p:nvSpPr>
        <p:spPr>
          <a:xfrm>
            <a:off x="1022350" y="4707533"/>
            <a:ext cx="4931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weit unter 10 % · n = 281 · p = 1,00</a:t>
            </a:r>
            <a:endParaRPr lang="en-US" sz="1200" dirty="0"/>
          </a:p>
        </p:txBody>
      </p:sp>
      <p:sp>
        <p:nvSpPr>
          <p:cNvPr id="16" name="Shape 14"/>
          <p:cNvSpPr/>
          <p:nvPr/>
        </p:nvSpPr>
        <p:spPr>
          <a:xfrm>
            <a:off x="6175375" y="3769717"/>
            <a:ext cx="5200650" cy="1332111"/>
          </a:xfrm>
          <a:prstGeom prst="roundRect">
            <a:avLst>
              <a:gd name="adj" fmla="val 7389"/>
            </a:avLst>
          </a:prstGeom>
          <a:solidFill>
            <a:srgbClr val="FFFFFF"/>
          </a:solidFill>
          <a:ln w="6350">
            <a:solidFill>
              <a:srgbClr val="DDD8CC"/>
            </a:solidFill>
            <a:prstDash val="solid"/>
          </a:ln>
        </p:spPr>
        <p:txBody>
          <a:bodyPr/>
          <a:lstStyle/>
          <a:p>
            <a:endParaRPr lang="de-CH"/>
          </a:p>
        </p:txBody>
      </p:sp>
      <p:sp>
        <p:nvSpPr>
          <p:cNvPr id="17" name="Text 15"/>
          <p:cNvSpPr/>
          <p:nvPr/>
        </p:nvSpPr>
        <p:spPr>
          <a:xfrm>
            <a:off x="6381750" y="3950692"/>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01A"/>
                </a:solidFill>
                <a:latin typeface="Arial" pitchFamily="34" charset="0"/>
                <a:ea typeface="Arial" pitchFamily="34" charset="-122"/>
                <a:cs typeface="Arial" pitchFamily="34" charset="-120"/>
              </a:rPr>
              <a:t>H4 · Zusatzstoffe vs. Score · verworfen</a:t>
            </a:r>
            <a:endParaRPr lang="en-US" sz="1200" dirty="0"/>
          </a:p>
        </p:txBody>
      </p:sp>
      <p:sp>
        <p:nvSpPr>
          <p:cNvPr id="18" name="Text 16"/>
          <p:cNvSpPr/>
          <p:nvPr/>
        </p:nvSpPr>
        <p:spPr>
          <a:xfrm>
            <a:off x="6381750" y="4240213"/>
            <a:ext cx="4931537"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2A26"/>
                </a:solidFill>
                <a:latin typeface="Arial" pitchFamily="34" charset="0"/>
                <a:ea typeface="Arial" pitchFamily="34" charset="-122"/>
                <a:cs typeface="Arial" pitchFamily="34" charset="-120"/>
              </a:rPr>
              <a:t>ρ = 0,36</a:t>
            </a:r>
            <a:endParaRPr lang="en-US" sz="2800" dirty="0"/>
          </a:p>
        </p:txBody>
      </p:sp>
      <p:sp>
        <p:nvSpPr>
          <p:cNvPr id="19" name="Text 17"/>
          <p:cNvSpPr/>
          <p:nvPr/>
        </p:nvSpPr>
        <p:spPr>
          <a:xfrm>
            <a:off x="6381750" y="4707533"/>
            <a:ext cx="49315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45"/>
                </a:solidFill>
                <a:latin typeface="Arial" pitchFamily="34" charset="0"/>
                <a:ea typeface="Arial" pitchFamily="34" charset="-122"/>
                <a:cs typeface="Arial" pitchFamily="34" charset="-120"/>
              </a:rPr>
              <a:t>mehr Zusatzstoffe, schlechterer Score · n = 19'870</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Vorläufig · Snapshot 6.10.2026 · Lebensmittel ohne Getränke · α = 0,05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56B"/>
                </a:solidFill>
                <a:latin typeface="Arial" pitchFamily="34" charset="0"/>
                <a:ea typeface="Arial" pitchFamily="34" charset="-122"/>
                <a:cs typeface="Arial" pitchFamily="34" charset="-120"/>
              </a:rPr>
              <a:t>FAZIT UND AUSBLICK</a:t>
            </a:r>
            <a:endParaRPr lang="en-US" sz="1200" dirty="0"/>
          </a:p>
        </p:txBody>
      </p:sp>
      <p:sp>
        <p:nvSpPr>
          <p:cNvPr id="3" name="Text 1"/>
          <p:cNvSpPr>
            <a:spLocks noGrp="1"/>
          </p:cNvSpPr>
          <p:nvPr>
            <p:ph type="title"/>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F0E8"/>
                </a:solidFill>
                <a:latin typeface="Arial" pitchFamily="34" charset="0"/>
                <a:ea typeface="Arial" pitchFamily="34" charset="-122"/>
                <a:cs typeface="Arial" pitchFamily="34" charset="-120"/>
              </a:rPr>
              <a:t>Der Score ist besser als sein Ruf, aber blind für Verarbeitung</a:t>
            </a:r>
            <a:endParaRPr lang="en-US" sz="3200" dirty="0"/>
          </a:p>
        </p:txBody>
      </p:sp>
      <p:sp>
        <p:nvSpPr>
          <p:cNvPr id="4" name="Shape 2"/>
          <p:cNvSpPr/>
          <p:nvPr/>
        </p:nvSpPr>
        <p:spPr>
          <a:xfrm>
            <a:off x="812800" y="2326481"/>
            <a:ext cx="5156200" cy="2331541"/>
          </a:xfrm>
          <a:prstGeom prst="roundRect">
            <a:avLst>
              <a:gd name="adj" fmla="val 4358"/>
            </a:avLst>
          </a:prstGeom>
          <a:solidFill>
            <a:srgbClr val="2A3833"/>
          </a:solidFill>
          <a:ln/>
        </p:spPr>
        <p:txBody>
          <a:bodyPr/>
          <a:lstStyle/>
          <a:p>
            <a:endParaRPr lang="de-CH"/>
          </a:p>
        </p:txBody>
      </p:sp>
      <p:sp>
        <p:nvSpPr>
          <p:cNvPr id="5" name="Text 3"/>
          <p:cNvSpPr/>
          <p:nvPr/>
        </p:nvSpPr>
        <p:spPr>
          <a:xfrm>
            <a:off x="1066800" y="2580481"/>
            <a:ext cx="478764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0E8"/>
                </a:solidFill>
                <a:latin typeface="Arial" pitchFamily="34" charset="0"/>
                <a:ea typeface="Arial" pitchFamily="34" charset="-122"/>
                <a:cs typeface="Arial" pitchFamily="34" charset="-120"/>
              </a:rPr>
              <a:t>Erreicht in Teil 1</a:t>
            </a:r>
            <a:endParaRPr lang="en-US" sz="1800" dirty="0"/>
          </a:p>
        </p:txBody>
      </p:sp>
      <p:sp>
        <p:nvSpPr>
          <p:cNvPr id="6" name="Text 4"/>
          <p:cNvSpPr/>
          <p:nvPr/>
        </p:nvSpPr>
        <p:spPr>
          <a:xfrm>
            <a:off x="1164082" y="2981722"/>
            <a:ext cx="4682744" cy="1447701"/>
          </a:xfrm>
          <a:prstGeom prst="rect">
            <a:avLst/>
          </a:prstGeom>
          <a:noFill/>
          <a:ln/>
        </p:spPr>
        <p:txBody>
          <a:bodyPr wrap="square" lIns="0" tIns="0" rIns="0" bIns="0" rtlCol="0" anchor="t">
            <a:normAutofit/>
          </a:bodyPr>
          <a:lstStyle/>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Pipeline von 105'693 Produkten zu 22'949 auswertbaren</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Speicherung in drei Stufen mit DuckDB</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27,7 % der A/B-Produkte sind hochverarbeitet</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Zuckerreiche Cerealien mit A/B sind selten</a:t>
            </a:r>
            <a:endParaRPr lang="en-US" sz="1400" dirty="0"/>
          </a:p>
        </p:txBody>
      </p:sp>
      <p:sp>
        <p:nvSpPr>
          <p:cNvPr id="7" name="Shape 5"/>
          <p:cNvSpPr/>
          <p:nvPr/>
        </p:nvSpPr>
        <p:spPr>
          <a:xfrm>
            <a:off x="6223000" y="2326481"/>
            <a:ext cx="5156200" cy="2331541"/>
          </a:xfrm>
          <a:prstGeom prst="roundRect">
            <a:avLst>
              <a:gd name="adj" fmla="val 4358"/>
            </a:avLst>
          </a:prstGeom>
          <a:solidFill>
            <a:srgbClr val="2A3833"/>
          </a:solidFill>
          <a:ln/>
        </p:spPr>
        <p:txBody>
          <a:bodyPr/>
          <a:lstStyle/>
          <a:p>
            <a:endParaRPr lang="de-CH"/>
          </a:p>
        </p:txBody>
      </p:sp>
      <p:sp>
        <p:nvSpPr>
          <p:cNvPr id="8" name="Text 6"/>
          <p:cNvSpPr/>
          <p:nvPr/>
        </p:nvSpPr>
        <p:spPr>
          <a:xfrm>
            <a:off x="6477000" y="2580481"/>
            <a:ext cx="478764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0E8"/>
                </a:solidFill>
                <a:latin typeface="Arial" pitchFamily="34" charset="0"/>
                <a:ea typeface="Arial" pitchFamily="34" charset="-122"/>
                <a:cs typeface="Arial" pitchFamily="34" charset="-120"/>
              </a:rPr>
              <a:t>Geplant für Teil 2</a:t>
            </a:r>
            <a:endParaRPr lang="en-US" sz="1800" dirty="0"/>
          </a:p>
        </p:txBody>
      </p:sp>
      <p:sp>
        <p:nvSpPr>
          <p:cNvPr id="9" name="Text 7"/>
          <p:cNvSpPr/>
          <p:nvPr/>
        </p:nvSpPr>
        <p:spPr>
          <a:xfrm>
            <a:off x="6574282" y="2981722"/>
            <a:ext cx="4682744" cy="1447701"/>
          </a:xfrm>
          <a:prstGeom prst="rect">
            <a:avLst/>
          </a:prstGeom>
          <a:noFill/>
          <a:ln/>
        </p:spPr>
        <p:txBody>
          <a:bodyPr wrap="square" lIns="0" tIns="0" rIns="0" bIns="0" rtlCol="0" anchor="t">
            <a:normAutofit/>
          </a:bodyPr>
          <a:lstStyle/>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FF3: Version der Scores klären, alt und neu vergleichen</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Verzerrung durch fehlende Werte prüfen</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Serving Option B: NOVA 4 aus Nährwerten vorhersagen, mind. 2 Modelle</a:t>
            </a:r>
            <a:endParaRPr lang="en-US" sz="1400" dirty="0"/>
          </a:p>
          <a:p>
            <a:pPr marL="156718" indent="-156718" algn="l">
              <a:lnSpc>
                <a:spcPts val="2240"/>
              </a:lnSpc>
              <a:buSzPct val="100000"/>
              <a:buChar char="•"/>
            </a:pPr>
            <a:r>
              <a:rPr lang="en-US" sz="1400" dirty="0">
                <a:solidFill>
                  <a:srgbClr val="C9D3CC"/>
                </a:solidFill>
                <a:latin typeface="Arial" pitchFamily="34" charset="0"/>
                <a:ea typeface="Arial" pitchFamily="34" charset="-122"/>
                <a:cs typeface="Arial" pitchFamily="34" charset="-120"/>
              </a:rPr>
              <a:t>Feedback aus diesem Kolloquium</a:t>
            </a:r>
            <a:endParaRPr lang="en-US" sz="1400" dirty="0"/>
          </a:p>
        </p:txBody>
      </p:sp>
      <p:sp>
        <p:nvSpPr>
          <p:cNvPr id="10" name="Text 8"/>
          <p:cNvSpPr/>
          <p:nvPr/>
        </p:nvSpPr>
        <p:spPr>
          <a:xfrm>
            <a:off x="812800" y="4962823"/>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A56B"/>
                </a:solidFill>
                <a:latin typeface="Arial" pitchFamily="34" charset="0"/>
                <a:ea typeface="Arial" pitchFamily="34" charset="-122"/>
                <a:cs typeface="Arial" pitchFamily="34" charset="-120"/>
              </a:rPr>
              <a:t>Danke! Fragen und Feedback?</a:t>
            </a:r>
            <a:endParaRPr lang="en-US" sz="2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CC"/>
                </a:solidFill>
                <a:latin typeface="Arial" pitchFamily="34" charset="0"/>
                <a:ea typeface="Arial" pitchFamily="34" charset="-122"/>
                <a:cs typeface="Arial" pitchFamily="34" charset="-120"/>
              </a:rPr>
              <a:t>Nutri-Score unter der Lupe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A26"/>
                </a:solidFill>
                <a:latin typeface="Arial" pitchFamily="34" charset="0"/>
                <a:ea typeface="Arial" pitchFamily="34" charset="-122"/>
                <a:cs typeface="Arial" pitchFamily="34" charset="-120"/>
              </a:rPr>
              <a:t>Quellen</a:t>
            </a:r>
            <a:endParaRPr lang="en-US" sz="3200" dirty="0"/>
          </a:p>
        </p:txBody>
      </p:sp>
      <p:sp>
        <p:nvSpPr>
          <p:cNvPr id="3" name="Text 1"/>
          <p:cNvSpPr/>
          <p:nvPr/>
        </p:nvSpPr>
        <p:spPr>
          <a:xfrm>
            <a:off x="924306" y="1513780"/>
            <a:ext cx="10764266" cy="2150666"/>
          </a:xfrm>
          <a:prstGeom prst="rect">
            <a:avLst/>
          </a:prstGeom>
          <a:noFill/>
          <a:ln/>
        </p:spPr>
        <p:txBody>
          <a:bodyPr wrap="square" lIns="0" tIns="0" rIns="0" bIns="0" rtlCol="0" anchor="t">
            <a:normAutofit/>
          </a:bodyPr>
          <a:lstStyle/>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BLV (2025). Unternehmen und Marken, die sich in der Schweiz für den Nutri-Score engagieren. Stand 30.09.2025. Bern: BLV.</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CRESS (2024). Nutri-Score update. https://cress-umr1153.fr/en/nutri-score-update</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Cramér, H. (1946). Mathematical Methods of Statistics. Princeton: Princeton University Press.</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Department of Health &amp; Food Standards Agency (2016). Guide to creating a front of pack (FoP) nutrition label. London.</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Merz, B. et al. (2024). Nutri-Score 2023 update. Nature Food, 5(2), 102–110.</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Monteiro, C. A. et al. (2019). Ultra-processed foods: what they are and how to identify them. Public Health Nutrition, 22(5), 936–941.</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Open Food Facts (2026). Data, API and SDKs. https://world.openfoodfacts.org/data (Lizenz ODbL)</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Reis, J. &amp; Housley, M. (2022). Fundamentals of Data Engineering. Sebastopol: O'Reilly Media.</a:t>
            </a:r>
            <a:endParaRPr lang="en-US" sz="1200" dirty="0"/>
          </a:p>
          <a:p>
            <a:pPr marL="142494" indent="-142494" algn="l">
              <a:lnSpc>
                <a:spcPts val="1860"/>
              </a:lnSpc>
              <a:buSzPct val="100000"/>
              <a:buChar char="•"/>
            </a:pPr>
            <a:r>
              <a:rPr lang="en-US" sz="1200" dirty="0">
                <a:solidFill>
                  <a:srgbClr val="3E4A45"/>
                </a:solidFill>
                <a:latin typeface="Arial" pitchFamily="34" charset="0"/>
                <a:ea typeface="Arial" pitchFamily="34" charset="-122"/>
                <a:cs typeface="Arial" pitchFamily="34" charset="-120"/>
              </a:rPr>
              <a:t>Verordnung (EU) Nr. 1169/2011 betreffend die Information der Verbraucher über Lebensmittel, Anhang XIV.</a:t>
            </a:r>
            <a:endParaRPr lang="en-US" sz="1200" dirty="0"/>
          </a:p>
        </p:txBody>
      </p:sp>
      <p:sp>
        <p:nvSpPr>
          <p:cNvPr id="4"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60"/>
                </a:solidFill>
                <a:latin typeface="Arial" pitchFamily="34" charset="0"/>
                <a:ea typeface="Arial" pitchFamily="34" charset="-122"/>
                <a:cs typeface="Arial" pitchFamily="34" charset="-120"/>
              </a:rPr>
              <a:t>Code-Vorlagen sind im Repository per Kommentar zitiert (ZHAW-Zitierleitfaden) · 17</a:t>
            </a:r>
            <a:endParaRPr lang="en-US" sz="1200" dirty="0"/>
          </a:p>
        </p:txBody>
      </p:sp>
    </p:spTree>
  </p:cSld>
  <p:clrMapOvr>
    <a:masterClrMapping/>
  </p:clrMapOvr>
</p:sld>
</file>

<file path=ppt/theme/theme1.xml><?xml version="1.0" encoding="utf-8"?>
<a:theme xmlns:a="http://schemas.openxmlformats.org/drawingml/2006/main" name="Nutri-Score unter der Lupe">
  <a:themeElements>
    <a:clrScheme name="Nutri-Score unter der Lupe">
      <a:dk1>
        <a:srgbClr val="1E2A26"/>
      </a:dk1>
      <a:lt1>
        <a:srgbClr val="F6F4EE"/>
      </a:lt1>
      <a:dk2>
        <a:srgbClr val="545D58"/>
      </a:dk2>
      <a:lt2>
        <a:srgbClr val="E0E0DA"/>
      </a:lt2>
      <a:accent1>
        <a:srgbClr val="B4501A"/>
      </a:accent1>
      <a:accent2>
        <a:srgbClr val="2F5F7A"/>
      </a:accent2>
      <a:accent3>
        <a:srgbClr val="F0A56B"/>
      </a:accent3>
      <a:accent4>
        <a:srgbClr val="E3B58C"/>
      </a:accent4>
      <a:accent5>
        <a:srgbClr val="7FA3B8"/>
      </a:accent5>
      <a:accent6>
        <a:srgbClr val="3E4A45"/>
      </a:accent6>
      <a:hlink>
        <a:srgbClr val="0563C1"/>
      </a:hlink>
      <a:folHlink>
        <a:srgbClr val="954F72"/>
      </a:folHlink>
    </a:clrScheme>
    <a:fontScheme name="Nutri-Score unter der Lup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3353</Words>
  <Application>Microsoft Office PowerPoint</Application>
  <PresentationFormat>Breitbild</PresentationFormat>
  <Paragraphs>333</Paragraphs>
  <Slides>17</Slides>
  <Notes>17</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17</vt:i4>
      </vt:variant>
    </vt:vector>
  </HeadingPairs>
  <TitlesOfParts>
    <vt:vector size="20" baseType="lpstr">
      <vt:lpstr>Arial</vt:lpstr>
      <vt:lpstr>Courier New</vt:lpstr>
      <vt:lpstr>Nutri-Score unter der Lupe</vt:lpstr>
      <vt:lpstr>Gut bewertet – aber auch gesund?</vt:lpstr>
      <vt:lpstr>Ablauf</vt:lpstr>
      <vt:lpstr>Der Nutri-Score soll den Einkauf vereinfachen</vt:lpstr>
      <vt:lpstr>Gute Werte können schlechte ausgleichen</vt:lpstr>
      <vt:lpstr>Was wir mit den Daten beantworten wollen</vt:lpstr>
      <vt:lpstr>Vier testbare Annahmen, α = 0,05</vt:lpstr>
      <vt:lpstr>Von der Frage zur geprüften Hypothese</vt:lpstr>
      <vt:lpstr>Fünf Phasen, getragen von sechs Unterströmungen</vt:lpstr>
      <vt:lpstr>Eine Hauptquelle, zwei Referenzen</vt:lpstr>
      <vt:lpstr>Batch-Import aus dem nächtlichen Export</vt:lpstr>
      <vt:lpstr>Drei Optionen im Vergleich</vt:lpstr>
      <vt:lpstr>Drei Stufen von roh bis auswertbar</vt:lpstr>
      <vt:lpstr>Nur jedes fünfte Produkt ist auswertbar</vt:lpstr>
      <vt:lpstr>Je schlechter der Score, desto mehr Hochverarbeitetes</vt:lpstr>
      <vt:lpstr>Jedes vierte gute Label steht auf hochverarbeiteten Produkten</vt:lpstr>
      <vt:lpstr>Der Score ist besser als sein Ruf, aber blind für Verarbeitung</vt:lpstr>
      <vt:lpstr>Quellen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Nutri-Score unter der Lupe</dc:title>
  <dc:subject/>
  <dc:creator>Andrea Brunetto</dc:creator>
  <cp:lastModifiedBy>Brunetto Andrea (bruneand)</cp:lastModifiedBy>
  <cp:revision>2</cp:revision>
  <dcterms:created xsi:type="dcterms:W3CDTF">2026-10-20T12:06:19Z</dcterms:created>
  <dcterms:modified xsi:type="dcterms:W3CDTF">2026-10-20T12:16:08Z</dcterms:modified>
</cp:coreProperties>
</file>